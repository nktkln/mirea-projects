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3"/>
  </p:notesMasterIdLst>
  <p:sldIdLst>
    <p:sldId id="256" r:id="rId2"/>
    <p:sldId id="260" r:id="rId3"/>
    <p:sldId id="261" r:id="rId4"/>
    <p:sldId id="278" r:id="rId5"/>
    <p:sldId id="281" r:id="rId6"/>
    <p:sldId id="257" r:id="rId7"/>
    <p:sldId id="263" r:id="rId8"/>
    <p:sldId id="280" r:id="rId9"/>
    <p:sldId id="282" r:id="rId10"/>
    <p:sldId id="279" r:id="rId11"/>
    <p:sldId id="275" r:id="rId12"/>
  </p:sldIdLst>
  <p:sldSz cx="9144000" cy="5143500" type="screen16x9"/>
  <p:notesSz cx="6858000" cy="9144000"/>
  <p:embeddedFontLst>
    <p:embeddedFont>
      <p:font typeface="Archivo" pitchFamily="2" charset="77"/>
      <p:regular r:id="rId14"/>
      <p:bold r:id="rId15"/>
      <p:italic r:id="rId16"/>
      <p:boldItalic r:id="rId17"/>
    </p:embeddedFont>
    <p:embeddedFont>
      <p:font typeface="Nunito Light" pitchFamily="2" charset="77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581CB5-E5BA-439A-917A-4B6F0FD82B55}">
  <a:tblStyle styleId="{ED581CB5-E5BA-439A-917A-4B6F0FD82B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>
      <p:cViewPr varScale="1">
        <p:scale>
          <a:sx n="198" d="100"/>
          <a:sy n="198" d="100"/>
        </p:scale>
        <p:origin x="98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976c3f216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976c3f216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976c3f216d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976c3f216d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eb1dbce79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eb1dbce79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976c3f216d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976c3f216d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2573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eb1dbce79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eb1dbce79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7798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976c3f216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976c3f216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eb1dbce7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eb1dbce7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976c3f216d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976c3f216d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5525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eb1dbce7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eb1dbce7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0836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976c3f216d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976c3f216d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3975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eb1dbce793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eb1dbce793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583050" y="2354300"/>
            <a:ext cx="4712100" cy="18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583050" y="4199000"/>
            <a:ext cx="37236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17" name="Google Shape;17;p4"/>
          <p:cNvGrpSpPr/>
          <p:nvPr/>
        </p:nvGrpSpPr>
        <p:grpSpPr>
          <a:xfrm>
            <a:off x="8347493" y="-104550"/>
            <a:ext cx="1593000" cy="5352600"/>
            <a:chOff x="8347493" y="-104550"/>
            <a:chExt cx="1593000" cy="5352600"/>
          </a:xfrm>
        </p:grpSpPr>
        <p:sp>
          <p:nvSpPr>
            <p:cNvPr id="18" name="Google Shape;18;p4"/>
            <p:cNvSpPr/>
            <p:nvPr/>
          </p:nvSpPr>
          <p:spPr>
            <a:xfrm>
              <a:off x="8428902" y="-104550"/>
              <a:ext cx="726300" cy="535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9" name="Google Shape;19;p4"/>
            <p:cNvSpPr/>
            <p:nvPr/>
          </p:nvSpPr>
          <p:spPr>
            <a:xfrm rot="-2700000">
              <a:off x="8580782" y="161962"/>
              <a:ext cx="1126421" cy="1126421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grpSp>
          <p:nvGrpSpPr>
            <p:cNvPr id="20" name="Google Shape;20;p4"/>
            <p:cNvGrpSpPr/>
            <p:nvPr/>
          </p:nvGrpSpPr>
          <p:grpSpPr>
            <a:xfrm>
              <a:off x="8423452" y="1441987"/>
              <a:ext cx="1414500" cy="2124900"/>
              <a:chOff x="7723889" y="24812"/>
              <a:chExt cx="1414500" cy="2124900"/>
            </a:xfrm>
          </p:grpSpPr>
          <p:sp>
            <p:nvSpPr>
              <p:cNvPr id="21" name="Google Shape;21;p4"/>
              <p:cNvSpPr/>
              <p:nvPr/>
            </p:nvSpPr>
            <p:spPr>
              <a:xfrm rot="5400000" flipH="1">
                <a:off x="7366589" y="382112"/>
                <a:ext cx="2124900" cy="14103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2" name="Google Shape;22;p4"/>
              <p:cNvSpPr/>
              <p:nvPr/>
            </p:nvSpPr>
            <p:spPr>
              <a:xfrm rot="10800000" flipH="1">
                <a:off x="7723889" y="25195"/>
                <a:ext cx="1414500" cy="1414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subTitle" idx="1"/>
          </p:nvPr>
        </p:nvSpPr>
        <p:spPr>
          <a:xfrm>
            <a:off x="2357150" y="1752825"/>
            <a:ext cx="2907600" cy="44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2"/>
          </p:nvPr>
        </p:nvSpPr>
        <p:spPr>
          <a:xfrm>
            <a:off x="5521300" y="2819550"/>
            <a:ext cx="2907600" cy="44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3"/>
          </p:nvPr>
        </p:nvSpPr>
        <p:spPr>
          <a:xfrm>
            <a:off x="2357150" y="2125950"/>
            <a:ext cx="2907600" cy="10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4"/>
          </p:nvPr>
        </p:nvSpPr>
        <p:spPr>
          <a:xfrm>
            <a:off x="5521300" y="3192750"/>
            <a:ext cx="2907600" cy="10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2357150" y="445025"/>
            <a:ext cx="607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9" name="Google Shape;29;p5"/>
          <p:cNvGrpSpPr/>
          <p:nvPr/>
        </p:nvGrpSpPr>
        <p:grpSpPr>
          <a:xfrm>
            <a:off x="-92182" y="-99300"/>
            <a:ext cx="1593000" cy="5315700"/>
            <a:chOff x="-92182" y="-99300"/>
            <a:chExt cx="1593000" cy="5315700"/>
          </a:xfrm>
        </p:grpSpPr>
        <p:sp>
          <p:nvSpPr>
            <p:cNvPr id="30" name="Google Shape;30;p5"/>
            <p:cNvSpPr/>
            <p:nvPr/>
          </p:nvSpPr>
          <p:spPr>
            <a:xfrm>
              <a:off x="0" y="-99300"/>
              <a:ext cx="1415400" cy="5315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grpSp>
          <p:nvGrpSpPr>
            <p:cNvPr id="31" name="Google Shape;31;p5"/>
            <p:cNvGrpSpPr/>
            <p:nvPr/>
          </p:nvGrpSpPr>
          <p:grpSpPr>
            <a:xfrm>
              <a:off x="-894" y="-6131"/>
              <a:ext cx="1415358" cy="2503017"/>
              <a:chOff x="-894" y="-192369"/>
              <a:chExt cx="1466692" cy="2593800"/>
            </a:xfrm>
          </p:grpSpPr>
          <p:sp>
            <p:nvSpPr>
              <p:cNvPr id="32" name="Google Shape;32;p5"/>
              <p:cNvSpPr/>
              <p:nvPr/>
            </p:nvSpPr>
            <p:spPr>
              <a:xfrm rot="5400000">
                <a:off x="-566994" y="373731"/>
                <a:ext cx="2593800" cy="14616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33" name="Google Shape;33;p5"/>
              <p:cNvSpPr/>
              <p:nvPr/>
            </p:nvSpPr>
            <p:spPr>
              <a:xfrm>
                <a:off x="-2" y="935614"/>
                <a:ext cx="1465800" cy="1465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sp>
          <p:nvSpPr>
            <p:cNvPr id="34" name="Google Shape;34;p5"/>
            <p:cNvSpPr/>
            <p:nvPr/>
          </p:nvSpPr>
          <p:spPr>
            <a:xfrm rot="-2700000">
              <a:off x="141107" y="2650154"/>
              <a:ext cx="1126421" cy="1126421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206000" y="1231950"/>
            <a:ext cx="3648300" cy="66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206000" y="1894650"/>
            <a:ext cx="3648300" cy="201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>
            <a:spLocks noGrp="1"/>
          </p:cNvSpPr>
          <p:nvPr>
            <p:ph type="pic" idx="2"/>
          </p:nvPr>
        </p:nvSpPr>
        <p:spPr>
          <a:xfrm>
            <a:off x="-10875" y="-8100"/>
            <a:ext cx="3648300" cy="25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7"/>
          <p:cNvSpPr>
            <a:spLocks noGrp="1"/>
          </p:cNvSpPr>
          <p:nvPr>
            <p:ph type="pic" idx="3"/>
          </p:nvPr>
        </p:nvSpPr>
        <p:spPr>
          <a:xfrm>
            <a:off x="-10875" y="2566212"/>
            <a:ext cx="3648300" cy="25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7"/>
          <p:cNvSpPr/>
          <p:nvPr/>
        </p:nvSpPr>
        <p:spPr>
          <a:xfrm>
            <a:off x="8428891" y="-104550"/>
            <a:ext cx="726300" cy="535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50" name="Google Shape;50;p7"/>
          <p:cNvGrpSpPr/>
          <p:nvPr/>
        </p:nvGrpSpPr>
        <p:grpSpPr>
          <a:xfrm>
            <a:off x="8347493" y="2220395"/>
            <a:ext cx="1593000" cy="2922952"/>
            <a:chOff x="8347493" y="2220395"/>
            <a:chExt cx="1593000" cy="2922952"/>
          </a:xfrm>
        </p:grpSpPr>
        <p:sp>
          <p:nvSpPr>
            <p:cNvPr id="51" name="Google Shape;51;p7"/>
            <p:cNvSpPr/>
            <p:nvPr/>
          </p:nvSpPr>
          <p:spPr>
            <a:xfrm rot="10800000" flipH="1">
              <a:off x="8436300" y="3727948"/>
              <a:ext cx="1415400" cy="1415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 rot="-2700000">
              <a:off x="8580782" y="2453685"/>
              <a:ext cx="1126421" cy="1126421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2241450" y="1240188"/>
            <a:ext cx="4661100" cy="13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41450" y="2630097"/>
            <a:ext cx="4661100" cy="12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>
            <a:spLocks noGrp="1"/>
          </p:cNvSpPr>
          <p:nvPr>
            <p:ph type="subTitle" idx="1"/>
          </p:nvPr>
        </p:nvSpPr>
        <p:spPr>
          <a:xfrm>
            <a:off x="2357200" y="1408176"/>
            <a:ext cx="2829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subTitle" idx="2"/>
          </p:nvPr>
        </p:nvSpPr>
        <p:spPr>
          <a:xfrm>
            <a:off x="2357200" y="1785944"/>
            <a:ext cx="2829000" cy="84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3"/>
          </p:nvPr>
        </p:nvSpPr>
        <p:spPr>
          <a:xfrm>
            <a:off x="5599900" y="1785944"/>
            <a:ext cx="2829000" cy="84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subTitle" idx="4"/>
          </p:nvPr>
        </p:nvSpPr>
        <p:spPr>
          <a:xfrm>
            <a:off x="2357200" y="3441008"/>
            <a:ext cx="2829000" cy="84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subTitle" idx="5"/>
          </p:nvPr>
        </p:nvSpPr>
        <p:spPr>
          <a:xfrm>
            <a:off x="5599900" y="3441008"/>
            <a:ext cx="2829000" cy="84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title"/>
          </p:nvPr>
        </p:nvSpPr>
        <p:spPr>
          <a:xfrm>
            <a:off x="2357200" y="445025"/>
            <a:ext cx="607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subTitle" idx="6"/>
          </p:nvPr>
        </p:nvSpPr>
        <p:spPr>
          <a:xfrm>
            <a:off x="2357200" y="3063240"/>
            <a:ext cx="2829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subTitle" idx="7"/>
          </p:nvPr>
        </p:nvSpPr>
        <p:spPr>
          <a:xfrm>
            <a:off x="5599899" y="1408176"/>
            <a:ext cx="2829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subTitle" idx="8"/>
          </p:nvPr>
        </p:nvSpPr>
        <p:spPr>
          <a:xfrm>
            <a:off x="5599899" y="3063240"/>
            <a:ext cx="2829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49" name="Google Shape;149;p21"/>
          <p:cNvGrpSpPr/>
          <p:nvPr/>
        </p:nvGrpSpPr>
        <p:grpSpPr>
          <a:xfrm>
            <a:off x="-97848" y="-83528"/>
            <a:ext cx="1593000" cy="5257603"/>
            <a:chOff x="-44098" y="-83528"/>
            <a:chExt cx="1593000" cy="5257603"/>
          </a:xfrm>
        </p:grpSpPr>
        <p:sp>
          <p:nvSpPr>
            <p:cNvPr id="150" name="Google Shape;150;p21"/>
            <p:cNvSpPr/>
            <p:nvPr/>
          </p:nvSpPr>
          <p:spPr>
            <a:xfrm>
              <a:off x="49575" y="-13225"/>
              <a:ext cx="1415400" cy="5187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51" name="Google Shape;151;p21"/>
            <p:cNvSpPr/>
            <p:nvPr/>
          </p:nvSpPr>
          <p:spPr>
            <a:xfrm rot="-2700000">
              <a:off x="189191" y="149761"/>
              <a:ext cx="1126421" cy="1126421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52" name="Google Shape;152;p21"/>
            <p:cNvSpPr/>
            <p:nvPr/>
          </p:nvSpPr>
          <p:spPr>
            <a:xfrm rot="5400000">
              <a:off x="-526525" y="3153250"/>
              <a:ext cx="2570100" cy="1410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50835" y="3728009"/>
              <a:ext cx="1415400" cy="1415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>
            <a:spLocks noGrp="1"/>
          </p:cNvSpPr>
          <p:nvPr>
            <p:ph type="ctrTitle"/>
          </p:nvPr>
        </p:nvSpPr>
        <p:spPr>
          <a:xfrm>
            <a:off x="3833765" y="804400"/>
            <a:ext cx="4262100" cy="107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4" name="Google Shape;184;p24"/>
          <p:cNvSpPr txBox="1">
            <a:spLocks noGrp="1"/>
          </p:cNvSpPr>
          <p:nvPr>
            <p:ph type="subTitle" idx="1"/>
          </p:nvPr>
        </p:nvSpPr>
        <p:spPr>
          <a:xfrm>
            <a:off x="3828915" y="1870075"/>
            <a:ext cx="42720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5" name="Google Shape;185;p24"/>
          <p:cNvSpPr txBox="1"/>
          <p:nvPr/>
        </p:nvSpPr>
        <p:spPr>
          <a:xfrm>
            <a:off x="3828875" y="3421877"/>
            <a:ext cx="4272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de" sz="1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</a:t>
            </a:r>
            <a:r>
              <a:rPr lang="de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 Diese Präsentationsvorlage wurde von </a:t>
            </a:r>
            <a:r>
              <a:rPr lang="de" sz="1000" b="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de" sz="1000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de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erstellt, inklusive Icons von </a:t>
            </a:r>
            <a:r>
              <a:rPr lang="de" sz="1000" b="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de" sz="1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de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und Infografiken &amp; Bildern von </a:t>
            </a:r>
            <a:r>
              <a:rPr lang="de" sz="1000" b="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 </a:t>
            </a:r>
            <a:endParaRPr sz="1000" b="1" u="sng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5"/>
          <p:cNvGrpSpPr/>
          <p:nvPr/>
        </p:nvGrpSpPr>
        <p:grpSpPr>
          <a:xfrm rot="10800000" flipH="1">
            <a:off x="-81398" y="-27278"/>
            <a:ext cx="1593000" cy="5257603"/>
            <a:chOff x="-44098" y="-83528"/>
            <a:chExt cx="1593000" cy="5257603"/>
          </a:xfrm>
        </p:grpSpPr>
        <p:sp>
          <p:nvSpPr>
            <p:cNvPr id="188" name="Google Shape;188;p25"/>
            <p:cNvSpPr/>
            <p:nvPr/>
          </p:nvSpPr>
          <p:spPr>
            <a:xfrm>
              <a:off x="49575" y="-13225"/>
              <a:ext cx="1415400" cy="5187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9" name="Google Shape;189;p25"/>
            <p:cNvSpPr/>
            <p:nvPr/>
          </p:nvSpPr>
          <p:spPr>
            <a:xfrm rot="-2700000">
              <a:off x="189191" y="149761"/>
              <a:ext cx="1126421" cy="1126421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90" name="Google Shape;190;p25"/>
            <p:cNvSpPr/>
            <p:nvPr/>
          </p:nvSpPr>
          <p:spPr>
            <a:xfrm rot="5400000">
              <a:off x="-526525" y="3153250"/>
              <a:ext cx="2570100" cy="1410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91" name="Google Shape;191;p25"/>
            <p:cNvSpPr/>
            <p:nvPr/>
          </p:nvSpPr>
          <p:spPr>
            <a:xfrm>
              <a:off x="50835" y="3728009"/>
              <a:ext cx="1415400" cy="1415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26"/>
          <p:cNvGrpSpPr/>
          <p:nvPr/>
        </p:nvGrpSpPr>
        <p:grpSpPr>
          <a:xfrm flipH="1">
            <a:off x="8436755" y="-104550"/>
            <a:ext cx="1414500" cy="5352600"/>
            <a:chOff x="-703120" y="-104550"/>
            <a:chExt cx="1414500" cy="5352600"/>
          </a:xfrm>
        </p:grpSpPr>
        <p:grpSp>
          <p:nvGrpSpPr>
            <p:cNvPr id="194" name="Google Shape;194;p26"/>
            <p:cNvGrpSpPr/>
            <p:nvPr/>
          </p:nvGrpSpPr>
          <p:grpSpPr>
            <a:xfrm flipH="1">
              <a:off x="-703120" y="-104550"/>
              <a:ext cx="1414500" cy="5352600"/>
              <a:chOff x="8428891" y="-104550"/>
              <a:chExt cx="1414500" cy="5352600"/>
            </a:xfrm>
          </p:grpSpPr>
          <p:sp>
            <p:nvSpPr>
              <p:cNvPr id="195" name="Google Shape;195;p26"/>
              <p:cNvSpPr/>
              <p:nvPr/>
            </p:nvSpPr>
            <p:spPr>
              <a:xfrm>
                <a:off x="8428891" y="-104550"/>
                <a:ext cx="726300" cy="535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grpSp>
            <p:nvGrpSpPr>
              <p:cNvPr id="196" name="Google Shape;196;p26"/>
              <p:cNvGrpSpPr/>
              <p:nvPr/>
            </p:nvGrpSpPr>
            <p:grpSpPr>
              <a:xfrm>
                <a:off x="8428891" y="2217900"/>
                <a:ext cx="1414500" cy="2925607"/>
                <a:chOff x="7729328" y="800725"/>
                <a:chExt cx="1414500" cy="2925607"/>
              </a:xfrm>
            </p:grpSpPr>
            <p:sp>
              <p:nvSpPr>
                <p:cNvPr id="197" name="Google Shape;197;p26"/>
                <p:cNvSpPr/>
                <p:nvPr/>
              </p:nvSpPr>
              <p:spPr>
                <a:xfrm rot="5400000" flipH="1">
                  <a:off x="6971678" y="1558375"/>
                  <a:ext cx="2925600" cy="14103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chivo"/>
                    <a:ea typeface="Archivo"/>
                    <a:cs typeface="Archivo"/>
                    <a:sym typeface="Archivo"/>
                  </a:endParaRPr>
                </a:p>
              </p:txBody>
            </p:sp>
            <p:sp>
              <p:nvSpPr>
                <p:cNvPr id="198" name="Google Shape;198;p26"/>
                <p:cNvSpPr/>
                <p:nvPr/>
              </p:nvSpPr>
              <p:spPr>
                <a:xfrm rot="10800000" flipH="1">
                  <a:off x="7729328" y="2311832"/>
                  <a:ext cx="1414500" cy="14145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chivo"/>
                    <a:ea typeface="Archivo"/>
                    <a:cs typeface="Archivo"/>
                    <a:sym typeface="Archivo"/>
                  </a:endParaRPr>
                </a:p>
              </p:txBody>
            </p:sp>
          </p:grpSp>
        </p:grpSp>
        <p:sp>
          <p:nvSpPr>
            <p:cNvPr id="199" name="Google Shape;199;p26"/>
            <p:cNvSpPr/>
            <p:nvPr/>
          </p:nvSpPr>
          <p:spPr>
            <a:xfrm rot="10800000">
              <a:off x="-703120" y="7"/>
              <a:ext cx="1414500" cy="141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"/>
              <a:buNone/>
              <a:defRPr sz="3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8" r:id="rId7"/>
    <p:sldLayoutId id="2147483667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>
            <a:spLocks noGrp="1"/>
          </p:cNvSpPr>
          <p:nvPr>
            <p:ph type="ctrTitle"/>
          </p:nvPr>
        </p:nvSpPr>
        <p:spPr>
          <a:xfrm>
            <a:off x="3653884" y="1649400"/>
            <a:ext cx="4712100" cy="18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+mj-lt"/>
              </a:rPr>
              <a:t>Выгорание у программистов</a:t>
            </a:r>
            <a:endParaRPr lang="en-GB" dirty="0">
              <a:latin typeface="+mj-lt"/>
            </a:endParaRPr>
          </a:p>
        </p:txBody>
      </p:sp>
      <p:sp>
        <p:nvSpPr>
          <p:cNvPr id="211" name="Google Shape;211;p30"/>
          <p:cNvSpPr txBox="1">
            <a:spLocks noGrp="1"/>
          </p:cNvSpPr>
          <p:nvPr>
            <p:ph type="subTitle" idx="1"/>
          </p:nvPr>
        </p:nvSpPr>
        <p:spPr>
          <a:xfrm>
            <a:off x="3653884" y="3494100"/>
            <a:ext cx="3723600" cy="559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+mj-lt"/>
              </a:rPr>
              <a:t>Автор работы</a:t>
            </a:r>
            <a:endParaRPr lang="ru-RU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+mj-lt"/>
              </a:rPr>
              <a:t>Калинин Никита Викторович ЭФБО-09-23</a:t>
            </a:r>
          </a:p>
        </p:txBody>
      </p:sp>
      <p:grpSp>
        <p:nvGrpSpPr>
          <p:cNvPr id="212" name="Google Shape;212;p30"/>
          <p:cNvGrpSpPr/>
          <p:nvPr/>
        </p:nvGrpSpPr>
        <p:grpSpPr>
          <a:xfrm>
            <a:off x="-894" y="-99300"/>
            <a:ext cx="2907687" cy="5315700"/>
            <a:chOff x="-894" y="-99300"/>
            <a:chExt cx="2907687" cy="5315700"/>
          </a:xfrm>
        </p:grpSpPr>
        <p:sp>
          <p:nvSpPr>
            <p:cNvPr id="213" name="Google Shape;213;p30"/>
            <p:cNvSpPr/>
            <p:nvPr/>
          </p:nvSpPr>
          <p:spPr>
            <a:xfrm>
              <a:off x="0" y="-99300"/>
              <a:ext cx="2818500" cy="5315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grpSp>
          <p:nvGrpSpPr>
            <p:cNvPr id="214" name="Google Shape;214;p30"/>
            <p:cNvGrpSpPr/>
            <p:nvPr/>
          </p:nvGrpSpPr>
          <p:grpSpPr>
            <a:xfrm>
              <a:off x="-894" y="1425375"/>
              <a:ext cx="1415358" cy="3718917"/>
              <a:chOff x="-894" y="1291057"/>
              <a:chExt cx="1466692" cy="3853800"/>
            </a:xfrm>
          </p:grpSpPr>
          <p:sp>
            <p:nvSpPr>
              <p:cNvPr id="215" name="Google Shape;215;p30"/>
              <p:cNvSpPr/>
              <p:nvPr/>
            </p:nvSpPr>
            <p:spPr>
              <a:xfrm rot="5400000">
                <a:off x="-1196994" y="2487157"/>
                <a:ext cx="3853800" cy="14616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16" name="Google Shape;216;p30"/>
              <p:cNvSpPr/>
              <p:nvPr/>
            </p:nvSpPr>
            <p:spPr>
              <a:xfrm>
                <a:off x="-2" y="3678727"/>
                <a:ext cx="1465800" cy="1465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sp>
          <p:nvSpPr>
            <p:cNvPr id="217" name="Google Shape;217;p30"/>
            <p:cNvSpPr/>
            <p:nvPr/>
          </p:nvSpPr>
          <p:spPr>
            <a:xfrm>
              <a:off x="1402550" y="1430015"/>
              <a:ext cx="1415400" cy="1415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18" name="Google Shape;218;p30"/>
            <p:cNvSpPr/>
            <p:nvPr/>
          </p:nvSpPr>
          <p:spPr>
            <a:xfrm rot="-2700000">
              <a:off x="1547082" y="153863"/>
              <a:ext cx="1126421" cy="1126421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>
            <a:spLocks noGrp="1"/>
          </p:cNvSpPr>
          <p:nvPr>
            <p:ph type="title"/>
          </p:nvPr>
        </p:nvSpPr>
        <p:spPr>
          <a:xfrm>
            <a:off x="3941458" y="1412097"/>
            <a:ext cx="4177380" cy="10317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Что такое</a:t>
            </a:r>
            <a:r>
              <a:rPr lang="en-US" sz="2800" dirty="0">
                <a:latin typeface="+mj-lt"/>
              </a:rPr>
              <a:t> </a:t>
            </a:r>
            <a:r>
              <a:rPr lang="ru-RU" sz="2800" dirty="0">
                <a:latin typeface="+mj-lt"/>
              </a:rPr>
              <a:t>выгорание?</a:t>
            </a:r>
            <a:endParaRPr sz="2800" dirty="0">
              <a:latin typeface="+mj-lt"/>
            </a:endParaRPr>
          </a:p>
        </p:txBody>
      </p:sp>
      <p:sp>
        <p:nvSpPr>
          <p:cNvPr id="269" name="Google Shape;269;p34"/>
          <p:cNvSpPr txBox="1">
            <a:spLocks noGrp="1"/>
          </p:cNvSpPr>
          <p:nvPr>
            <p:ph type="body" idx="1"/>
          </p:nvPr>
        </p:nvSpPr>
        <p:spPr>
          <a:xfrm>
            <a:off x="3941458" y="2452716"/>
            <a:ext cx="3648300" cy="15010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latin typeface="+mn-lt"/>
              </a:rPr>
              <a:t>Выгорание</a:t>
            </a:r>
            <a:r>
              <a:rPr lang="ru-RU" sz="1600" dirty="0">
                <a:latin typeface="+mn-lt"/>
              </a:rPr>
              <a:t> — это состояние физического, эмоционального и умственного истощения, вызванное длительным стрессом.</a:t>
            </a:r>
            <a:endParaRPr sz="1600" dirty="0">
              <a:solidFill>
                <a:schemeClr val="dk1"/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7AE000-549F-1CED-0A75-CBC29561AB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0875" y="661212"/>
            <a:ext cx="381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08A913E-F1EE-BCD2-8B36-0EC091BDB9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53604" y="0"/>
            <a:ext cx="2890396" cy="5143500"/>
          </a:xfrm>
          <a:prstGeom prst="rect">
            <a:avLst/>
          </a:prstGeom>
        </p:spPr>
      </p:pic>
      <p:sp>
        <p:nvSpPr>
          <p:cNvPr id="13" name="Google Shape;268;p34">
            <a:extLst>
              <a:ext uri="{FF2B5EF4-FFF2-40B4-BE49-F238E27FC236}">
                <a16:creationId xmlns:a16="http://schemas.microsoft.com/office/drawing/2014/main" id="{2E39939A-5667-632D-C7F7-8C9B3E2AD8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21787" y="759853"/>
            <a:ext cx="3883931" cy="51210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Причины выгорания</a:t>
            </a:r>
          </a:p>
        </p:txBody>
      </p:sp>
      <p:sp>
        <p:nvSpPr>
          <p:cNvPr id="14" name="Google Shape;269;p34">
            <a:extLst>
              <a:ext uri="{FF2B5EF4-FFF2-40B4-BE49-F238E27FC236}">
                <a16:creationId xmlns:a16="http://schemas.microsoft.com/office/drawing/2014/main" id="{4DB5F998-6399-4F1B-250B-4048604582D5}"/>
              </a:ext>
            </a:extLst>
          </p:cNvPr>
          <p:cNvSpPr txBox="1">
            <a:spLocks/>
          </p:cNvSpPr>
          <p:nvPr/>
        </p:nvSpPr>
        <p:spPr>
          <a:xfrm>
            <a:off x="1621787" y="1271956"/>
            <a:ext cx="4177380" cy="2939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+mn-lt"/>
              </a:rPr>
              <a:t>Постоянные дедлайны и давление: </a:t>
            </a:r>
            <a:r>
              <a:rPr lang="ru-RU" sz="1600" b="0" dirty="0">
                <a:latin typeface="+mn-lt"/>
              </a:rPr>
              <a:t>Программисты часто работают под строгие сроки, что создает хронический стресс.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+mn-lt"/>
              </a:rPr>
              <a:t>Однообразие задач: </a:t>
            </a:r>
            <a:r>
              <a:rPr lang="ru-RU" sz="1600" b="0" dirty="0">
                <a:latin typeface="+mn-lt"/>
              </a:rPr>
              <a:t>Поддержка устаревших проектов, исправление ошибок и рутинные задачи приводят к потере интереса.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+mn-lt"/>
              </a:rPr>
              <a:t>Недостаток признания: </a:t>
            </a:r>
            <a:r>
              <a:rPr lang="ru-RU" sz="1600" b="0" dirty="0">
                <a:latin typeface="+mn-lt"/>
              </a:rPr>
              <a:t>Работа часто незаметна, а обратная связь приходит только при наличии ошибок.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>
            <a:spLocks noGrp="1"/>
          </p:cNvSpPr>
          <p:nvPr>
            <p:ph type="title"/>
          </p:nvPr>
        </p:nvSpPr>
        <p:spPr>
          <a:xfrm>
            <a:off x="4172755" y="592428"/>
            <a:ext cx="3870101" cy="5636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Причины выгорания</a:t>
            </a:r>
          </a:p>
        </p:txBody>
      </p:sp>
      <p:sp>
        <p:nvSpPr>
          <p:cNvPr id="269" name="Google Shape;269;p34"/>
          <p:cNvSpPr txBox="1">
            <a:spLocks noGrp="1"/>
          </p:cNvSpPr>
          <p:nvPr>
            <p:ph type="body" idx="1"/>
          </p:nvPr>
        </p:nvSpPr>
        <p:spPr>
          <a:xfrm>
            <a:off x="4172756" y="1156047"/>
            <a:ext cx="3870100" cy="2353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ru-RU" sz="1600" b="1" dirty="0">
                <a:latin typeface="+mn-lt"/>
              </a:rPr>
              <a:t>Работа вне рабочего времени</a:t>
            </a:r>
            <a:r>
              <a:rPr lang="ru-RU" sz="1600" dirty="0">
                <a:latin typeface="+mn-lt"/>
              </a:rPr>
              <a:t>: Ожидание быть на связи вечером и по выходным нарушает баланс между работой и личной жизнью.</a:t>
            </a:r>
          </a:p>
          <a:p>
            <a:pPr marL="171450" indent="-171450"/>
            <a:r>
              <a:rPr lang="ru-RU" sz="1600" b="1" dirty="0">
                <a:latin typeface="+mn-lt"/>
              </a:rPr>
              <a:t>Постоянное обучение</a:t>
            </a:r>
            <a:r>
              <a:rPr lang="ru-RU" sz="1600" dirty="0">
                <a:latin typeface="+mn-lt"/>
              </a:rPr>
              <a:t>: Быстрые изменения технологий требуют постоянного обучения, что может вызывать усталость и стресс.</a:t>
            </a:r>
            <a:endParaRPr sz="1600" dirty="0">
              <a:solidFill>
                <a:schemeClr val="dk1"/>
              </a:solidFill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DB09B7-FEE8-CD01-066E-FC4E8DEED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756" y="4236953"/>
            <a:ext cx="572931" cy="4800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3C7809-FB5E-CD9A-FA21-5C5410EEB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8752"/>
            <a:ext cx="4172754" cy="450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434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268;p34">
            <a:extLst>
              <a:ext uri="{FF2B5EF4-FFF2-40B4-BE49-F238E27FC236}">
                <a16:creationId xmlns:a16="http://schemas.microsoft.com/office/drawing/2014/main" id="{2E39939A-5667-632D-C7F7-8C9B3E2AD8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7662" y="600801"/>
            <a:ext cx="4221505" cy="10317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Симптомы выгорания</a:t>
            </a:r>
          </a:p>
        </p:txBody>
      </p:sp>
      <p:sp>
        <p:nvSpPr>
          <p:cNvPr id="14" name="Google Shape;269;p34">
            <a:extLst>
              <a:ext uri="{FF2B5EF4-FFF2-40B4-BE49-F238E27FC236}">
                <a16:creationId xmlns:a16="http://schemas.microsoft.com/office/drawing/2014/main" id="{4DB5F998-6399-4F1B-250B-4048604582D5}"/>
              </a:ext>
            </a:extLst>
          </p:cNvPr>
          <p:cNvSpPr txBox="1">
            <a:spLocks/>
          </p:cNvSpPr>
          <p:nvPr/>
        </p:nvSpPr>
        <p:spPr>
          <a:xfrm>
            <a:off x="1423115" y="1544524"/>
            <a:ext cx="4376052" cy="250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4381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+mn-lt"/>
              </a:rPr>
              <a:t>Физическое истощение: </a:t>
            </a:r>
            <a:r>
              <a:rPr lang="ru-RU" sz="1600" b="0" dirty="0">
                <a:latin typeface="+mn-lt"/>
              </a:rPr>
              <a:t>Постоянная усталость, даже после сна или отдыха, головные боли и боли в шее.</a:t>
            </a:r>
          </a:p>
          <a:p>
            <a:pPr marL="4381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+mn-lt"/>
              </a:rPr>
              <a:t>Эмоциональная апатия: </a:t>
            </a:r>
            <a:r>
              <a:rPr lang="ru-RU" sz="1600" b="0" dirty="0">
                <a:latin typeface="+mn-lt"/>
              </a:rPr>
              <a:t>Потеря интереса к работе, ощущение внутренней пустоты.</a:t>
            </a:r>
          </a:p>
          <a:p>
            <a:pPr marL="4381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+mn-lt"/>
              </a:rPr>
              <a:t>Снижение продуктивности: </a:t>
            </a:r>
            <a:r>
              <a:rPr lang="ru-RU" sz="1600" b="0" dirty="0">
                <a:latin typeface="+mn-lt"/>
              </a:rPr>
              <a:t>Ухудшение концентрации, увеличение количества ошибок.</a:t>
            </a:r>
          </a:p>
          <a:p>
            <a:pPr marL="0" indent="0"/>
            <a:endParaRPr lang="ru-RU" sz="1600" b="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1F107C-3563-AE26-4596-40FF19C45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167" y="0"/>
            <a:ext cx="334483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07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68;p34">
            <a:extLst>
              <a:ext uri="{FF2B5EF4-FFF2-40B4-BE49-F238E27FC236}">
                <a16:creationId xmlns:a16="http://schemas.microsoft.com/office/drawing/2014/main" id="{31E24F69-2A4F-C071-D38E-3CDCE7D61F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0175" y="569722"/>
            <a:ext cx="4177380" cy="6151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Симптомы выгорания</a:t>
            </a:r>
          </a:p>
        </p:txBody>
      </p:sp>
      <p:sp>
        <p:nvSpPr>
          <p:cNvPr id="9" name="Google Shape;269;p34">
            <a:extLst>
              <a:ext uri="{FF2B5EF4-FFF2-40B4-BE49-F238E27FC236}">
                <a16:creationId xmlns:a16="http://schemas.microsoft.com/office/drawing/2014/main" id="{A79C8B9A-075D-CE3A-E849-54B01D4F50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10175" y="1184855"/>
            <a:ext cx="4177380" cy="25113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ru-RU" sz="1600" b="1" dirty="0">
                <a:latin typeface="+mn-lt"/>
              </a:rPr>
              <a:t>Изоляция от коллег</a:t>
            </a:r>
            <a:r>
              <a:rPr lang="ru-RU" sz="1600" dirty="0">
                <a:latin typeface="+mn-lt"/>
              </a:rPr>
              <a:t>: Программисты начинают избегать общения с командой, предпочитают работать в одиночку.</a:t>
            </a:r>
          </a:p>
          <a:p>
            <a:pPr marL="171450" indent="-171450"/>
            <a:r>
              <a:rPr lang="ru-RU" sz="1600" b="1" dirty="0">
                <a:latin typeface="+mn-lt"/>
              </a:rPr>
              <a:t>Цинизм и негативизм</a:t>
            </a:r>
            <a:r>
              <a:rPr lang="ru-RU" sz="1600" dirty="0">
                <a:latin typeface="+mn-lt"/>
              </a:rPr>
              <a:t>: Циничные взгляды на проекты, критикуются компания и коллеги, возникает ощущение бесполезности работы.</a:t>
            </a:r>
            <a:endParaRPr sz="1600" dirty="0">
              <a:solidFill>
                <a:schemeClr val="dk1"/>
              </a:solidFill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D2658F-76EB-4336-053F-F364C315E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4856"/>
            <a:ext cx="3958644" cy="39586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BAC5A1-FFC3-CA3A-48E7-C552A929E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1489"/>
            <a:ext cx="3958644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c 22">
            <a:extLst>
              <a:ext uri="{FF2B5EF4-FFF2-40B4-BE49-F238E27FC236}">
                <a16:creationId xmlns:a16="http://schemas.microsoft.com/office/drawing/2014/main" id="{422A147D-4EC9-ADF0-8D6D-302E7C5D3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57234" y="592428"/>
            <a:ext cx="3586766" cy="4551072"/>
          </a:xfrm>
          <a:prstGeom prst="rect">
            <a:avLst/>
          </a:prstGeom>
        </p:spPr>
      </p:pic>
      <p:sp>
        <p:nvSpPr>
          <p:cNvPr id="297" name="Google Shape;297;p37"/>
          <p:cNvSpPr txBox="1">
            <a:spLocks noGrp="1"/>
          </p:cNvSpPr>
          <p:nvPr>
            <p:ph type="subTitle" idx="2"/>
          </p:nvPr>
        </p:nvSpPr>
        <p:spPr>
          <a:xfrm>
            <a:off x="1468192" y="1313644"/>
            <a:ext cx="4269347" cy="32374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+mn-lt"/>
              </a:rPr>
              <a:t>Проблемы со здоровьем</a:t>
            </a:r>
            <a:r>
              <a:rPr lang="ru-RU" sz="1600" dirty="0">
                <a:latin typeface="+mn-lt"/>
              </a:rPr>
              <a:t>: Выгорание может привести к сердечно-сосудистым заболеваниям, депрессии и тревожным расстройствам.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+mn-lt"/>
              </a:rPr>
              <a:t>Потеря мотивации</a:t>
            </a:r>
            <a:r>
              <a:rPr lang="ru-RU" sz="1600" dirty="0">
                <a:latin typeface="+mn-lt"/>
              </a:rPr>
              <a:t>: Программисты могут потерять интерес к профессии и задуматься о смене карьеры.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+mn-lt"/>
              </a:rPr>
              <a:t>Снижение качества работы</a:t>
            </a:r>
            <a:r>
              <a:rPr lang="ru-RU" sz="1600" dirty="0">
                <a:latin typeface="+mn-lt"/>
              </a:rPr>
              <a:t>: Ошибки и медленная работа влияют на успех проектов и компании.</a:t>
            </a:r>
            <a:endParaRPr lang="ru-RU" sz="1600" b="0" dirty="0">
              <a:latin typeface="+mn-lt"/>
            </a:endParaRPr>
          </a:p>
        </p:txBody>
      </p:sp>
      <p:sp>
        <p:nvSpPr>
          <p:cNvPr id="299" name="Google Shape;299;p37"/>
          <p:cNvSpPr txBox="1">
            <a:spLocks noGrp="1"/>
          </p:cNvSpPr>
          <p:nvPr>
            <p:ph type="title"/>
          </p:nvPr>
        </p:nvSpPr>
        <p:spPr>
          <a:xfrm>
            <a:off x="1468192" y="680972"/>
            <a:ext cx="4816697" cy="6326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Последствия выгорания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6CAFC0-CD61-8DF3-EA8B-AB0FFE534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701" y="1263185"/>
            <a:ext cx="3925694" cy="2617129"/>
          </a:xfrm>
          <a:prstGeom prst="rect">
            <a:avLst/>
          </a:prstGeom>
        </p:spPr>
      </p:pic>
      <p:sp>
        <p:nvSpPr>
          <p:cNvPr id="268" name="Google Shape;268;p34"/>
          <p:cNvSpPr txBox="1">
            <a:spLocks noGrp="1"/>
          </p:cNvSpPr>
          <p:nvPr>
            <p:ph type="title"/>
          </p:nvPr>
        </p:nvSpPr>
        <p:spPr>
          <a:xfrm>
            <a:off x="3721993" y="598867"/>
            <a:ext cx="4507606" cy="5120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Способы профилактики</a:t>
            </a:r>
            <a:endParaRPr sz="2800" dirty="0">
              <a:latin typeface="+mj-lt"/>
            </a:endParaRPr>
          </a:p>
        </p:txBody>
      </p:sp>
      <p:sp>
        <p:nvSpPr>
          <p:cNvPr id="269" name="Google Shape;269;p34"/>
          <p:cNvSpPr txBox="1">
            <a:spLocks noGrp="1"/>
          </p:cNvSpPr>
          <p:nvPr>
            <p:ph type="body" idx="1"/>
          </p:nvPr>
        </p:nvSpPr>
        <p:spPr>
          <a:xfrm>
            <a:off x="3606086" y="1110898"/>
            <a:ext cx="4623514" cy="30682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ru-RU" sz="1600" b="1" dirty="0"/>
              <a:t>Установление границ</a:t>
            </a:r>
            <a:r>
              <a:rPr lang="ru-RU" sz="1600" dirty="0"/>
              <a:t>: Разделение работы и личной жизни, отключение рабочих чатов вне рабочего времени.</a:t>
            </a:r>
          </a:p>
          <a:p>
            <a:pPr marL="171450" indent="-171450"/>
            <a:r>
              <a:rPr lang="ru-RU" sz="1600" b="1" dirty="0"/>
              <a:t>Организация процесса</a:t>
            </a:r>
            <a:r>
              <a:rPr lang="ru-RU" sz="1600" dirty="0"/>
              <a:t>: Четкое планирование, равномерное распределение задач и деление проектов на этапы.</a:t>
            </a:r>
          </a:p>
          <a:p>
            <a:pPr marL="171450" indent="-171450"/>
            <a:r>
              <a:rPr lang="ru-RU" sz="1600" b="1" dirty="0"/>
              <a:t>Регулярные перерывы</a:t>
            </a:r>
            <a:r>
              <a:rPr lang="ru-RU" sz="1600" dirty="0"/>
              <a:t>: Отдыхать 5-10 минут каждый час-два для поддержания концентрации и предотвращения истощения.</a:t>
            </a:r>
            <a:endParaRPr sz="1600" dirty="0">
              <a:solidFill>
                <a:schemeClr val="dk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8279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B846F3-169A-19D4-364B-22765831C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266" y="680972"/>
            <a:ext cx="3842734" cy="3842734"/>
          </a:xfrm>
          <a:prstGeom prst="rect">
            <a:avLst/>
          </a:prstGeom>
        </p:spPr>
      </p:pic>
      <p:sp>
        <p:nvSpPr>
          <p:cNvPr id="297" name="Google Shape;297;p37"/>
          <p:cNvSpPr txBox="1">
            <a:spLocks noGrp="1"/>
          </p:cNvSpPr>
          <p:nvPr>
            <p:ph type="subTitle" idx="2"/>
          </p:nvPr>
        </p:nvSpPr>
        <p:spPr>
          <a:xfrm>
            <a:off x="1487510" y="1313645"/>
            <a:ext cx="4050405" cy="35545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+mn-lt"/>
              </a:rPr>
              <a:t>Обратная связь и признание</a:t>
            </a:r>
            <a:r>
              <a:rPr lang="ru-RU" sz="1600" dirty="0">
                <a:latin typeface="+mn-lt"/>
              </a:rPr>
              <a:t>: Руководителям важно давать положительную обратную связь, признавать достижения сотрудников.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+mn-lt"/>
              </a:rPr>
              <a:t>Психологическая поддержка</a:t>
            </a:r>
            <a:r>
              <a:rPr lang="ru-RU" sz="1600" dirty="0">
                <a:latin typeface="+mn-lt"/>
              </a:rPr>
              <a:t>: Общение с коллегами, друзьями или психологом помогает справляться с эмоциональной нагрузкой.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latin typeface="+mn-lt"/>
              </a:rPr>
              <a:t>Физическая активность</a:t>
            </a:r>
            <a:r>
              <a:rPr lang="ru-RU" sz="1600" dirty="0">
                <a:latin typeface="+mn-lt"/>
              </a:rPr>
              <a:t>: Регулярные занятия спортом, прогулки и йога помогают бороться со стрессом.</a:t>
            </a:r>
            <a:endParaRPr lang="ru-RU" sz="1600" b="0" dirty="0">
              <a:latin typeface="+mn-lt"/>
            </a:endParaRPr>
          </a:p>
        </p:txBody>
      </p:sp>
      <p:sp>
        <p:nvSpPr>
          <p:cNvPr id="299" name="Google Shape;299;p37"/>
          <p:cNvSpPr txBox="1">
            <a:spLocks noGrp="1"/>
          </p:cNvSpPr>
          <p:nvPr>
            <p:ph type="title"/>
          </p:nvPr>
        </p:nvSpPr>
        <p:spPr>
          <a:xfrm>
            <a:off x="1487510" y="680972"/>
            <a:ext cx="4797379" cy="6326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800" dirty="0">
                <a:latin typeface="+mj-lt"/>
              </a:rPr>
              <a:t>Способы профилактики</a:t>
            </a:r>
            <a:br>
              <a:rPr lang="ru-RU" sz="2800" dirty="0">
                <a:latin typeface="+mj-lt"/>
              </a:rPr>
            </a:br>
            <a:endParaRPr lang="ru-RU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71458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>
            <a:spLocks noGrp="1"/>
          </p:cNvSpPr>
          <p:nvPr>
            <p:ph type="title"/>
          </p:nvPr>
        </p:nvSpPr>
        <p:spPr>
          <a:xfrm>
            <a:off x="394620" y="759855"/>
            <a:ext cx="4177380" cy="5249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+mj-lt"/>
              </a:rPr>
              <a:t>Заключение</a:t>
            </a:r>
          </a:p>
        </p:txBody>
      </p:sp>
      <p:sp>
        <p:nvSpPr>
          <p:cNvPr id="269" name="Google Shape;269;p34"/>
          <p:cNvSpPr txBox="1">
            <a:spLocks noGrp="1"/>
          </p:cNvSpPr>
          <p:nvPr>
            <p:ph type="body" idx="1"/>
          </p:nvPr>
        </p:nvSpPr>
        <p:spPr>
          <a:xfrm>
            <a:off x="394620" y="1284837"/>
            <a:ext cx="4177380" cy="18805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ru-RU" sz="1600" dirty="0">
                <a:solidFill>
                  <a:schemeClr val="dk1"/>
                </a:solidFill>
                <a:latin typeface="+mn-lt"/>
              </a:rPr>
              <a:t>Выгорание — серьёзная проблема.  </a:t>
            </a:r>
          </a:p>
          <a:p>
            <a:pPr marL="171450" indent="-171450"/>
            <a:r>
              <a:rPr lang="ru-RU" sz="1600" dirty="0">
                <a:solidFill>
                  <a:schemeClr val="dk1"/>
                </a:solidFill>
                <a:latin typeface="+mn-lt"/>
              </a:rPr>
              <a:t>Важно своевременно распознать его и предпринять меры для профилактики.  </a:t>
            </a:r>
          </a:p>
          <a:p>
            <a:pPr marL="171450" indent="-171450"/>
            <a:r>
              <a:rPr lang="ru-RU" sz="1600" dirty="0">
                <a:solidFill>
                  <a:schemeClr val="dk1"/>
                </a:solidFill>
                <a:latin typeface="+mn-lt"/>
              </a:rPr>
              <a:t>Забота о здоровье — ключ к успешной карьере в </a:t>
            </a:r>
            <a:r>
              <a:rPr lang="en-GB" sz="1600" dirty="0">
                <a:solidFill>
                  <a:schemeClr val="dk1"/>
                </a:solidFill>
                <a:latin typeface="+mn-lt"/>
              </a:rPr>
              <a:t>IT.</a:t>
            </a:r>
            <a:endParaRPr sz="1600" dirty="0">
              <a:solidFill>
                <a:schemeClr val="dk1"/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D44AB9-E022-A186-D3CC-D5D64373BF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83" r="12942"/>
          <a:stretch/>
        </p:blipFill>
        <p:spPr>
          <a:xfrm>
            <a:off x="4926370" y="0"/>
            <a:ext cx="351170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664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9"/>
          <p:cNvSpPr txBox="1">
            <a:spLocks noGrp="1"/>
          </p:cNvSpPr>
          <p:nvPr>
            <p:ph type="ctrTitle"/>
          </p:nvPr>
        </p:nvSpPr>
        <p:spPr>
          <a:xfrm>
            <a:off x="3468382" y="2189826"/>
            <a:ext cx="5250613" cy="6527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>
                <a:latin typeface="+mj-lt"/>
              </a:rPr>
              <a:t>Спасибо за внимание</a:t>
            </a:r>
            <a:endParaRPr sz="3600" dirty="0">
              <a:latin typeface="+mj-lt"/>
            </a:endParaRPr>
          </a:p>
        </p:txBody>
      </p:sp>
      <p:grpSp>
        <p:nvGrpSpPr>
          <p:cNvPr id="494" name="Google Shape;494;p49"/>
          <p:cNvGrpSpPr/>
          <p:nvPr/>
        </p:nvGrpSpPr>
        <p:grpSpPr>
          <a:xfrm rot="10800000" flipH="1">
            <a:off x="-900" y="-109605"/>
            <a:ext cx="2900066" cy="5315700"/>
            <a:chOff x="-900" y="-99300"/>
            <a:chExt cx="2900066" cy="5315700"/>
          </a:xfrm>
        </p:grpSpPr>
        <p:sp>
          <p:nvSpPr>
            <p:cNvPr id="495" name="Google Shape;495;p49"/>
            <p:cNvSpPr/>
            <p:nvPr/>
          </p:nvSpPr>
          <p:spPr>
            <a:xfrm>
              <a:off x="0" y="-99300"/>
              <a:ext cx="2818500" cy="5315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grpSp>
          <p:nvGrpSpPr>
            <p:cNvPr id="496" name="Google Shape;496;p49"/>
            <p:cNvGrpSpPr/>
            <p:nvPr/>
          </p:nvGrpSpPr>
          <p:grpSpPr>
            <a:xfrm>
              <a:off x="-900" y="1455920"/>
              <a:ext cx="1415364" cy="3650884"/>
              <a:chOff x="-900" y="1322710"/>
              <a:chExt cx="1466698" cy="3783300"/>
            </a:xfrm>
          </p:grpSpPr>
          <p:sp>
            <p:nvSpPr>
              <p:cNvPr id="497" name="Google Shape;497;p49"/>
              <p:cNvSpPr/>
              <p:nvPr/>
            </p:nvSpPr>
            <p:spPr>
              <a:xfrm rot="5400000">
                <a:off x="-1161750" y="2483560"/>
                <a:ext cx="3783300" cy="14616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498" name="Google Shape;498;p49"/>
              <p:cNvSpPr/>
              <p:nvPr/>
            </p:nvSpPr>
            <p:spPr>
              <a:xfrm>
                <a:off x="-2" y="3640078"/>
                <a:ext cx="1465800" cy="1465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sp>
          <p:nvSpPr>
            <p:cNvPr id="499" name="Google Shape;499;p49"/>
            <p:cNvSpPr/>
            <p:nvPr/>
          </p:nvSpPr>
          <p:spPr>
            <a:xfrm>
              <a:off x="1402600" y="-36702"/>
              <a:ext cx="1415400" cy="1415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500" name="Google Shape;500;p49"/>
            <p:cNvSpPr/>
            <p:nvPr/>
          </p:nvSpPr>
          <p:spPr>
            <a:xfrm rot="-2700000">
              <a:off x="1539456" y="2027360"/>
              <a:ext cx="1126421" cy="1126421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4E34A94-BA8C-1585-5D35-E23F2DF65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596" y="3312725"/>
            <a:ext cx="4374861" cy="17472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Circles &amp; Rhombus Medical Center by Slidesgo">
  <a:themeElements>
    <a:clrScheme name="Simple Light">
      <a:dk1>
        <a:srgbClr val="2B2C32"/>
      </a:dk1>
      <a:lt1>
        <a:srgbClr val="F3F3F3"/>
      </a:lt1>
      <a:dk2>
        <a:srgbClr val="605489"/>
      </a:dk2>
      <a:lt2>
        <a:srgbClr val="BCA9E5"/>
      </a:lt2>
      <a:accent1>
        <a:srgbClr val="5CADA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B2C3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376</Words>
  <Application>Microsoft Macintosh PowerPoint</Application>
  <PresentationFormat>On-screen Show (16:9)</PresentationFormat>
  <Paragraphs>36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Nunito Light</vt:lpstr>
      <vt:lpstr>Archivo</vt:lpstr>
      <vt:lpstr>Arial</vt:lpstr>
      <vt:lpstr>Simple Circles &amp; Rhombus Medical Center by Slidesgo</vt:lpstr>
      <vt:lpstr>Выгорание у программистов</vt:lpstr>
      <vt:lpstr>Что такое выгорание?</vt:lpstr>
      <vt:lpstr>Причины выгорания</vt:lpstr>
      <vt:lpstr>Причины выгорания</vt:lpstr>
      <vt:lpstr>Симптомы выгорания</vt:lpstr>
      <vt:lpstr>Симптомы выгорания</vt:lpstr>
      <vt:lpstr>Последствия выгорания</vt:lpstr>
      <vt:lpstr>Способы профилактики</vt:lpstr>
      <vt:lpstr>Способы профилактики 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NKTKLN</cp:lastModifiedBy>
  <cp:revision>2</cp:revision>
  <dcterms:modified xsi:type="dcterms:W3CDTF">2024-09-15T18:18:07Z</dcterms:modified>
</cp:coreProperties>
</file>