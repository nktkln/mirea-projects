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0"/>
  </p:notesMasterIdLst>
  <p:sldIdLst>
    <p:sldId id="256" r:id="rId2"/>
    <p:sldId id="335" r:id="rId3"/>
    <p:sldId id="334" r:id="rId4"/>
    <p:sldId id="329" r:id="rId5"/>
    <p:sldId id="336" r:id="rId6"/>
    <p:sldId id="337" r:id="rId7"/>
    <p:sldId id="338" r:id="rId8"/>
    <p:sldId id="264" r:id="rId9"/>
  </p:sldIdLst>
  <p:sldSz cx="9144000" cy="5143500" type="screen16x9"/>
  <p:notesSz cx="6858000" cy="9144000"/>
  <p:embeddedFontLst>
    <p:embeddedFont>
      <p:font typeface="Montserrat" pitchFamily="2" charset="77"/>
      <p:regular r:id="rId11"/>
      <p:bold r:id="rId12"/>
      <p:italic r:id="rId13"/>
      <p:boldItalic r:id="rId14"/>
    </p:embeddedFont>
    <p:embeddedFont>
      <p:font typeface="Vidaloka" panose="02000504000000020004" pitchFamily="2" charset="0"/>
      <p:regular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704">
          <p15:clr>
            <a:srgbClr val="9AA0A6"/>
          </p15:clr>
        </p15:guide>
        <p15:guide id="2" pos="4392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44D9B5-D4C6-4592-A1EC-BB042E783D42}">
  <a:tblStyle styleId="{E244D9B5-D4C6-4592-A1EC-BB042E783D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>
      <p:cViewPr varScale="1">
        <p:scale>
          <a:sx n="198" d="100"/>
          <a:sy n="198" d="100"/>
        </p:scale>
        <p:origin x="984" y="168"/>
      </p:cViewPr>
      <p:guideLst>
        <p:guide pos="3704"/>
        <p:guide pos="4392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3D39E1A0-DF33-96FC-F8C8-D6EA99A0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742B191A-38CB-2AD0-AC04-1A34C227FC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AB79FA6E-0B0B-0265-CD98-2E34EDC7A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8914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0DF2509E-2623-43EC-CA54-4BE2443B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7A516E44-EC79-1123-1A3A-1AD1E56529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FD30ED63-C1EB-1817-B5AD-34DB702E2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42650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CA27CB0F-B7C9-C19F-751B-3B97DDD8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B2412DCF-2F9C-FD19-4464-42B276B52F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5899A050-545C-9498-5E5B-4898E4CF93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78430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6575D6B4-69FD-E56D-FD1C-EF2D97D5E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2094A271-0AF4-2193-5CD0-E37D2AFAE2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51AA3AAD-464E-3EA7-BBAC-04AA08D46F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2291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CC5D9D80-24DF-74A5-0AA6-D7AD8D0E4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2293AF10-66F9-19BB-332C-E8DDD6F7D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AB401103-615C-A07A-8DB4-FFDC751F9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47498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>
          <a:extLst>
            <a:ext uri="{FF2B5EF4-FFF2-40B4-BE49-F238E27FC236}">
              <a16:creationId xmlns:a16="http://schemas.microsoft.com/office/drawing/2014/main" id="{9DBCE6BD-F505-DFD1-D4A5-044B146DE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cd8a80d6bc_0_0:notes">
            <a:extLst>
              <a:ext uri="{FF2B5EF4-FFF2-40B4-BE49-F238E27FC236}">
                <a16:creationId xmlns:a16="http://schemas.microsoft.com/office/drawing/2014/main" id="{53B19746-AF8A-2D14-5EAD-4A8B611B7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cd8a80d6bc_0_0:notes">
            <a:extLst>
              <a:ext uri="{FF2B5EF4-FFF2-40B4-BE49-F238E27FC236}">
                <a16:creationId xmlns:a16="http://schemas.microsoft.com/office/drawing/2014/main" id="{C145E04F-C032-A43E-5F56-3214285517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2938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cc7554a049_0_3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cc7554a049_0_3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4" r:id="rId4"/>
    <p:sldLayoutId id="2147483696" r:id="rId5"/>
    <p:sldLayoutId id="2147483697" r:id="rId6"/>
    <p:sldLayoutId id="2147483698" r:id="rId7"/>
    <p:sldLayoutId id="2147483699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9"/>
          <p:cNvSpPr txBox="1">
            <a:spLocks noGrp="1"/>
          </p:cNvSpPr>
          <p:nvPr>
            <p:ph type="ctrTitle"/>
          </p:nvPr>
        </p:nvSpPr>
        <p:spPr>
          <a:xfrm>
            <a:off x="1039950" y="1919412"/>
            <a:ext cx="7064100" cy="13046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600" dirty="0"/>
              <a:t>Влияние социальных сетей на психическое здоровье молодежи</a:t>
            </a:r>
            <a:endParaRPr sz="3600" dirty="0"/>
          </a:p>
        </p:txBody>
      </p:sp>
      <p:sp>
        <p:nvSpPr>
          <p:cNvPr id="483" name="Google Shape;483;p59"/>
          <p:cNvSpPr txBox="1">
            <a:spLocks noGrp="1"/>
          </p:cNvSpPr>
          <p:nvPr>
            <p:ph type="subTitle" idx="1"/>
          </p:nvPr>
        </p:nvSpPr>
        <p:spPr>
          <a:xfrm>
            <a:off x="1039950" y="3446372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ru-RU" sz="1800" b="1" dirty="0"/>
              <a:t>Автор работы</a:t>
            </a:r>
            <a:r>
              <a:rPr lang="en-US" sz="1800" dirty="0"/>
              <a:t>: </a:t>
            </a:r>
            <a:r>
              <a:rPr lang="ru-RU" sz="1800" dirty="0"/>
              <a:t>Калинин Никита Викторович ЭФБО-09-23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75960E0C-6B00-D432-5C46-F3F104E9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269FF224-A8D7-0EEF-32C8-7AC84A61897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670679"/>
            <a:ext cx="3356801" cy="180214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Социальные сети, такие как </a:t>
            </a:r>
            <a:r>
              <a:rPr lang="en-GB" sz="1600" dirty="0"/>
              <a:t>Instagram </a:t>
            </a:r>
            <a:r>
              <a:rPr lang="ru-RU" sz="1600" dirty="0"/>
              <a:t>и </a:t>
            </a:r>
            <a:r>
              <a:rPr lang="en-GB" sz="1600" dirty="0"/>
              <a:t>TikTok, </a:t>
            </a:r>
            <a:r>
              <a:rPr lang="ru-RU" sz="1600" dirty="0"/>
              <a:t>имеют значительное влияние на молодежь, вызывая как положительные, так и отрицательные эффекты на психическое здоровье.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3D5A9CBA-69B1-A4E2-F5F3-BB86F1FC6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Введение</a:t>
            </a:r>
            <a:endParaRPr dirty="0"/>
          </a:p>
        </p:txBody>
      </p:sp>
      <p:pic>
        <p:nvPicPr>
          <p:cNvPr id="2" name="Google Shape;548;p65">
            <a:extLst>
              <a:ext uri="{FF2B5EF4-FFF2-40B4-BE49-F238E27FC236}">
                <a16:creationId xmlns:a16="http://schemas.microsoft.com/office/drawing/2014/main" id="{A58BB613-A39A-4B72-8D81-E818E3FEC0EC}"/>
              </a:ext>
            </a:extLst>
          </p:cNvPr>
          <p:cNvPicPr preferRelativeResize="0"/>
          <p:nvPr/>
        </p:nvPicPr>
        <p:blipFill rotWithShape="1">
          <a:blip r:embed="rId3"/>
          <a:srcRect l="59" r="59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12878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D9501A3E-27AC-7BE0-CBEB-67F07E28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D6180941-B11F-F631-6068-87228A6D0E3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428702"/>
            <a:ext cx="3356801" cy="228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Социальные сети укрепляют связи молодежи, обеспечивают доступ к образованию и способствуют профессиональному росту, позволяя развивать таланты и строить карьеру.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8B3CDD5A-051C-0C98-193A-7C3373CE2E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Позитивное влияние социальных сетей</a:t>
            </a:r>
            <a:endParaRPr dirty="0"/>
          </a:p>
        </p:txBody>
      </p:sp>
      <p:pic>
        <p:nvPicPr>
          <p:cNvPr id="548" name="Google Shape;548;p65">
            <a:extLst>
              <a:ext uri="{FF2B5EF4-FFF2-40B4-BE49-F238E27FC236}">
                <a16:creationId xmlns:a16="http://schemas.microsoft.com/office/drawing/2014/main" id="{EE4E2A75-FC59-C335-0D06-6D21A76497CA}"/>
              </a:ext>
            </a:extLst>
          </p:cNvPr>
          <p:cNvPicPr preferRelativeResize="0"/>
          <p:nvPr/>
        </p:nvPicPr>
        <p:blipFill rotWithShape="1">
          <a:blip r:embed="rId3"/>
          <a:srcRect l="4685" r="4685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760770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16E8473C-A2AD-02F2-5452-8F9551AC8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DDB5ED31-4207-E9CF-6CA2-C6C8E747DB9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428702"/>
            <a:ext cx="3356801" cy="228609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Социальные сети могут негативно влиять на психическое здоровье молодежи, вызывая </a:t>
            </a:r>
            <a:r>
              <a:rPr lang="ru-RU" sz="1600" dirty="0" err="1"/>
              <a:t>кибербуллинг</a:t>
            </a:r>
            <a:r>
              <a:rPr lang="ru-RU" sz="1600" dirty="0"/>
              <a:t>, депрессию, социальное сравнение и зависимость от дофамина, что нарушает сон и снижает внимание.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CBB51023-A369-65A1-1B23-48FEB3FFF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Негативное влияние социальных сетей</a:t>
            </a:r>
            <a:endParaRPr dirty="0"/>
          </a:p>
        </p:txBody>
      </p:sp>
      <p:pic>
        <p:nvPicPr>
          <p:cNvPr id="548" name="Google Shape;548;p65">
            <a:extLst>
              <a:ext uri="{FF2B5EF4-FFF2-40B4-BE49-F238E27FC236}">
                <a16:creationId xmlns:a16="http://schemas.microsoft.com/office/drawing/2014/main" id="{2FF01AE0-32C2-8143-587A-B49A15C97471}"/>
              </a:ext>
            </a:extLst>
          </p:cNvPr>
          <p:cNvPicPr preferRelativeResize="0"/>
          <p:nvPr/>
        </p:nvPicPr>
        <p:blipFill rotWithShape="1">
          <a:blip r:embed="rId3"/>
          <a:srcRect t="2910" b="2910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132747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B2DBFFD-A42F-138B-4A3C-43EA360B3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7BDB2E9B-95E4-2772-2E49-5F87902C16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294350"/>
            <a:ext cx="3356801" cy="255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Социальные сети влияют на психику молодежи, способствуя самовыражению, но вызывая зависимость от лайков, тревожность, страх упустить важное и снижение самооценки из-за сравнения с идеализированными образами.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9BD63E38-CB25-509B-66E0-5728A2BEB1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Психологические аспекты</a:t>
            </a:r>
            <a:endParaRPr dirty="0"/>
          </a:p>
        </p:txBody>
      </p:sp>
      <p:pic>
        <p:nvPicPr>
          <p:cNvPr id="548" name="Google Shape;548;p65">
            <a:extLst>
              <a:ext uri="{FF2B5EF4-FFF2-40B4-BE49-F238E27FC236}">
                <a16:creationId xmlns:a16="http://schemas.microsoft.com/office/drawing/2014/main" id="{A96222B1-4016-FB41-BED4-829A4C5C573D}"/>
              </a:ext>
            </a:extLst>
          </p:cNvPr>
          <p:cNvPicPr preferRelativeResize="0"/>
          <p:nvPr/>
        </p:nvPicPr>
        <p:blipFill rotWithShape="1">
          <a:blip r:embed="rId3"/>
          <a:srcRect t="2792" b="2792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80573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8EF86C4F-8D9C-5D90-0C14-BFA96D64E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8AFC5372-BE40-5A6A-90D2-60C2089FC05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294350"/>
            <a:ext cx="3356801" cy="2554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Для осознанного использования социальных сетей важно установить лимиты, анализировать эмоции, избегать сравнений, фокусироваться на позитивном контенте и делать перерывы для улучшения психического здоровья.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7074858D-7705-1E55-A1C6-69D7AFAB5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Пути решения и рекомендации</a:t>
            </a:r>
            <a:endParaRPr dirty="0"/>
          </a:p>
        </p:txBody>
      </p:sp>
      <p:pic>
        <p:nvPicPr>
          <p:cNvPr id="548" name="Google Shape;548;p65">
            <a:extLst>
              <a:ext uri="{FF2B5EF4-FFF2-40B4-BE49-F238E27FC236}">
                <a16:creationId xmlns:a16="http://schemas.microsoft.com/office/drawing/2014/main" id="{112C9230-5DBA-5D5A-7498-80145F20D9A9}"/>
              </a:ext>
            </a:extLst>
          </p:cNvPr>
          <p:cNvPicPr preferRelativeResize="0"/>
          <p:nvPr/>
        </p:nvPicPr>
        <p:blipFill rotWithShape="1">
          <a:blip r:embed="rId3"/>
          <a:srcRect l="10182" r="10182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42049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>
          <a:extLst>
            <a:ext uri="{FF2B5EF4-FFF2-40B4-BE49-F238E27FC236}">
              <a16:creationId xmlns:a16="http://schemas.microsoft.com/office/drawing/2014/main" id="{A0B3CE8C-6C32-D868-51C4-F26C83D4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5">
            <a:extLst>
              <a:ext uri="{FF2B5EF4-FFF2-40B4-BE49-F238E27FC236}">
                <a16:creationId xmlns:a16="http://schemas.microsoft.com/office/drawing/2014/main" id="{6EA1B1F6-B90E-793D-F7B2-744C1CF8BB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27575" y="1048592"/>
            <a:ext cx="3356801" cy="30463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ru-RU" sz="1600" dirty="0"/>
              <a:t>Социальные сети важны для молодежи, но их негативное влияние на психическое здоровье вызывает беспокойство. Чтобы они стали безопасными, необходимо сочетание личной осознанности и социальной ответственности, что поможет использовать их для самореализации и позитивного общения.</a:t>
            </a:r>
          </a:p>
        </p:txBody>
      </p:sp>
      <p:sp>
        <p:nvSpPr>
          <p:cNvPr id="547" name="Google Shape;547;p65">
            <a:extLst>
              <a:ext uri="{FF2B5EF4-FFF2-40B4-BE49-F238E27FC236}">
                <a16:creationId xmlns:a16="http://schemas.microsoft.com/office/drawing/2014/main" id="{6208D0F0-5B8A-E535-DCCF-CD00B92AC8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1423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Заключение</a:t>
            </a:r>
            <a:endParaRPr dirty="0"/>
          </a:p>
        </p:txBody>
      </p:sp>
      <p:pic>
        <p:nvPicPr>
          <p:cNvPr id="548" name="Google Shape;548;p65">
            <a:extLst>
              <a:ext uri="{FF2B5EF4-FFF2-40B4-BE49-F238E27FC236}">
                <a16:creationId xmlns:a16="http://schemas.microsoft.com/office/drawing/2014/main" id="{1C3A2C30-1180-E375-A0DE-9BA979958448}"/>
              </a:ext>
            </a:extLst>
          </p:cNvPr>
          <p:cNvPicPr preferRelativeResize="0"/>
          <p:nvPr/>
        </p:nvPicPr>
        <p:blipFill rotWithShape="1">
          <a:blip r:embed="rId3"/>
          <a:srcRect t="2985" b="2985"/>
          <a:stretch/>
        </p:blipFill>
        <p:spPr>
          <a:xfrm>
            <a:off x="4572000" y="1294350"/>
            <a:ext cx="4069035" cy="2554800"/>
          </a:xfrm>
          <a:prstGeom prst="rect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4061061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7"/>
          <p:cNvSpPr txBox="1">
            <a:spLocks noGrp="1"/>
          </p:cNvSpPr>
          <p:nvPr>
            <p:ph type="title"/>
          </p:nvPr>
        </p:nvSpPr>
        <p:spPr>
          <a:xfrm>
            <a:off x="659772" y="2072217"/>
            <a:ext cx="7824456" cy="9990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/>
              <a:t>Спасибо за внимание</a:t>
            </a:r>
            <a:r>
              <a:rPr lang="en" sz="4000" dirty="0"/>
              <a:t>!</a:t>
            </a:r>
            <a:endParaRPr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F1E2"/>
      </a:lt1>
      <a:dk2>
        <a:srgbClr val="000000"/>
      </a:dk2>
      <a:lt2>
        <a:srgbClr val="E3F1E2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208</Words>
  <Application>Microsoft Macintosh PowerPoint</Application>
  <PresentationFormat>On-screen Show (16:9)</PresentationFormat>
  <Paragraphs>15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Vidaloka</vt:lpstr>
      <vt:lpstr>Arial</vt:lpstr>
      <vt:lpstr>Montserrat</vt:lpstr>
      <vt:lpstr>Minimalist Business Slides XL by Slidesgo</vt:lpstr>
      <vt:lpstr>Влияние социальных сетей на психическое здоровье молодежи</vt:lpstr>
      <vt:lpstr>Введение</vt:lpstr>
      <vt:lpstr>Позитивное влияние социальных сетей</vt:lpstr>
      <vt:lpstr>Негативное влияние социальных сетей</vt:lpstr>
      <vt:lpstr>Психологические аспекты</vt:lpstr>
      <vt:lpstr>Пути решения и рекомендации</vt:lpstr>
      <vt:lpstr>Заключение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NKTKLN</cp:lastModifiedBy>
  <cp:revision>3</cp:revision>
  <dcterms:modified xsi:type="dcterms:W3CDTF">2024-09-29T14:44:56Z</dcterms:modified>
</cp:coreProperties>
</file>