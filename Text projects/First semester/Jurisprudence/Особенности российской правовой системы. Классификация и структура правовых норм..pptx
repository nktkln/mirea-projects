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35"/>
  </p:notesMasterIdLst>
  <p:sldIdLst>
    <p:sldId id="256" r:id="rId2"/>
    <p:sldId id="258" r:id="rId3"/>
    <p:sldId id="298" r:id="rId4"/>
    <p:sldId id="312" r:id="rId5"/>
    <p:sldId id="317" r:id="rId6"/>
    <p:sldId id="318" r:id="rId7"/>
    <p:sldId id="319" r:id="rId8"/>
    <p:sldId id="323" r:id="rId9"/>
    <p:sldId id="343" r:id="rId10"/>
    <p:sldId id="341" r:id="rId11"/>
    <p:sldId id="321" r:id="rId12"/>
    <p:sldId id="322" r:id="rId13"/>
    <p:sldId id="315" r:id="rId14"/>
    <p:sldId id="320" r:id="rId15"/>
    <p:sldId id="324" r:id="rId16"/>
    <p:sldId id="333" r:id="rId17"/>
    <p:sldId id="332" r:id="rId18"/>
    <p:sldId id="336" r:id="rId19"/>
    <p:sldId id="334" r:id="rId20"/>
    <p:sldId id="335" r:id="rId21"/>
    <p:sldId id="338" r:id="rId22"/>
    <p:sldId id="330" r:id="rId23"/>
    <p:sldId id="337" r:id="rId24"/>
    <p:sldId id="345" r:id="rId25"/>
    <p:sldId id="347" r:id="rId26"/>
    <p:sldId id="348" r:id="rId27"/>
    <p:sldId id="349" r:id="rId28"/>
    <p:sldId id="350" r:id="rId29"/>
    <p:sldId id="351" r:id="rId30"/>
    <p:sldId id="328" r:id="rId31"/>
    <p:sldId id="339" r:id="rId32"/>
    <p:sldId id="325" r:id="rId33"/>
    <p:sldId id="326" r:id="rId34"/>
  </p:sldIdLst>
  <p:sldSz cx="9144000" cy="5143500" type="screen16x9"/>
  <p:notesSz cx="6858000" cy="9144000"/>
  <p:embeddedFontLst>
    <p:embeddedFont>
      <p:font typeface="Anaheim" panose="020B0604020202020204" charset="0"/>
      <p:regular r:id="rId36"/>
    </p:embeddedFont>
    <p:embeddedFont>
      <p:font typeface="Open Sans" panose="020B0604020202020204" charset="0"/>
      <p:regular r:id="rId37"/>
      <p:bold r:id="rId38"/>
      <p:italic r:id="rId39"/>
      <p:boldItalic r:id="rId40"/>
    </p:embeddedFont>
    <p:embeddedFont>
      <p:font typeface="Cabin" panose="020B0604020202020204" charset="0"/>
      <p:regular r:id="rId41"/>
      <p:bold r:id="rId42"/>
      <p:italic r:id="rId43"/>
      <p:boldItalic r:id="rId44"/>
    </p:embeddedFont>
    <p:embeddedFont>
      <p:font typeface="Raleway" panose="020B0604020202020204" charset="-52"/>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53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E9D5E8C7-37E0-409F-B248-F224C2D03362}">
  <a:tblStyle styleId="{E9D5E8C7-37E0-409F-B248-F224C2D0336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AE3B36C-FE96-4233-9A5F-EB5DE3AFFEF9}"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0" d="100"/>
          <a:sy n="90" d="100"/>
        </p:scale>
        <p:origin x="-489" y="-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55001329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7623d9826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7623d9826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623d982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623d98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8" name="Google Shape;698;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8" name="Google Shape;698;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609329"/>
            <a:ext cx="4399800" cy="1961100"/>
          </a:xfrm>
          <a:prstGeom prst="rect">
            <a:avLst/>
          </a:prstGeom>
        </p:spPr>
        <p:txBody>
          <a:bodyPr spcFirstLastPara="1" wrap="square" lIns="91425" tIns="91425" rIns="91425" bIns="91425" anchor="b" anchorCtr="0">
            <a:noAutofit/>
          </a:bodyPr>
          <a:lstStyle>
            <a:lvl1pPr lvl="0" algn="l">
              <a:spcBef>
                <a:spcPts val="0"/>
              </a:spcBef>
              <a:spcAft>
                <a:spcPts val="0"/>
              </a:spcAft>
              <a:buClr>
                <a:srgbClr val="191919"/>
              </a:buClr>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890075"/>
            <a:ext cx="22455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a:spLocks noGrp="1"/>
          </p:cNvSpPr>
          <p:nvPr>
            <p:ph type="pic" idx="2"/>
          </p:nvPr>
        </p:nvSpPr>
        <p:spPr>
          <a:xfrm>
            <a:off x="5948750" y="957800"/>
            <a:ext cx="3195000" cy="35853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57" name="Google Shape;57;p6"/>
          <p:cNvGrpSpPr/>
          <p:nvPr/>
        </p:nvGrpSpPr>
        <p:grpSpPr>
          <a:xfrm rot="10800000">
            <a:off x="-4" y="194714"/>
            <a:ext cx="3195118" cy="204300"/>
            <a:chOff x="5948874" y="4766264"/>
            <a:chExt cx="3195118" cy="204300"/>
          </a:xfrm>
        </p:grpSpPr>
        <p:sp>
          <p:nvSpPr>
            <p:cNvPr id="58" name="Google Shape;58;p6"/>
            <p:cNvSpPr/>
            <p:nvPr/>
          </p:nvSpPr>
          <p:spPr>
            <a:xfrm rot="10800000">
              <a:off x="6546892" y="4766264"/>
              <a:ext cx="25971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9" name="Google Shape;59;p6"/>
            <p:cNvSpPr/>
            <p:nvPr/>
          </p:nvSpPr>
          <p:spPr>
            <a:xfrm rot="10800000">
              <a:off x="6247961" y="4766264"/>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0" name="Google Shape;60;p6"/>
            <p:cNvSpPr/>
            <p:nvPr/>
          </p:nvSpPr>
          <p:spPr>
            <a:xfrm rot="10800000">
              <a:off x="5948874" y="4766264"/>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61" name="Google Shape;61;p6"/>
          <p:cNvGrpSpPr/>
          <p:nvPr/>
        </p:nvGrpSpPr>
        <p:grpSpPr>
          <a:xfrm>
            <a:off x="5948871" y="4766264"/>
            <a:ext cx="3195118" cy="204300"/>
            <a:chOff x="5948871" y="539489"/>
            <a:chExt cx="3195118" cy="204300"/>
          </a:xfrm>
        </p:grpSpPr>
        <p:sp>
          <p:nvSpPr>
            <p:cNvPr id="62" name="Google Shape;62;p6"/>
            <p:cNvSpPr/>
            <p:nvPr/>
          </p:nvSpPr>
          <p:spPr>
            <a:xfrm rot="10800000">
              <a:off x="6546889" y="539489"/>
              <a:ext cx="25971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3" name="Google Shape;63;p6"/>
            <p:cNvSpPr/>
            <p:nvPr/>
          </p:nvSpPr>
          <p:spPr>
            <a:xfrm rot="10800000">
              <a:off x="6247958" y="539489"/>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64" name="Google Shape;64;p6"/>
            <p:cNvSpPr/>
            <p:nvPr/>
          </p:nvSpPr>
          <p:spPr>
            <a:xfrm rot="10800000">
              <a:off x="5948871" y="539489"/>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2"/>
        <p:cNvGrpSpPr/>
        <p:nvPr/>
      </p:nvGrpSpPr>
      <p:grpSpPr>
        <a:xfrm>
          <a:off x="0" y="0"/>
          <a:ext cx="0" cy="0"/>
          <a:chOff x="0" y="0"/>
          <a:chExt cx="0" cy="0"/>
        </a:xfrm>
      </p:grpSpPr>
      <p:sp>
        <p:nvSpPr>
          <p:cNvPr id="83" name="Google Shape;83;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84" name="Google Shape;84;p8"/>
          <p:cNvGrpSpPr/>
          <p:nvPr/>
        </p:nvGrpSpPr>
        <p:grpSpPr>
          <a:xfrm>
            <a:off x="7" y="141698"/>
            <a:ext cx="2240294" cy="5001801"/>
            <a:chOff x="7" y="141698"/>
            <a:chExt cx="2240294" cy="5001801"/>
          </a:xfrm>
        </p:grpSpPr>
        <p:grpSp>
          <p:nvGrpSpPr>
            <p:cNvPr id="85" name="Google Shape;85;p8"/>
            <p:cNvGrpSpPr/>
            <p:nvPr/>
          </p:nvGrpSpPr>
          <p:grpSpPr>
            <a:xfrm rot="5400000">
              <a:off x="-759368" y="3921198"/>
              <a:ext cx="2240294" cy="204308"/>
              <a:chOff x="5948874" y="762364"/>
              <a:chExt cx="2240294" cy="204308"/>
            </a:xfrm>
          </p:grpSpPr>
          <p:sp>
            <p:nvSpPr>
              <p:cNvPr id="86" name="Google Shape;86;p8"/>
              <p:cNvSpPr/>
              <p:nvPr/>
            </p:nvSpPr>
            <p:spPr>
              <a:xfrm rot="10800000">
                <a:off x="6546968" y="762372"/>
                <a:ext cx="16422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7" name="Google Shape;87;p8"/>
              <p:cNvSpPr/>
              <p:nvPr/>
            </p:nvSpPr>
            <p:spPr>
              <a:xfrm rot="10800000">
                <a:off x="6247961" y="762364"/>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8" name="Google Shape;88;p8"/>
              <p:cNvSpPr/>
              <p:nvPr/>
            </p:nvSpPr>
            <p:spPr>
              <a:xfrm rot="10800000">
                <a:off x="5948874" y="762364"/>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89" name="Google Shape;89;p8"/>
            <p:cNvGrpSpPr/>
            <p:nvPr/>
          </p:nvGrpSpPr>
          <p:grpSpPr>
            <a:xfrm rot="10800000">
              <a:off x="7" y="141698"/>
              <a:ext cx="2240294" cy="204308"/>
              <a:chOff x="5948874" y="762364"/>
              <a:chExt cx="2240294" cy="204308"/>
            </a:xfrm>
          </p:grpSpPr>
          <p:sp>
            <p:nvSpPr>
              <p:cNvPr id="90" name="Google Shape;90;p8"/>
              <p:cNvSpPr/>
              <p:nvPr/>
            </p:nvSpPr>
            <p:spPr>
              <a:xfrm rot="10800000">
                <a:off x="6546968" y="762372"/>
                <a:ext cx="16422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1" name="Google Shape;91;p8"/>
              <p:cNvSpPr/>
              <p:nvPr/>
            </p:nvSpPr>
            <p:spPr>
              <a:xfrm rot="10800000">
                <a:off x="6247961" y="762364"/>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2" name="Google Shape;92;p8"/>
              <p:cNvSpPr/>
              <p:nvPr/>
            </p:nvSpPr>
            <p:spPr>
              <a:xfrm rot="10800000">
                <a:off x="5948874" y="762364"/>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95" name="Google Shape;95;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96" name="Google Shape;96;p9"/>
          <p:cNvGrpSpPr/>
          <p:nvPr/>
        </p:nvGrpSpPr>
        <p:grpSpPr>
          <a:xfrm rot="5400000">
            <a:off x="7977125" y="-807728"/>
            <a:ext cx="204305" cy="2129438"/>
            <a:chOff x="8701575" y="7622"/>
            <a:chExt cx="204305" cy="2129438"/>
          </a:xfrm>
        </p:grpSpPr>
        <p:sp>
          <p:nvSpPr>
            <p:cNvPr id="97" name="Google Shape;97;p9"/>
            <p:cNvSpPr/>
            <p:nvPr/>
          </p:nvSpPr>
          <p:spPr>
            <a:xfrm rot="5400000">
              <a:off x="8037975" y="671222"/>
              <a:ext cx="15315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8" name="Google Shape;98;p9"/>
            <p:cNvSpPr/>
            <p:nvPr/>
          </p:nvSpPr>
          <p:spPr>
            <a:xfrm rot="5400000">
              <a:off x="8699780" y="1631873"/>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9" name="Google Shape;99;p9"/>
            <p:cNvSpPr/>
            <p:nvPr/>
          </p:nvSpPr>
          <p:spPr>
            <a:xfrm rot="5400000">
              <a:off x="8699780" y="1930960"/>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100" name="Google Shape;100;p9"/>
          <p:cNvGrpSpPr/>
          <p:nvPr/>
        </p:nvGrpSpPr>
        <p:grpSpPr>
          <a:xfrm rot="10800000">
            <a:off x="611075" y="3014072"/>
            <a:ext cx="204305" cy="2129438"/>
            <a:chOff x="8701575" y="7622"/>
            <a:chExt cx="204305" cy="2129438"/>
          </a:xfrm>
        </p:grpSpPr>
        <p:sp>
          <p:nvSpPr>
            <p:cNvPr id="101" name="Google Shape;101;p9"/>
            <p:cNvSpPr/>
            <p:nvPr/>
          </p:nvSpPr>
          <p:spPr>
            <a:xfrm rot="5400000">
              <a:off x="8037975" y="671222"/>
              <a:ext cx="15315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2" name="Google Shape;102;p9"/>
            <p:cNvSpPr/>
            <p:nvPr/>
          </p:nvSpPr>
          <p:spPr>
            <a:xfrm rot="5400000">
              <a:off x="8699780" y="1631873"/>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3" name="Google Shape;103;p9"/>
            <p:cNvSpPr/>
            <p:nvPr/>
          </p:nvSpPr>
          <p:spPr>
            <a:xfrm rot="5400000">
              <a:off x="8699780" y="1930960"/>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4"/>
        <p:cNvGrpSpPr/>
        <p:nvPr/>
      </p:nvGrpSpPr>
      <p:grpSpPr>
        <a:xfrm>
          <a:off x="0" y="0"/>
          <a:ext cx="0" cy="0"/>
          <a:chOff x="0" y="0"/>
          <a:chExt cx="0" cy="0"/>
        </a:xfrm>
      </p:grpSpPr>
      <p:sp>
        <p:nvSpPr>
          <p:cNvPr id="105" name="Google Shape;105;p10"/>
          <p:cNvSpPr>
            <a:spLocks noGrp="1"/>
          </p:cNvSpPr>
          <p:nvPr>
            <p:ph type="pic" idx="2"/>
          </p:nvPr>
        </p:nvSpPr>
        <p:spPr>
          <a:xfrm>
            <a:off x="0" y="0"/>
            <a:ext cx="9144000" cy="5143500"/>
          </a:xfrm>
          <a:prstGeom prst="rect">
            <a:avLst/>
          </a:prstGeom>
          <a:noFill/>
          <a:ln>
            <a:noFill/>
          </a:ln>
        </p:spPr>
      </p:sp>
      <p:sp>
        <p:nvSpPr>
          <p:cNvPr id="106" name="Google Shape;106;p10"/>
          <p:cNvSpPr txBox="1">
            <a:spLocks noGrp="1"/>
          </p:cNvSpPr>
          <p:nvPr>
            <p:ph type="title"/>
          </p:nvPr>
        </p:nvSpPr>
        <p:spPr>
          <a:xfrm>
            <a:off x="720000" y="4014450"/>
            <a:ext cx="7704000" cy="572700"/>
          </a:xfrm>
          <a:prstGeom prst="rect">
            <a:avLst/>
          </a:prstGeom>
          <a:solidFill>
            <a:schemeClr val="dk1"/>
          </a:solidFill>
        </p:spPr>
        <p:txBody>
          <a:bodyPr spcFirstLastPara="1" wrap="square" lIns="91425" tIns="91425" rIns="91425" bIns="91425" anchor="t" anchorCtr="0">
            <a:noAutofit/>
          </a:bodyPr>
          <a:lstStyle>
            <a:lvl1pPr lvl="0" algn="ctr" rtl="0">
              <a:spcBef>
                <a:spcPts val="0"/>
              </a:spcBef>
              <a:spcAft>
                <a:spcPts val="0"/>
              </a:spcAft>
              <a:buClr>
                <a:schemeClr val="lt1"/>
              </a:buClr>
              <a:buSzPts val="3000"/>
              <a:buNone/>
              <a:defRPr>
                <a:solidFill>
                  <a:schemeClr val="lt1"/>
                </a:solidFill>
              </a:defRPr>
            </a:lvl1pPr>
            <a:lvl2pPr lvl="1" algn="ctr" rtl="0">
              <a:spcBef>
                <a:spcPts val="0"/>
              </a:spcBef>
              <a:spcAft>
                <a:spcPts val="0"/>
              </a:spcAft>
              <a:buClr>
                <a:schemeClr val="lt1"/>
              </a:buClr>
              <a:buSzPts val="3000"/>
              <a:buNone/>
              <a:defRPr>
                <a:solidFill>
                  <a:schemeClr val="lt1"/>
                </a:solidFill>
              </a:defRPr>
            </a:lvl2pPr>
            <a:lvl3pPr lvl="2" algn="ctr" rtl="0">
              <a:spcBef>
                <a:spcPts val="0"/>
              </a:spcBef>
              <a:spcAft>
                <a:spcPts val="0"/>
              </a:spcAft>
              <a:buClr>
                <a:schemeClr val="lt1"/>
              </a:buClr>
              <a:buSzPts val="3000"/>
              <a:buNone/>
              <a:defRPr>
                <a:solidFill>
                  <a:schemeClr val="lt1"/>
                </a:solidFill>
              </a:defRPr>
            </a:lvl3pPr>
            <a:lvl4pPr lvl="3" algn="ctr" rtl="0">
              <a:spcBef>
                <a:spcPts val="0"/>
              </a:spcBef>
              <a:spcAft>
                <a:spcPts val="0"/>
              </a:spcAft>
              <a:buClr>
                <a:schemeClr val="lt1"/>
              </a:buClr>
              <a:buSzPts val="3000"/>
              <a:buNone/>
              <a:defRPr>
                <a:solidFill>
                  <a:schemeClr val="lt1"/>
                </a:solidFill>
              </a:defRPr>
            </a:lvl4pPr>
            <a:lvl5pPr lvl="4" algn="ctr" rtl="0">
              <a:spcBef>
                <a:spcPts val="0"/>
              </a:spcBef>
              <a:spcAft>
                <a:spcPts val="0"/>
              </a:spcAft>
              <a:buClr>
                <a:schemeClr val="lt1"/>
              </a:buClr>
              <a:buSzPts val="3000"/>
              <a:buNone/>
              <a:defRPr>
                <a:solidFill>
                  <a:schemeClr val="lt1"/>
                </a:solidFill>
              </a:defRPr>
            </a:lvl5pPr>
            <a:lvl6pPr lvl="5" algn="ctr" rtl="0">
              <a:spcBef>
                <a:spcPts val="0"/>
              </a:spcBef>
              <a:spcAft>
                <a:spcPts val="0"/>
              </a:spcAft>
              <a:buClr>
                <a:schemeClr val="lt1"/>
              </a:buClr>
              <a:buSzPts val="3000"/>
              <a:buNone/>
              <a:defRPr>
                <a:solidFill>
                  <a:schemeClr val="lt1"/>
                </a:solidFill>
              </a:defRPr>
            </a:lvl6pPr>
            <a:lvl7pPr lvl="6" algn="ctr" rtl="0">
              <a:spcBef>
                <a:spcPts val="0"/>
              </a:spcBef>
              <a:spcAft>
                <a:spcPts val="0"/>
              </a:spcAft>
              <a:buClr>
                <a:schemeClr val="lt1"/>
              </a:buClr>
              <a:buSzPts val="3000"/>
              <a:buNone/>
              <a:defRPr>
                <a:solidFill>
                  <a:schemeClr val="lt1"/>
                </a:solidFill>
              </a:defRPr>
            </a:lvl7pPr>
            <a:lvl8pPr lvl="7" algn="ctr" rtl="0">
              <a:spcBef>
                <a:spcPts val="0"/>
              </a:spcBef>
              <a:spcAft>
                <a:spcPts val="0"/>
              </a:spcAft>
              <a:buClr>
                <a:schemeClr val="lt1"/>
              </a:buClr>
              <a:buSzPts val="3000"/>
              <a:buNone/>
              <a:defRPr>
                <a:solidFill>
                  <a:schemeClr val="lt1"/>
                </a:solidFill>
              </a:defRPr>
            </a:lvl8pPr>
            <a:lvl9pPr lvl="8" algn="ctr" rtl="0">
              <a:spcBef>
                <a:spcPts val="0"/>
              </a:spcBef>
              <a:spcAft>
                <a:spcPts val="0"/>
              </a:spcAft>
              <a:buClr>
                <a:schemeClr val="lt1"/>
              </a:buClr>
              <a:buSzPts val="3000"/>
              <a:buNone/>
              <a:defRPr>
                <a:solidFill>
                  <a:schemeClr val="lt1"/>
                </a:solidFill>
              </a:defRPr>
            </a:lvl9pPr>
          </a:lstStyle>
          <a:p>
            <a:endParaRPr/>
          </a:p>
        </p:txBody>
      </p:sp>
      <p:grpSp>
        <p:nvGrpSpPr>
          <p:cNvPr id="107" name="Google Shape;107;p10"/>
          <p:cNvGrpSpPr/>
          <p:nvPr/>
        </p:nvGrpSpPr>
        <p:grpSpPr>
          <a:xfrm rot="5400000">
            <a:off x="6737615" y="1419600"/>
            <a:ext cx="3386318" cy="547138"/>
            <a:chOff x="2" y="3740000"/>
            <a:chExt cx="3386318" cy="547138"/>
          </a:xfrm>
        </p:grpSpPr>
        <p:sp>
          <p:nvSpPr>
            <p:cNvPr id="108" name="Google Shape;108;p10"/>
            <p:cNvSpPr/>
            <p:nvPr/>
          </p:nvSpPr>
          <p:spPr>
            <a:xfrm>
              <a:off x="2" y="3740013"/>
              <a:ext cx="27882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9" name="Google Shape;109;p10"/>
            <p:cNvSpPr/>
            <p:nvPr/>
          </p:nvSpPr>
          <p:spPr>
            <a:xfrm>
              <a:off x="2879333" y="3740000"/>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0" name="Google Shape;110;p10"/>
            <p:cNvSpPr/>
            <p:nvPr/>
          </p:nvSpPr>
          <p:spPr>
            <a:xfrm>
              <a:off x="3178420" y="3740000"/>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1" name="Google Shape;111;p10"/>
            <p:cNvSpPr/>
            <p:nvPr/>
          </p:nvSpPr>
          <p:spPr>
            <a:xfrm>
              <a:off x="2" y="4082838"/>
              <a:ext cx="27882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2" name="Google Shape;112;p10"/>
            <p:cNvSpPr/>
            <p:nvPr/>
          </p:nvSpPr>
          <p:spPr>
            <a:xfrm>
              <a:off x="2879333" y="4082828"/>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3" name="Google Shape;113;p10"/>
            <p:cNvSpPr/>
            <p:nvPr/>
          </p:nvSpPr>
          <p:spPr>
            <a:xfrm>
              <a:off x="3178420" y="4082828"/>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4"/>
        <p:cNvGrpSpPr/>
        <p:nvPr/>
      </p:nvGrpSpPr>
      <p:grpSpPr>
        <a:xfrm>
          <a:off x="0" y="0"/>
          <a:ext cx="0" cy="0"/>
          <a:chOff x="0" y="0"/>
          <a:chExt cx="0" cy="0"/>
        </a:xfrm>
      </p:grpSpPr>
      <p:sp>
        <p:nvSpPr>
          <p:cNvPr id="115" name="Google Shape;115;p11"/>
          <p:cNvSpPr>
            <a:spLocks noGrp="1"/>
          </p:cNvSpPr>
          <p:nvPr>
            <p:ph type="pic" idx="2"/>
          </p:nvPr>
        </p:nvSpPr>
        <p:spPr>
          <a:xfrm>
            <a:off x="713225" y="0"/>
            <a:ext cx="5512200" cy="2750700"/>
          </a:xfrm>
          <a:prstGeom prst="rect">
            <a:avLst/>
          </a:prstGeom>
          <a:noFill/>
          <a:ln>
            <a:noFill/>
          </a:ln>
        </p:spPr>
      </p:sp>
      <p:sp>
        <p:nvSpPr>
          <p:cNvPr id="116" name="Google Shape;116;p11"/>
          <p:cNvSpPr txBox="1">
            <a:spLocks noGrp="1"/>
          </p:cNvSpPr>
          <p:nvPr>
            <p:ph type="title" hasCustomPrompt="1"/>
          </p:nvPr>
        </p:nvSpPr>
        <p:spPr>
          <a:xfrm>
            <a:off x="713225" y="2964175"/>
            <a:ext cx="5512200" cy="1195800"/>
          </a:xfrm>
          <a:prstGeom prst="rect">
            <a:avLst/>
          </a:prstGeom>
        </p:spPr>
        <p:txBody>
          <a:bodyPr spcFirstLastPara="1" wrap="square" lIns="91425" tIns="91425" rIns="91425" bIns="91425" anchor="b" anchorCtr="0">
            <a:noAutofit/>
          </a:bodyPr>
          <a:lstStyle>
            <a:lvl1pPr lvl="0" algn="l">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7" name="Google Shape;117;p11"/>
          <p:cNvSpPr txBox="1">
            <a:spLocks noGrp="1"/>
          </p:cNvSpPr>
          <p:nvPr>
            <p:ph type="subTitle" idx="1"/>
          </p:nvPr>
        </p:nvSpPr>
        <p:spPr>
          <a:xfrm>
            <a:off x="713225" y="4139975"/>
            <a:ext cx="5512200" cy="37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18" name="Google Shape;118;p11"/>
          <p:cNvGrpSpPr/>
          <p:nvPr/>
        </p:nvGrpSpPr>
        <p:grpSpPr>
          <a:xfrm>
            <a:off x="7014558" y="10"/>
            <a:ext cx="2129438" cy="4969234"/>
            <a:chOff x="7014558" y="10"/>
            <a:chExt cx="2129438" cy="4969234"/>
          </a:xfrm>
        </p:grpSpPr>
        <p:grpSp>
          <p:nvGrpSpPr>
            <p:cNvPr id="119" name="Google Shape;119;p11"/>
            <p:cNvGrpSpPr/>
            <p:nvPr/>
          </p:nvGrpSpPr>
          <p:grpSpPr>
            <a:xfrm rot="5400000">
              <a:off x="6464052" y="1419600"/>
              <a:ext cx="3386318" cy="547138"/>
              <a:chOff x="2" y="3740000"/>
              <a:chExt cx="3386318" cy="547138"/>
            </a:xfrm>
          </p:grpSpPr>
          <p:sp>
            <p:nvSpPr>
              <p:cNvPr id="120" name="Google Shape;120;p11"/>
              <p:cNvSpPr/>
              <p:nvPr/>
            </p:nvSpPr>
            <p:spPr>
              <a:xfrm>
                <a:off x="2" y="3740013"/>
                <a:ext cx="27882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1" name="Google Shape;121;p11"/>
              <p:cNvSpPr/>
              <p:nvPr/>
            </p:nvSpPr>
            <p:spPr>
              <a:xfrm>
                <a:off x="2879333" y="3740000"/>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2" name="Google Shape;122;p11"/>
              <p:cNvSpPr/>
              <p:nvPr/>
            </p:nvSpPr>
            <p:spPr>
              <a:xfrm>
                <a:off x="3178420" y="3740000"/>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3" name="Google Shape;123;p11"/>
              <p:cNvSpPr/>
              <p:nvPr/>
            </p:nvSpPr>
            <p:spPr>
              <a:xfrm>
                <a:off x="2" y="4082838"/>
                <a:ext cx="27882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4" name="Google Shape;124;p11"/>
              <p:cNvSpPr/>
              <p:nvPr/>
            </p:nvSpPr>
            <p:spPr>
              <a:xfrm>
                <a:off x="2879333" y="4082828"/>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5" name="Google Shape;125;p11"/>
              <p:cNvSpPr/>
              <p:nvPr/>
            </p:nvSpPr>
            <p:spPr>
              <a:xfrm>
                <a:off x="3178420" y="4082828"/>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126" name="Google Shape;126;p11"/>
            <p:cNvGrpSpPr/>
            <p:nvPr/>
          </p:nvGrpSpPr>
          <p:grpSpPr>
            <a:xfrm rot="5400000">
              <a:off x="7977125" y="3802372"/>
              <a:ext cx="204305" cy="2129438"/>
              <a:chOff x="8701575" y="7622"/>
              <a:chExt cx="204305" cy="2129438"/>
            </a:xfrm>
          </p:grpSpPr>
          <p:sp>
            <p:nvSpPr>
              <p:cNvPr id="127" name="Google Shape;127;p11"/>
              <p:cNvSpPr/>
              <p:nvPr/>
            </p:nvSpPr>
            <p:spPr>
              <a:xfrm rot="5400000">
                <a:off x="8037975" y="671222"/>
                <a:ext cx="15315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8" name="Google Shape;128;p11"/>
              <p:cNvSpPr/>
              <p:nvPr/>
            </p:nvSpPr>
            <p:spPr>
              <a:xfrm rot="5400000">
                <a:off x="8699780" y="1631873"/>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29" name="Google Shape;129;p11"/>
              <p:cNvSpPr/>
              <p:nvPr/>
            </p:nvSpPr>
            <p:spPr>
              <a:xfrm rot="5400000">
                <a:off x="8699780" y="1930960"/>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31"/>
        <p:cNvGrpSpPr/>
        <p:nvPr/>
      </p:nvGrpSpPr>
      <p:grpSpPr>
        <a:xfrm>
          <a:off x="0" y="0"/>
          <a:ext cx="0" cy="0"/>
          <a:chOff x="0" y="0"/>
          <a:chExt cx="0" cy="0"/>
        </a:xfrm>
      </p:grpSpPr>
      <p:sp>
        <p:nvSpPr>
          <p:cNvPr id="132" name="Google Shape;13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3" name="Google Shape;133;p13"/>
          <p:cNvSpPr txBox="1">
            <a:spLocks noGrp="1"/>
          </p:cNvSpPr>
          <p:nvPr>
            <p:ph type="title" idx="2" hasCustomPrompt="1"/>
          </p:nvPr>
        </p:nvSpPr>
        <p:spPr>
          <a:xfrm>
            <a:off x="720000" y="1287800"/>
            <a:ext cx="734700" cy="396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18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4" name="Google Shape;134;p13"/>
          <p:cNvSpPr txBox="1">
            <a:spLocks noGrp="1"/>
          </p:cNvSpPr>
          <p:nvPr>
            <p:ph type="title" idx="3" hasCustomPrompt="1"/>
          </p:nvPr>
        </p:nvSpPr>
        <p:spPr>
          <a:xfrm>
            <a:off x="720000" y="2811699"/>
            <a:ext cx="734700" cy="396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18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5" name="Google Shape;135;p13"/>
          <p:cNvSpPr txBox="1">
            <a:spLocks noGrp="1"/>
          </p:cNvSpPr>
          <p:nvPr>
            <p:ph type="title" idx="4" hasCustomPrompt="1"/>
          </p:nvPr>
        </p:nvSpPr>
        <p:spPr>
          <a:xfrm>
            <a:off x="720000" y="1795767"/>
            <a:ext cx="734700" cy="396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18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6" name="Google Shape;136;p13"/>
          <p:cNvSpPr txBox="1">
            <a:spLocks noGrp="1"/>
          </p:cNvSpPr>
          <p:nvPr>
            <p:ph type="title" idx="5" hasCustomPrompt="1"/>
          </p:nvPr>
        </p:nvSpPr>
        <p:spPr>
          <a:xfrm>
            <a:off x="720000" y="3319665"/>
            <a:ext cx="734700" cy="396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18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7" name="Google Shape;137;p13"/>
          <p:cNvSpPr txBox="1">
            <a:spLocks noGrp="1"/>
          </p:cNvSpPr>
          <p:nvPr>
            <p:ph type="title" idx="6" hasCustomPrompt="1"/>
          </p:nvPr>
        </p:nvSpPr>
        <p:spPr>
          <a:xfrm>
            <a:off x="720000" y="2303733"/>
            <a:ext cx="734700" cy="396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18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8" name="Google Shape;138;p13"/>
          <p:cNvSpPr txBox="1">
            <a:spLocks noGrp="1"/>
          </p:cNvSpPr>
          <p:nvPr>
            <p:ph type="title" idx="7" hasCustomPrompt="1"/>
          </p:nvPr>
        </p:nvSpPr>
        <p:spPr>
          <a:xfrm>
            <a:off x="720000" y="3827632"/>
            <a:ext cx="734700" cy="396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18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9" name="Google Shape;139;p13"/>
          <p:cNvSpPr txBox="1">
            <a:spLocks noGrp="1"/>
          </p:cNvSpPr>
          <p:nvPr>
            <p:ph type="subTitle" idx="1"/>
          </p:nvPr>
        </p:nvSpPr>
        <p:spPr>
          <a:xfrm>
            <a:off x="1607100" y="1287800"/>
            <a:ext cx="2532000" cy="396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40" name="Google Shape;140;p13"/>
          <p:cNvSpPr txBox="1">
            <a:spLocks noGrp="1"/>
          </p:cNvSpPr>
          <p:nvPr>
            <p:ph type="subTitle" idx="8"/>
          </p:nvPr>
        </p:nvSpPr>
        <p:spPr>
          <a:xfrm>
            <a:off x="1607100" y="1795767"/>
            <a:ext cx="2532000" cy="396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41" name="Google Shape;141;p13"/>
          <p:cNvSpPr txBox="1">
            <a:spLocks noGrp="1"/>
          </p:cNvSpPr>
          <p:nvPr>
            <p:ph type="subTitle" idx="9"/>
          </p:nvPr>
        </p:nvSpPr>
        <p:spPr>
          <a:xfrm>
            <a:off x="1607100" y="2303733"/>
            <a:ext cx="2532000" cy="396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42" name="Google Shape;142;p13"/>
          <p:cNvSpPr txBox="1">
            <a:spLocks noGrp="1"/>
          </p:cNvSpPr>
          <p:nvPr>
            <p:ph type="subTitle" idx="13"/>
          </p:nvPr>
        </p:nvSpPr>
        <p:spPr>
          <a:xfrm>
            <a:off x="1607100" y="2811699"/>
            <a:ext cx="2532000" cy="396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43" name="Google Shape;143;p13"/>
          <p:cNvSpPr txBox="1">
            <a:spLocks noGrp="1"/>
          </p:cNvSpPr>
          <p:nvPr>
            <p:ph type="subTitle" idx="14"/>
          </p:nvPr>
        </p:nvSpPr>
        <p:spPr>
          <a:xfrm>
            <a:off x="1607100" y="3319665"/>
            <a:ext cx="2532000" cy="396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44" name="Google Shape;144;p13"/>
          <p:cNvSpPr txBox="1">
            <a:spLocks noGrp="1"/>
          </p:cNvSpPr>
          <p:nvPr>
            <p:ph type="subTitle" idx="15"/>
          </p:nvPr>
        </p:nvSpPr>
        <p:spPr>
          <a:xfrm>
            <a:off x="1607100" y="3827632"/>
            <a:ext cx="2532000" cy="396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45" name="Google Shape;145;p13"/>
          <p:cNvSpPr>
            <a:spLocks noGrp="1"/>
          </p:cNvSpPr>
          <p:nvPr>
            <p:ph type="pic" idx="16"/>
          </p:nvPr>
        </p:nvSpPr>
        <p:spPr>
          <a:xfrm>
            <a:off x="5631175" y="2278375"/>
            <a:ext cx="3512700" cy="2255400"/>
          </a:xfrm>
          <a:prstGeom prst="rect">
            <a:avLst/>
          </a:prstGeom>
          <a:noFill/>
          <a:ln>
            <a:noFill/>
          </a:ln>
        </p:spPr>
      </p:sp>
      <p:grpSp>
        <p:nvGrpSpPr>
          <p:cNvPr id="146" name="Google Shape;146;p13"/>
          <p:cNvGrpSpPr/>
          <p:nvPr/>
        </p:nvGrpSpPr>
        <p:grpSpPr>
          <a:xfrm>
            <a:off x="8540150" y="0"/>
            <a:ext cx="547133" cy="2066508"/>
            <a:chOff x="8540150" y="0"/>
            <a:chExt cx="547133" cy="2066508"/>
          </a:xfrm>
        </p:grpSpPr>
        <p:sp>
          <p:nvSpPr>
            <p:cNvPr id="147" name="Google Shape;147;p13"/>
            <p:cNvSpPr/>
            <p:nvPr/>
          </p:nvSpPr>
          <p:spPr>
            <a:xfrm rot="5400000">
              <a:off x="8251025" y="631950"/>
              <a:ext cx="14682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8" name="Google Shape;148;p13"/>
            <p:cNvSpPr/>
            <p:nvPr/>
          </p:nvSpPr>
          <p:spPr>
            <a:xfrm rot="5400000">
              <a:off x="8881183" y="1561320"/>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9" name="Google Shape;149;p13"/>
            <p:cNvSpPr/>
            <p:nvPr/>
          </p:nvSpPr>
          <p:spPr>
            <a:xfrm rot="5400000">
              <a:off x="8881183" y="1860408"/>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0" name="Google Shape;150;p13"/>
            <p:cNvSpPr/>
            <p:nvPr/>
          </p:nvSpPr>
          <p:spPr>
            <a:xfrm rot="5400000">
              <a:off x="7908200" y="631950"/>
              <a:ext cx="14682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1" name="Google Shape;151;p13"/>
            <p:cNvSpPr/>
            <p:nvPr/>
          </p:nvSpPr>
          <p:spPr>
            <a:xfrm rot="5400000">
              <a:off x="8538355" y="1561320"/>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2" name="Google Shape;152;p13"/>
            <p:cNvSpPr/>
            <p:nvPr/>
          </p:nvSpPr>
          <p:spPr>
            <a:xfrm rot="5400000">
              <a:off x="8538355" y="1860408"/>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153" name="Google Shape;153;p13"/>
          <p:cNvGrpSpPr/>
          <p:nvPr/>
        </p:nvGrpSpPr>
        <p:grpSpPr>
          <a:xfrm>
            <a:off x="-4" y="4776214"/>
            <a:ext cx="3195118" cy="204300"/>
            <a:chOff x="-4" y="4776214"/>
            <a:chExt cx="3195118" cy="204300"/>
          </a:xfrm>
        </p:grpSpPr>
        <p:sp>
          <p:nvSpPr>
            <p:cNvPr id="154" name="Google Shape;154;p13"/>
            <p:cNvSpPr/>
            <p:nvPr/>
          </p:nvSpPr>
          <p:spPr>
            <a:xfrm>
              <a:off x="-4" y="4776214"/>
              <a:ext cx="25971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5" name="Google Shape;155;p13"/>
            <p:cNvSpPr/>
            <p:nvPr/>
          </p:nvSpPr>
          <p:spPr>
            <a:xfrm>
              <a:off x="2688126" y="4776214"/>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6" name="Google Shape;156;p13"/>
            <p:cNvSpPr/>
            <p:nvPr/>
          </p:nvSpPr>
          <p:spPr>
            <a:xfrm>
              <a:off x="2987214" y="4776214"/>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69"/>
        <p:cNvGrpSpPr/>
        <p:nvPr/>
      </p:nvGrpSpPr>
      <p:grpSpPr>
        <a:xfrm>
          <a:off x="0" y="0"/>
          <a:ext cx="0" cy="0"/>
          <a:chOff x="0" y="0"/>
          <a:chExt cx="0" cy="0"/>
        </a:xfrm>
      </p:grpSpPr>
      <p:sp>
        <p:nvSpPr>
          <p:cNvPr id="270" name="Google Shape;270;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71" name="Google Shape;271;p20"/>
          <p:cNvSpPr txBox="1">
            <a:spLocks noGrp="1"/>
          </p:cNvSpPr>
          <p:nvPr>
            <p:ph type="subTitle" idx="1"/>
          </p:nvPr>
        </p:nvSpPr>
        <p:spPr>
          <a:xfrm>
            <a:off x="761987" y="1735625"/>
            <a:ext cx="35370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2" name="Google Shape;272;p20"/>
          <p:cNvSpPr txBox="1">
            <a:spLocks noGrp="1"/>
          </p:cNvSpPr>
          <p:nvPr>
            <p:ph type="subTitle" idx="2"/>
          </p:nvPr>
        </p:nvSpPr>
        <p:spPr>
          <a:xfrm>
            <a:off x="4845010" y="1735625"/>
            <a:ext cx="35370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3" name="Google Shape;273;p20"/>
          <p:cNvSpPr txBox="1">
            <a:spLocks noGrp="1"/>
          </p:cNvSpPr>
          <p:nvPr>
            <p:ph type="subTitle" idx="3"/>
          </p:nvPr>
        </p:nvSpPr>
        <p:spPr>
          <a:xfrm>
            <a:off x="761987" y="3396200"/>
            <a:ext cx="35370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4" name="Google Shape;274;p20"/>
          <p:cNvSpPr txBox="1">
            <a:spLocks noGrp="1"/>
          </p:cNvSpPr>
          <p:nvPr>
            <p:ph type="subTitle" idx="4"/>
          </p:nvPr>
        </p:nvSpPr>
        <p:spPr>
          <a:xfrm>
            <a:off x="4845010" y="3396200"/>
            <a:ext cx="35370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5" name="Google Shape;275;p20"/>
          <p:cNvSpPr txBox="1">
            <a:spLocks noGrp="1"/>
          </p:cNvSpPr>
          <p:nvPr>
            <p:ph type="subTitle" idx="5"/>
          </p:nvPr>
        </p:nvSpPr>
        <p:spPr>
          <a:xfrm>
            <a:off x="761988" y="1295400"/>
            <a:ext cx="3537000" cy="447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76" name="Google Shape;276;p20"/>
          <p:cNvSpPr txBox="1">
            <a:spLocks noGrp="1"/>
          </p:cNvSpPr>
          <p:nvPr>
            <p:ph type="subTitle" idx="6"/>
          </p:nvPr>
        </p:nvSpPr>
        <p:spPr>
          <a:xfrm>
            <a:off x="761988" y="2955975"/>
            <a:ext cx="3537000" cy="447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77" name="Google Shape;277;p20"/>
          <p:cNvSpPr txBox="1">
            <a:spLocks noGrp="1"/>
          </p:cNvSpPr>
          <p:nvPr>
            <p:ph type="subTitle" idx="7"/>
          </p:nvPr>
        </p:nvSpPr>
        <p:spPr>
          <a:xfrm>
            <a:off x="4844984" y="1295400"/>
            <a:ext cx="3537000" cy="447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78" name="Google Shape;278;p20"/>
          <p:cNvSpPr txBox="1">
            <a:spLocks noGrp="1"/>
          </p:cNvSpPr>
          <p:nvPr>
            <p:ph type="subTitle" idx="8"/>
          </p:nvPr>
        </p:nvSpPr>
        <p:spPr>
          <a:xfrm>
            <a:off x="4844984" y="2955975"/>
            <a:ext cx="3537000" cy="447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279" name="Google Shape;279;p20"/>
          <p:cNvGrpSpPr/>
          <p:nvPr/>
        </p:nvGrpSpPr>
        <p:grpSpPr>
          <a:xfrm rot="5400000">
            <a:off x="-759368" y="3928818"/>
            <a:ext cx="2240294" cy="204308"/>
            <a:chOff x="5948874" y="762364"/>
            <a:chExt cx="2240294" cy="204308"/>
          </a:xfrm>
        </p:grpSpPr>
        <p:sp>
          <p:nvSpPr>
            <p:cNvPr id="280" name="Google Shape;280;p20"/>
            <p:cNvSpPr/>
            <p:nvPr/>
          </p:nvSpPr>
          <p:spPr>
            <a:xfrm rot="10800000">
              <a:off x="6546968" y="762372"/>
              <a:ext cx="16422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1" name="Google Shape;281;p20"/>
            <p:cNvSpPr/>
            <p:nvPr/>
          </p:nvSpPr>
          <p:spPr>
            <a:xfrm rot="10800000">
              <a:off x="6247961" y="762364"/>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2" name="Google Shape;282;p20"/>
            <p:cNvSpPr/>
            <p:nvPr/>
          </p:nvSpPr>
          <p:spPr>
            <a:xfrm rot="10800000">
              <a:off x="5948874" y="762364"/>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83" name="Google Shape;283;p20"/>
          <p:cNvGrpSpPr/>
          <p:nvPr/>
        </p:nvGrpSpPr>
        <p:grpSpPr>
          <a:xfrm rot="5400000">
            <a:off x="7109452" y="1411980"/>
            <a:ext cx="3386318" cy="547138"/>
            <a:chOff x="2" y="3740000"/>
            <a:chExt cx="3386318" cy="547138"/>
          </a:xfrm>
        </p:grpSpPr>
        <p:sp>
          <p:nvSpPr>
            <p:cNvPr id="284" name="Google Shape;284;p20"/>
            <p:cNvSpPr/>
            <p:nvPr/>
          </p:nvSpPr>
          <p:spPr>
            <a:xfrm>
              <a:off x="2" y="3740013"/>
              <a:ext cx="27882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5" name="Google Shape;285;p20"/>
            <p:cNvSpPr/>
            <p:nvPr/>
          </p:nvSpPr>
          <p:spPr>
            <a:xfrm>
              <a:off x="2879333" y="3740000"/>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6" name="Google Shape;286;p20"/>
            <p:cNvSpPr/>
            <p:nvPr/>
          </p:nvSpPr>
          <p:spPr>
            <a:xfrm>
              <a:off x="3178420" y="3740000"/>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7" name="Google Shape;287;p20"/>
            <p:cNvSpPr/>
            <p:nvPr/>
          </p:nvSpPr>
          <p:spPr>
            <a:xfrm>
              <a:off x="2" y="4082838"/>
              <a:ext cx="27882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8" name="Google Shape;288;p20"/>
            <p:cNvSpPr/>
            <p:nvPr/>
          </p:nvSpPr>
          <p:spPr>
            <a:xfrm>
              <a:off x="2879333" y="4082828"/>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9" name="Google Shape;289;p20"/>
            <p:cNvSpPr/>
            <p:nvPr/>
          </p:nvSpPr>
          <p:spPr>
            <a:xfrm>
              <a:off x="3178420" y="4082828"/>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55"/>
        <p:cNvGrpSpPr/>
        <p:nvPr/>
      </p:nvGrpSpPr>
      <p:grpSpPr>
        <a:xfrm>
          <a:off x="0" y="0"/>
          <a:ext cx="0" cy="0"/>
          <a:chOff x="0" y="0"/>
          <a:chExt cx="0" cy="0"/>
        </a:xfrm>
      </p:grpSpPr>
      <p:grpSp>
        <p:nvGrpSpPr>
          <p:cNvPr id="356" name="Google Shape;356;p24"/>
          <p:cNvGrpSpPr/>
          <p:nvPr/>
        </p:nvGrpSpPr>
        <p:grpSpPr>
          <a:xfrm rot="5400000">
            <a:off x="1411973" y="878585"/>
            <a:ext cx="547138" cy="3386318"/>
            <a:chOff x="70843" y="1757185"/>
            <a:chExt cx="547138" cy="3386318"/>
          </a:xfrm>
        </p:grpSpPr>
        <p:sp>
          <p:nvSpPr>
            <p:cNvPr id="357" name="Google Shape;357;p24"/>
            <p:cNvSpPr/>
            <p:nvPr/>
          </p:nvSpPr>
          <p:spPr>
            <a:xfrm rot="-5400000">
              <a:off x="-1221095" y="3647253"/>
              <a:ext cx="27882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8" name="Google Shape;358;p24"/>
            <p:cNvSpPr/>
            <p:nvPr/>
          </p:nvSpPr>
          <p:spPr>
            <a:xfrm rot="-5400000">
              <a:off x="69043" y="2058072"/>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9" name="Google Shape;359;p24"/>
            <p:cNvSpPr/>
            <p:nvPr/>
          </p:nvSpPr>
          <p:spPr>
            <a:xfrm rot="-5400000">
              <a:off x="69043" y="1758985"/>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60" name="Google Shape;360;p24"/>
            <p:cNvSpPr/>
            <p:nvPr/>
          </p:nvSpPr>
          <p:spPr>
            <a:xfrm rot="-5400000">
              <a:off x="-878270" y="3647253"/>
              <a:ext cx="27882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61" name="Google Shape;361;p24"/>
            <p:cNvSpPr/>
            <p:nvPr/>
          </p:nvSpPr>
          <p:spPr>
            <a:xfrm rot="-5400000">
              <a:off x="411871" y="2058072"/>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62" name="Google Shape;362;p24"/>
            <p:cNvSpPr/>
            <p:nvPr/>
          </p:nvSpPr>
          <p:spPr>
            <a:xfrm rot="-5400000">
              <a:off x="411871" y="1758985"/>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63"/>
        <p:cNvGrpSpPr/>
        <p:nvPr/>
      </p:nvGrpSpPr>
      <p:grpSpPr>
        <a:xfrm>
          <a:off x="0" y="0"/>
          <a:ext cx="0" cy="0"/>
          <a:chOff x="0" y="0"/>
          <a:chExt cx="0" cy="0"/>
        </a:xfrm>
      </p:grpSpPr>
      <p:grpSp>
        <p:nvGrpSpPr>
          <p:cNvPr id="364" name="Google Shape;364;p25"/>
          <p:cNvGrpSpPr/>
          <p:nvPr/>
        </p:nvGrpSpPr>
        <p:grpSpPr>
          <a:xfrm>
            <a:off x="5765296" y="8"/>
            <a:ext cx="3386318" cy="4430272"/>
            <a:chOff x="5757676" y="8"/>
            <a:chExt cx="3386318" cy="4430272"/>
          </a:xfrm>
        </p:grpSpPr>
        <p:grpSp>
          <p:nvGrpSpPr>
            <p:cNvPr id="365" name="Google Shape;365;p25"/>
            <p:cNvGrpSpPr/>
            <p:nvPr/>
          </p:nvGrpSpPr>
          <p:grpSpPr>
            <a:xfrm rot="10800000">
              <a:off x="5757676" y="3883142"/>
              <a:ext cx="3386318" cy="547138"/>
              <a:chOff x="2" y="3740000"/>
              <a:chExt cx="3386318" cy="547138"/>
            </a:xfrm>
          </p:grpSpPr>
          <p:sp>
            <p:nvSpPr>
              <p:cNvPr id="366" name="Google Shape;366;p25"/>
              <p:cNvSpPr/>
              <p:nvPr/>
            </p:nvSpPr>
            <p:spPr>
              <a:xfrm>
                <a:off x="2" y="3740013"/>
                <a:ext cx="27882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67" name="Google Shape;367;p25"/>
              <p:cNvSpPr/>
              <p:nvPr/>
            </p:nvSpPr>
            <p:spPr>
              <a:xfrm>
                <a:off x="2879333" y="3740000"/>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68" name="Google Shape;368;p25"/>
              <p:cNvSpPr/>
              <p:nvPr/>
            </p:nvSpPr>
            <p:spPr>
              <a:xfrm>
                <a:off x="3178420" y="3740000"/>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69" name="Google Shape;369;p25"/>
              <p:cNvSpPr/>
              <p:nvPr/>
            </p:nvSpPr>
            <p:spPr>
              <a:xfrm>
                <a:off x="2" y="4082838"/>
                <a:ext cx="27882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70" name="Google Shape;370;p25"/>
              <p:cNvSpPr/>
              <p:nvPr/>
            </p:nvSpPr>
            <p:spPr>
              <a:xfrm>
                <a:off x="2879333" y="4082828"/>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71" name="Google Shape;371;p25"/>
              <p:cNvSpPr/>
              <p:nvPr/>
            </p:nvSpPr>
            <p:spPr>
              <a:xfrm>
                <a:off x="3178420" y="4082828"/>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372" name="Google Shape;372;p25"/>
            <p:cNvGrpSpPr/>
            <p:nvPr/>
          </p:nvGrpSpPr>
          <p:grpSpPr>
            <a:xfrm>
              <a:off x="8328623" y="8"/>
              <a:ext cx="204305" cy="2129438"/>
              <a:chOff x="8701575" y="7622"/>
              <a:chExt cx="204305" cy="2129438"/>
            </a:xfrm>
          </p:grpSpPr>
          <p:sp>
            <p:nvSpPr>
              <p:cNvPr id="373" name="Google Shape;373;p25"/>
              <p:cNvSpPr/>
              <p:nvPr/>
            </p:nvSpPr>
            <p:spPr>
              <a:xfrm rot="5400000">
                <a:off x="8037975" y="671222"/>
                <a:ext cx="15315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74" name="Google Shape;374;p25"/>
              <p:cNvSpPr/>
              <p:nvPr/>
            </p:nvSpPr>
            <p:spPr>
              <a:xfrm rot="5400000">
                <a:off x="8699780" y="1631873"/>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75" name="Google Shape;375;p25"/>
              <p:cNvSpPr/>
              <p:nvPr/>
            </p:nvSpPr>
            <p:spPr>
              <a:xfrm rot="5400000">
                <a:off x="8699780" y="1930960"/>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65"/>
        <p:cNvGrpSpPr/>
        <p:nvPr/>
      </p:nvGrpSpPr>
      <p:grpSpPr>
        <a:xfrm>
          <a:off x="0" y="0"/>
          <a:ext cx="0" cy="0"/>
          <a:chOff x="0" y="0"/>
          <a:chExt cx="0" cy="0"/>
        </a:xfrm>
      </p:grpSpPr>
      <p:sp>
        <p:nvSpPr>
          <p:cNvPr id="66" name="Google Shape;66;p7"/>
          <p:cNvSpPr txBox="1">
            <a:spLocks noGrp="1"/>
          </p:cNvSpPr>
          <p:nvPr>
            <p:ph type="title"/>
          </p:nvPr>
        </p:nvSpPr>
        <p:spPr>
          <a:xfrm>
            <a:off x="811975" y="774975"/>
            <a:ext cx="3874200" cy="123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7" name="Google Shape;67;p7"/>
          <p:cNvSpPr txBox="1">
            <a:spLocks noGrp="1"/>
          </p:cNvSpPr>
          <p:nvPr>
            <p:ph type="subTitle" idx="1"/>
          </p:nvPr>
        </p:nvSpPr>
        <p:spPr>
          <a:xfrm>
            <a:off x="811975" y="2070225"/>
            <a:ext cx="38742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68" name="Google Shape;68;p7"/>
          <p:cNvSpPr>
            <a:spLocks noGrp="1"/>
          </p:cNvSpPr>
          <p:nvPr>
            <p:ph type="pic" idx="2"/>
          </p:nvPr>
        </p:nvSpPr>
        <p:spPr>
          <a:xfrm>
            <a:off x="4831075" y="1135375"/>
            <a:ext cx="3599700" cy="2872800"/>
          </a:xfrm>
          <a:prstGeom prst="rect">
            <a:avLst/>
          </a:prstGeom>
          <a:noFill/>
          <a:ln>
            <a:noFill/>
          </a:ln>
        </p:spPr>
      </p:sp>
      <p:grpSp>
        <p:nvGrpSpPr>
          <p:cNvPr id="69" name="Google Shape;69;p7"/>
          <p:cNvGrpSpPr/>
          <p:nvPr/>
        </p:nvGrpSpPr>
        <p:grpSpPr>
          <a:xfrm rot="-5400000">
            <a:off x="7198571" y="1495414"/>
            <a:ext cx="3195118" cy="204300"/>
            <a:chOff x="5948871" y="539489"/>
            <a:chExt cx="3195118" cy="204300"/>
          </a:xfrm>
        </p:grpSpPr>
        <p:sp>
          <p:nvSpPr>
            <p:cNvPr id="70" name="Google Shape;70;p7"/>
            <p:cNvSpPr/>
            <p:nvPr/>
          </p:nvSpPr>
          <p:spPr>
            <a:xfrm rot="10800000">
              <a:off x="6546889" y="539489"/>
              <a:ext cx="25971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1" name="Google Shape;71;p7"/>
            <p:cNvSpPr/>
            <p:nvPr/>
          </p:nvSpPr>
          <p:spPr>
            <a:xfrm rot="10800000">
              <a:off x="6247958" y="539489"/>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2" name="Google Shape;72;p7"/>
            <p:cNvSpPr/>
            <p:nvPr/>
          </p:nvSpPr>
          <p:spPr>
            <a:xfrm rot="10800000">
              <a:off x="5948871" y="539489"/>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73" name="Google Shape;73;p7"/>
          <p:cNvGrpSpPr/>
          <p:nvPr/>
        </p:nvGrpSpPr>
        <p:grpSpPr>
          <a:xfrm rot="-5400000">
            <a:off x="252200" y="4351775"/>
            <a:ext cx="547133" cy="1051558"/>
            <a:chOff x="859175" y="0"/>
            <a:chExt cx="547133" cy="1051558"/>
          </a:xfrm>
        </p:grpSpPr>
        <p:grpSp>
          <p:nvGrpSpPr>
            <p:cNvPr id="74" name="Google Shape;74;p7"/>
            <p:cNvGrpSpPr/>
            <p:nvPr/>
          </p:nvGrpSpPr>
          <p:grpSpPr>
            <a:xfrm>
              <a:off x="1202000" y="0"/>
              <a:ext cx="204308" cy="1051558"/>
              <a:chOff x="1202000" y="0"/>
              <a:chExt cx="204308" cy="1051558"/>
            </a:xfrm>
          </p:grpSpPr>
          <p:sp>
            <p:nvSpPr>
              <p:cNvPr id="75" name="Google Shape;75;p7"/>
              <p:cNvSpPr/>
              <p:nvPr/>
            </p:nvSpPr>
            <p:spPr>
              <a:xfrm rot="5400000">
                <a:off x="1077500" y="124500"/>
                <a:ext cx="4533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6" name="Google Shape;76;p7"/>
              <p:cNvSpPr/>
              <p:nvPr/>
            </p:nvSpPr>
            <p:spPr>
              <a:xfrm rot="5400000">
                <a:off x="1200208" y="546370"/>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7" name="Google Shape;77;p7"/>
              <p:cNvSpPr/>
              <p:nvPr/>
            </p:nvSpPr>
            <p:spPr>
              <a:xfrm rot="5400000">
                <a:off x="1200208" y="845458"/>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78" name="Google Shape;78;p7"/>
            <p:cNvGrpSpPr/>
            <p:nvPr/>
          </p:nvGrpSpPr>
          <p:grpSpPr>
            <a:xfrm>
              <a:off x="859175" y="0"/>
              <a:ext cx="204305" cy="1051558"/>
              <a:chOff x="859175" y="0"/>
              <a:chExt cx="204305" cy="1051558"/>
            </a:xfrm>
          </p:grpSpPr>
          <p:sp>
            <p:nvSpPr>
              <p:cNvPr id="79" name="Google Shape;79;p7"/>
              <p:cNvSpPr/>
              <p:nvPr/>
            </p:nvSpPr>
            <p:spPr>
              <a:xfrm rot="5400000">
                <a:off x="734675" y="124500"/>
                <a:ext cx="4533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0" name="Google Shape;80;p7"/>
              <p:cNvSpPr/>
              <p:nvPr/>
            </p:nvSpPr>
            <p:spPr>
              <a:xfrm rot="5400000">
                <a:off x="857380" y="546329"/>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1" name="Google Shape;81;p7"/>
              <p:cNvSpPr/>
              <p:nvPr/>
            </p:nvSpPr>
            <p:spPr>
              <a:xfrm rot="5400000">
                <a:off x="857380" y="845458"/>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Tree>
    <p:extLst>
      <p:ext uri="{BB962C8B-B14F-4D97-AF65-F5344CB8AC3E}">
        <p14:creationId xmlns:p14="http://schemas.microsoft.com/office/powerpoint/2010/main" val="2345767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 name="Google Shape;18;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19" name="Google Shape;19;p4"/>
          <p:cNvGrpSpPr/>
          <p:nvPr/>
        </p:nvGrpSpPr>
        <p:grpSpPr>
          <a:xfrm>
            <a:off x="8517830" y="-3"/>
            <a:ext cx="547133" cy="5160253"/>
            <a:chOff x="8517830" y="-3"/>
            <a:chExt cx="547133" cy="5160253"/>
          </a:xfrm>
        </p:grpSpPr>
        <p:grpSp>
          <p:nvGrpSpPr>
            <p:cNvPr id="20" name="Google Shape;20;p4"/>
            <p:cNvGrpSpPr/>
            <p:nvPr/>
          </p:nvGrpSpPr>
          <p:grpSpPr>
            <a:xfrm rot="10800000">
              <a:off x="8517830" y="4108693"/>
              <a:ext cx="547133" cy="1051558"/>
              <a:chOff x="859175" y="0"/>
              <a:chExt cx="547133" cy="1051558"/>
            </a:xfrm>
          </p:grpSpPr>
          <p:grpSp>
            <p:nvGrpSpPr>
              <p:cNvPr id="21" name="Google Shape;21;p4"/>
              <p:cNvGrpSpPr/>
              <p:nvPr/>
            </p:nvGrpSpPr>
            <p:grpSpPr>
              <a:xfrm>
                <a:off x="1202000" y="0"/>
                <a:ext cx="204308" cy="1051558"/>
                <a:chOff x="1202000" y="0"/>
                <a:chExt cx="204308" cy="1051558"/>
              </a:xfrm>
            </p:grpSpPr>
            <p:sp>
              <p:nvSpPr>
                <p:cNvPr id="22" name="Google Shape;22;p4"/>
                <p:cNvSpPr/>
                <p:nvPr/>
              </p:nvSpPr>
              <p:spPr>
                <a:xfrm rot="5400000">
                  <a:off x="1077500" y="124500"/>
                  <a:ext cx="4533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 name="Google Shape;23;p4"/>
                <p:cNvSpPr/>
                <p:nvPr/>
              </p:nvSpPr>
              <p:spPr>
                <a:xfrm rot="5400000">
                  <a:off x="1200208" y="546370"/>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4" name="Google Shape;24;p4"/>
                <p:cNvSpPr/>
                <p:nvPr/>
              </p:nvSpPr>
              <p:spPr>
                <a:xfrm rot="5400000">
                  <a:off x="1200208" y="845458"/>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25" name="Google Shape;25;p4"/>
              <p:cNvGrpSpPr/>
              <p:nvPr/>
            </p:nvGrpSpPr>
            <p:grpSpPr>
              <a:xfrm>
                <a:off x="859175" y="0"/>
                <a:ext cx="204305" cy="1051558"/>
                <a:chOff x="859175" y="0"/>
                <a:chExt cx="204305" cy="1051558"/>
              </a:xfrm>
            </p:grpSpPr>
            <p:sp>
              <p:nvSpPr>
                <p:cNvPr id="26" name="Google Shape;26;p4"/>
                <p:cNvSpPr/>
                <p:nvPr/>
              </p:nvSpPr>
              <p:spPr>
                <a:xfrm rot="5400000">
                  <a:off x="734675" y="124500"/>
                  <a:ext cx="4533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7" name="Google Shape;27;p4"/>
                <p:cNvSpPr/>
                <p:nvPr/>
              </p:nvSpPr>
              <p:spPr>
                <a:xfrm rot="5400000">
                  <a:off x="857380" y="546329"/>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8" name="Google Shape;28;p4"/>
                <p:cNvSpPr/>
                <p:nvPr/>
              </p:nvSpPr>
              <p:spPr>
                <a:xfrm rot="5400000">
                  <a:off x="857380" y="845458"/>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grpSp>
          <p:nvGrpSpPr>
            <p:cNvPr id="29" name="Google Shape;29;p4"/>
            <p:cNvGrpSpPr/>
            <p:nvPr/>
          </p:nvGrpSpPr>
          <p:grpSpPr>
            <a:xfrm>
              <a:off x="8689250" y="-3"/>
              <a:ext cx="204305" cy="2129438"/>
              <a:chOff x="8701575" y="7622"/>
              <a:chExt cx="204305" cy="2129438"/>
            </a:xfrm>
          </p:grpSpPr>
          <p:sp>
            <p:nvSpPr>
              <p:cNvPr id="30" name="Google Shape;30;p4"/>
              <p:cNvSpPr/>
              <p:nvPr/>
            </p:nvSpPr>
            <p:spPr>
              <a:xfrm rot="5400000">
                <a:off x="8037975" y="671222"/>
                <a:ext cx="15315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 name="Google Shape;31;p4"/>
              <p:cNvSpPr/>
              <p:nvPr/>
            </p:nvSpPr>
            <p:spPr>
              <a:xfrm rot="5400000">
                <a:off x="8699780" y="1631873"/>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 name="Google Shape;32;p4"/>
              <p:cNvSpPr/>
              <p:nvPr/>
            </p:nvSpPr>
            <p:spPr>
              <a:xfrm rot="5400000">
                <a:off x="8699780" y="1930960"/>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grpSp>
        <p:nvGrpSpPr>
          <p:cNvPr id="33" name="Google Shape;33;p4"/>
          <p:cNvGrpSpPr/>
          <p:nvPr/>
        </p:nvGrpSpPr>
        <p:grpSpPr>
          <a:xfrm rot="5400000">
            <a:off x="-782243" y="3921198"/>
            <a:ext cx="2240294" cy="204308"/>
            <a:chOff x="5948874" y="762364"/>
            <a:chExt cx="2240294" cy="204308"/>
          </a:xfrm>
        </p:grpSpPr>
        <p:sp>
          <p:nvSpPr>
            <p:cNvPr id="34" name="Google Shape;34;p4"/>
            <p:cNvSpPr/>
            <p:nvPr/>
          </p:nvSpPr>
          <p:spPr>
            <a:xfrm rot="10800000">
              <a:off x="6546968" y="762372"/>
              <a:ext cx="16422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 name="Google Shape;35;p4"/>
            <p:cNvSpPr/>
            <p:nvPr/>
          </p:nvSpPr>
          <p:spPr>
            <a:xfrm rot="10800000">
              <a:off x="6247961" y="762364"/>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6" name="Google Shape;36;p4"/>
            <p:cNvSpPr/>
            <p:nvPr/>
          </p:nvSpPr>
          <p:spPr>
            <a:xfrm rot="10800000">
              <a:off x="5948874" y="762364"/>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extLst>
      <p:ext uri="{BB962C8B-B14F-4D97-AF65-F5344CB8AC3E}">
        <p14:creationId xmlns:p14="http://schemas.microsoft.com/office/powerpoint/2010/main" val="4285197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Cabin"/>
              <a:buNone/>
              <a:defRPr sz="3000" b="1">
                <a:solidFill>
                  <a:schemeClr val="dk1"/>
                </a:solidFill>
                <a:latin typeface="Cabin"/>
                <a:ea typeface="Cabin"/>
                <a:cs typeface="Cabin"/>
                <a:sym typeface="Cabin"/>
              </a:defRPr>
            </a:lvl1pPr>
            <a:lvl2pPr lvl="1" rtl="0">
              <a:spcBef>
                <a:spcPts val="0"/>
              </a:spcBef>
              <a:spcAft>
                <a:spcPts val="0"/>
              </a:spcAft>
              <a:buClr>
                <a:schemeClr val="dk1"/>
              </a:buClr>
              <a:buSzPts val="3000"/>
              <a:buFont typeface="Cabin"/>
              <a:buNone/>
              <a:defRPr sz="3000" b="1">
                <a:solidFill>
                  <a:schemeClr val="dk1"/>
                </a:solidFill>
                <a:latin typeface="Cabin"/>
                <a:ea typeface="Cabin"/>
                <a:cs typeface="Cabin"/>
                <a:sym typeface="Cabin"/>
              </a:defRPr>
            </a:lvl2pPr>
            <a:lvl3pPr lvl="2" rtl="0">
              <a:spcBef>
                <a:spcPts val="0"/>
              </a:spcBef>
              <a:spcAft>
                <a:spcPts val="0"/>
              </a:spcAft>
              <a:buClr>
                <a:schemeClr val="dk1"/>
              </a:buClr>
              <a:buSzPts val="3000"/>
              <a:buFont typeface="Cabin"/>
              <a:buNone/>
              <a:defRPr sz="3000" b="1">
                <a:solidFill>
                  <a:schemeClr val="dk1"/>
                </a:solidFill>
                <a:latin typeface="Cabin"/>
                <a:ea typeface="Cabin"/>
                <a:cs typeface="Cabin"/>
                <a:sym typeface="Cabin"/>
              </a:defRPr>
            </a:lvl3pPr>
            <a:lvl4pPr lvl="3" rtl="0">
              <a:spcBef>
                <a:spcPts val="0"/>
              </a:spcBef>
              <a:spcAft>
                <a:spcPts val="0"/>
              </a:spcAft>
              <a:buClr>
                <a:schemeClr val="dk1"/>
              </a:buClr>
              <a:buSzPts val="3000"/>
              <a:buFont typeface="Cabin"/>
              <a:buNone/>
              <a:defRPr sz="3000" b="1">
                <a:solidFill>
                  <a:schemeClr val="dk1"/>
                </a:solidFill>
                <a:latin typeface="Cabin"/>
                <a:ea typeface="Cabin"/>
                <a:cs typeface="Cabin"/>
                <a:sym typeface="Cabin"/>
              </a:defRPr>
            </a:lvl4pPr>
            <a:lvl5pPr lvl="4" rtl="0">
              <a:spcBef>
                <a:spcPts val="0"/>
              </a:spcBef>
              <a:spcAft>
                <a:spcPts val="0"/>
              </a:spcAft>
              <a:buClr>
                <a:schemeClr val="dk1"/>
              </a:buClr>
              <a:buSzPts val="3000"/>
              <a:buFont typeface="Cabin"/>
              <a:buNone/>
              <a:defRPr sz="3000" b="1">
                <a:solidFill>
                  <a:schemeClr val="dk1"/>
                </a:solidFill>
                <a:latin typeface="Cabin"/>
                <a:ea typeface="Cabin"/>
                <a:cs typeface="Cabin"/>
                <a:sym typeface="Cabin"/>
              </a:defRPr>
            </a:lvl5pPr>
            <a:lvl6pPr lvl="5" rtl="0">
              <a:spcBef>
                <a:spcPts val="0"/>
              </a:spcBef>
              <a:spcAft>
                <a:spcPts val="0"/>
              </a:spcAft>
              <a:buClr>
                <a:schemeClr val="dk1"/>
              </a:buClr>
              <a:buSzPts val="3000"/>
              <a:buFont typeface="Cabin"/>
              <a:buNone/>
              <a:defRPr sz="3000" b="1">
                <a:solidFill>
                  <a:schemeClr val="dk1"/>
                </a:solidFill>
                <a:latin typeface="Cabin"/>
                <a:ea typeface="Cabin"/>
                <a:cs typeface="Cabin"/>
                <a:sym typeface="Cabin"/>
              </a:defRPr>
            </a:lvl6pPr>
            <a:lvl7pPr lvl="6" rtl="0">
              <a:spcBef>
                <a:spcPts val="0"/>
              </a:spcBef>
              <a:spcAft>
                <a:spcPts val="0"/>
              </a:spcAft>
              <a:buClr>
                <a:schemeClr val="dk1"/>
              </a:buClr>
              <a:buSzPts val="3000"/>
              <a:buFont typeface="Cabin"/>
              <a:buNone/>
              <a:defRPr sz="3000" b="1">
                <a:solidFill>
                  <a:schemeClr val="dk1"/>
                </a:solidFill>
                <a:latin typeface="Cabin"/>
                <a:ea typeface="Cabin"/>
                <a:cs typeface="Cabin"/>
                <a:sym typeface="Cabin"/>
              </a:defRPr>
            </a:lvl7pPr>
            <a:lvl8pPr lvl="7" rtl="0">
              <a:spcBef>
                <a:spcPts val="0"/>
              </a:spcBef>
              <a:spcAft>
                <a:spcPts val="0"/>
              </a:spcAft>
              <a:buClr>
                <a:schemeClr val="dk1"/>
              </a:buClr>
              <a:buSzPts val="3000"/>
              <a:buFont typeface="Cabin"/>
              <a:buNone/>
              <a:defRPr sz="3000" b="1">
                <a:solidFill>
                  <a:schemeClr val="dk1"/>
                </a:solidFill>
                <a:latin typeface="Cabin"/>
                <a:ea typeface="Cabin"/>
                <a:cs typeface="Cabin"/>
                <a:sym typeface="Cabin"/>
              </a:defRPr>
            </a:lvl8pPr>
            <a:lvl9pPr lvl="8" rtl="0">
              <a:spcBef>
                <a:spcPts val="0"/>
              </a:spcBef>
              <a:spcAft>
                <a:spcPts val="0"/>
              </a:spcAft>
              <a:buClr>
                <a:schemeClr val="dk1"/>
              </a:buClr>
              <a:buSzPts val="3000"/>
              <a:buFont typeface="Cabin"/>
              <a:buNone/>
              <a:defRPr sz="3000" b="1">
                <a:solidFill>
                  <a:schemeClr val="dk1"/>
                </a:solidFill>
                <a:latin typeface="Cabin"/>
                <a:ea typeface="Cabin"/>
                <a:cs typeface="Cabin"/>
                <a:sym typeface="Cabin"/>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1pPr>
            <a:lvl2pPr marL="914400" lvl="1"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2pPr>
            <a:lvl3pPr marL="1371600" lvl="2"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3pPr>
            <a:lvl4pPr marL="1828800" lvl="3"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4pPr>
            <a:lvl5pPr marL="2286000" lvl="4"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5pPr>
            <a:lvl6pPr marL="2743200" lvl="5"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6pPr>
            <a:lvl7pPr marL="3200400" lvl="6"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7pPr>
            <a:lvl8pPr marL="3657600" lvl="7"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8pPr>
            <a:lvl9pPr marL="4114800" lvl="8" indent="-304800">
              <a:lnSpc>
                <a:spcPct val="100000"/>
              </a:lnSpc>
              <a:spcBef>
                <a:spcPts val="0"/>
              </a:spcBef>
              <a:spcAft>
                <a:spcPts val="0"/>
              </a:spcAft>
              <a:buClr>
                <a:schemeClr val="dk1"/>
              </a:buClr>
              <a:buSzPts val="1200"/>
              <a:buFont typeface="Cabin"/>
              <a:buChar char="■"/>
              <a:defRPr sz="1200">
                <a:solidFill>
                  <a:schemeClr val="dk1"/>
                </a:solidFill>
                <a:latin typeface="Cabin"/>
                <a:ea typeface="Cabin"/>
                <a:cs typeface="Cabin"/>
                <a:sym typeface="Cabi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4" r:id="rId3"/>
    <p:sldLayoutId id="2147483655" r:id="rId4"/>
    <p:sldLayoutId id="2147483656" r:id="rId5"/>
    <p:sldLayoutId id="2147483657" r:id="rId6"/>
    <p:sldLayoutId id="2147483659" r:id="rId7"/>
    <p:sldLayoutId id="2147483666" r:id="rId8"/>
    <p:sldLayoutId id="2147483670" r:id="rId9"/>
    <p:sldLayoutId id="2147483671" r:id="rId10"/>
    <p:sldLayoutId id="2147483676" r:id="rId11"/>
    <p:sldLayoutId id="2147483677"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docs.cntd.ru/document/9004937" TargetMode="External"/><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hyperlink" Target="https://docs.cntd.ru/document/901807664" TargetMode="External"/><Relationship Id="rId5" Type="http://schemas.openxmlformats.org/officeDocument/2006/relationships/hyperlink" Target="https://docs.cntd.ru/document/901807667" TargetMode="External"/><Relationship Id="rId4" Type="http://schemas.openxmlformats.org/officeDocument/2006/relationships/hyperlink" Target="https://docs.cntd.ru/document/9027690"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cyberleninka.ru/article/n/shodstvo-i-razlichie-rossiyskoy-pravovoy-sistemy-i-romano-germanskoy-pravovoy-semi" TargetMode="External"/><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hyperlink" Target="https://studme.org/127956/pravo/klassifikatsiya_norm_prav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7" name="Google Shape;387;p29"/>
          <p:cNvSpPr txBox="1">
            <a:spLocks noGrp="1"/>
          </p:cNvSpPr>
          <p:nvPr>
            <p:ph type="ctrTitle"/>
          </p:nvPr>
        </p:nvSpPr>
        <p:spPr>
          <a:xfrm>
            <a:off x="693019" y="2011679"/>
            <a:ext cx="4814643" cy="1607370"/>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lvl="0" indent="0" rtl="0">
              <a:spcBef>
                <a:spcPts val="0"/>
              </a:spcBef>
              <a:spcAft>
                <a:spcPts val="0"/>
              </a:spcAft>
              <a:buNone/>
            </a:pPr>
            <a:r>
              <a:rPr lang="ru-RU" sz="2400" dirty="0" smtClean="0"/>
              <a:t>Особенности российской правовой системы.</a:t>
            </a:r>
            <a:r>
              <a:rPr lang="en" sz="2400" dirty="0" smtClean="0"/>
              <a:t> </a:t>
            </a:r>
            <a:r>
              <a:rPr lang="ru-RU" sz="2400" dirty="0" smtClean="0"/>
              <a:t>Классификация и структура правовых норм.</a:t>
            </a:r>
            <a:endParaRPr sz="2400" dirty="0"/>
          </a:p>
        </p:txBody>
      </p:sp>
      <p:sp>
        <p:nvSpPr>
          <p:cNvPr id="388" name="Google Shape;388;p29"/>
          <p:cNvSpPr txBox="1">
            <a:spLocks noGrp="1"/>
          </p:cNvSpPr>
          <p:nvPr>
            <p:ph type="subTitle" idx="1"/>
          </p:nvPr>
        </p:nvSpPr>
        <p:spPr>
          <a:xfrm>
            <a:off x="713224" y="3668693"/>
            <a:ext cx="2713369" cy="826305"/>
          </a:xfrm>
          <a:prstGeom prst="rect">
            <a:avLst/>
          </a:prstGeom>
        </p:spPr>
        <p:txBody>
          <a:bodyPr spcFirstLastPara="1" wrap="square" lIns="91425" tIns="91425" rIns="91425" bIns="91425" anchor="t" anchorCtr="0">
            <a:noAutofit/>
          </a:bodyPr>
          <a:lstStyle/>
          <a:p>
            <a:pPr marL="0" lvl="0" indent="0"/>
            <a:r>
              <a:rPr lang="ru-RU" b="1" dirty="0" smtClean="0"/>
              <a:t>Выполнил: студент группы ЭФБО-09-23</a:t>
            </a:r>
          </a:p>
          <a:p>
            <a:pPr marL="0" lvl="0" indent="0"/>
            <a:r>
              <a:rPr lang="ru-RU" b="1" dirty="0" smtClean="0"/>
              <a:t>Калинин </a:t>
            </a:r>
            <a:r>
              <a:rPr lang="ru-RU" b="1" dirty="0"/>
              <a:t>Никита Викторович</a:t>
            </a:r>
            <a:endParaRPr b="1" dirty="0"/>
          </a:p>
        </p:txBody>
      </p:sp>
      <p:grpSp>
        <p:nvGrpSpPr>
          <p:cNvPr id="389" name="Google Shape;389;p29"/>
          <p:cNvGrpSpPr/>
          <p:nvPr/>
        </p:nvGrpSpPr>
        <p:grpSpPr>
          <a:xfrm>
            <a:off x="859175" y="0"/>
            <a:ext cx="547133" cy="1051558"/>
            <a:chOff x="859175" y="0"/>
            <a:chExt cx="547133" cy="1051558"/>
          </a:xfrm>
        </p:grpSpPr>
        <p:grpSp>
          <p:nvGrpSpPr>
            <p:cNvPr id="390" name="Google Shape;390;p29"/>
            <p:cNvGrpSpPr/>
            <p:nvPr/>
          </p:nvGrpSpPr>
          <p:grpSpPr>
            <a:xfrm>
              <a:off x="1202000" y="0"/>
              <a:ext cx="204308" cy="1051558"/>
              <a:chOff x="1202000" y="0"/>
              <a:chExt cx="204308" cy="1051558"/>
            </a:xfrm>
          </p:grpSpPr>
          <p:sp>
            <p:nvSpPr>
              <p:cNvPr id="391" name="Google Shape;391;p29"/>
              <p:cNvSpPr/>
              <p:nvPr/>
            </p:nvSpPr>
            <p:spPr>
              <a:xfrm rot="5400000">
                <a:off x="1077500" y="124500"/>
                <a:ext cx="4533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2" name="Google Shape;392;p29"/>
              <p:cNvSpPr/>
              <p:nvPr/>
            </p:nvSpPr>
            <p:spPr>
              <a:xfrm rot="5400000">
                <a:off x="1200208" y="546370"/>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3" name="Google Shape;393;p29"/>
              <p:cNvSpPr/>
              <p:nvPr/>
            </p:nvSpPr>
            <p:spPr>
              <a:xfrm rot="5400000">
                <a:off x="1200208" y="845458"/>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394" name="Google Shape;394;p29"/>
            <p:cNvGrpSpPr/>
            <p:nvPr/>
          </p:nvGrpSpPr>
          <p:grpSpPr>
            <a:xfrm>
              <a:off x="859175" y="0"/>
              <a:ext cx="204305" cy="1051558"/>
              <a:chOff x="859175" y="0"/>
              <a:chExt cx="204305" cy="1051558"/>
            </a:xfrm>
          </p:grpSpPr>
          <p:sp>
            <p:nvSpPr>
              <p:cNvPr id="395" name="Google Shape;395;p29"/>
              <p:cNvSpPr/>
              <p:nvPr/>
            </p:nvSpPr>
            <p:spPr>
              <a:xfrm rot="5400000">
                <a:off x="734675" y="124500"/>
                <a:ext cx="4533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6" name="Google Shape;396;p29"/>
              <p:cNvSpPr/>
              <p:nvPr/>
            </p:nvSpPr>
            <p:spPr>
              <a:xfrm rot="5400000">
                <a:off x="857380" y="546329"/>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7" name="Google Shape;397;p29"/>
              <p:cNvSpPr/>
              <p:nvPr/>
            </p:nvSpPr>
            <p:spPr>
              <a:xfrm rot="5400000">
                <a:off x="857380" y="845458"/>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grpSp>
        <p:nvGrpSpPr>
          <p:cNvPr id="398" name="Google Shape;398;p29"/>
          <p:cNvGrpSpPr/>
          <p:nvPr/>
        </p:nvGrpSpPr>
        <p:grpSpPr>
          <a:xfrm>
            <a:off x="5948871" y="539489"/>
            <a:ext cx="3195118" cy="4431075"/>
            <a:chOff x="5948871" y="539489"/>
            <a:chExt cx="3195118" cy="4431075"/>
          </a:xfrm>
        </p:grpSpPr>
        <p:grpSp>
          <p:nvGrpSpPr>
            <p:cNvPr id="399" name="Google Shape;399;p29"/>
            <p:cNvGrpSpPr/>
            <p:nvPr/>
          </p:nvGrpSpPr>
          <p:grpSpPr>
            <a:xfrm>
              <a:off x="5948871" y="539489"/>
              <a:ext cx="3195118" cy="204300"/>
              <a:chOff x="5948871" y="539489"/>
              <a:chExt cx="3195118" cy="204300"/>
            </a:xfrm>
          </p:grpSpPr>
          <p:sp>
            <p:nvSpPr>
              <p:cNvPr id="400" name="Google Shape;400;p29"/>
              <p:cNvSpPr/>
              <p:nvPr/>
            </p:nvSpPr>
            <p:spPr>
              <a:xfrm rot="10800000">
                <a:off x="6546889" y="539489"/>
                <a:ext cx="25971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1" name="Google Shape;401;p29"/>
              <p:cNvSpPr/>
              <p:nvPr/>
            </p:nvSpPr>
            <p:spPr>
              <a:xfrm rot="10800000">
                <a:off x="6247958" y="539489"/>
                <a:ext cx="207900" cy="204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2" name="Google Shape;402;p29"/>
              <p:cNvSpPr/>
              <p:nvPr/>
            </p:nvSpPr>
            <p:spPr>
              <a:xfrm rot="10800000">
                <a:off x="5948871" y="539489"/>
                <a:ext cx="207900" cy="204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nvGrpSpPr>
            <p:cNvPr id="403" name="Google Shape;403;p29"/>
            <p:cNvGrpSpPr/>
            <p:nvPr/>
          </p:nvGrpSpPr>
          <p:grpSpPr>
            <a:xfrm>
              <a:off x="5948871" y="4766264"/>
              <a:ext cx="3195118" cy="204300"/>
              <a:chOff x="5948874" y="4766264"/>
              <a:chExt cx="3195118" cy="204300"/>
            </a:xfrm>
          </p:grpSpPr>
          <p:sp>
            <p:nvSpPr>
              <p:cNvPr id="404" name="Google Shape;404;p29"/>
              <p:cNvSpPr/>
              <p:nvPr/>
            </p:nvSpPr>
            <p:spPr>
              <a:xfrm rot="10800000">
                <a:off x="6546892" y="4766264"/>
                <a:ext cx="25971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5" name="Google Shape;405;p29"/>
              <p:cNvSpPr/>
              <p:nvPr/>
            </p:nvSpPr>
            <p:spPr>
              <a:xfrm rot="10800000">
                <a:off x="6247961" y="4766264"/>
                <a:ext cx="207900" cy="204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06" name="Google Shape;406;p29"/>
              <p:cNvSpPr/>
              <p:nvPr/>
            </p:nvSpPr>
            <p:spPr>
              <a:xfrm rot="10800000">
                <a:off x="5948874" y="4766264"/>
                <a:ext cx="207900" cy="204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grpSp>
      <p:sp>
        <p:nvSpPr>
          <p:cNvPr id="23" name="Google Shape;388;p29"/>
          <p:cNvSpPr txBox="1">
            <a:spLocks/>
          </p:cNvSpPr>
          <p:nvPr/>
        </p:nvSpPr>
        <p:spPr>
          <a:xfrm>
            <a:off x="1406309" y="0"/>
            <a:ext cx="4542562" cy="20116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bin"/>
              <a:buNone/>
              <a:defRPr sz="1400" b="0" i="0" u="none" strike="noStrike" cap="none">
                <a:solidFill>
                  <a:schemeClr val="dk1"/>
                </a:solidFill>
                <a:latin typeface="Cabin"/>
                <a:ea typeface="Cabin"/>
                <a:cs typeface="Cabin"/>
                <a:sym typeface="Cabin"/>
              </a:defRPr>
            </a:lvl1pPr>
            <a:lvl2pPr marL="914400" marR="0" lvl="1"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2pPr>
            <a:lvl3pPr marL="1371600" marR="0" lvl="2"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3pPr>
            <a:lvl4pPr marL="1828800" marR="0" lvl="3"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4pPr>
            <a:lvl5pPr marL="2286000" marR="0" lvl="4"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5pPr>
            <a:lvl6pPr marL="2743200" marR="0" lvl="5"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6pPr>
            <a:lvl7pPr marL="3200400" marR="0" lvl="6"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7pPr>
            <a:lvl8pPr marL="3657600" marR="0" lvl="7"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8pPr>
            <a:lvl9pPr marL="4114800" marR="0" lvl="8"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9pPr>
          </a:lstStyle>
          <a:p>
            <a:pPr marL="0" indent="0" algn="ctr"/>
            <a:r>
              <a:rPr lang="ru-RU" b="1" dirty="0"/>
              <a:t>МИНИСТЕРСТВО НАУКИ И ВЫСШЕГО ОБРАЗОВАНИЯ </a:t>
            </a:r>
          </a:p>
          <a:p>
            <a:pPr marL="0" indent="0" algn="ctr"/>
            <a:r>
              <a:rPr lang="ru-RU" b="1" dirty="0"/>
              <a:t>РОССИЙСКОЙ ФЕДЕРАЦИИ</a:t>
            </a:r>
          </a:p>
          <a:p>
            <a:pPr marL="0" indent="0" algn="ctr"/>
            <a:r>
              <a:rPr lang="ru-RU" b="1" dirty="0"/>
              <a:t>МИРЭА – РОССИЙСКИЙ ТЕХНОЛОГИЧЕСКИЙ УНИВЕРСИТЕТ</a:t>
            </a:r>
          </a:p>
          <a:p>
            <a:pPr marL="0" indent="0" algn="ctr"/>
            <a:endParaRPr lang="ru-RU" sz="1100" b="1" dirty="0"/>
          </a:p>
          <a:p>
            <a:pPr marL="0" indent="0" algn="ctr"/>
            <a:r>
              <a:rPr lang="ru-RU" b="1" dirty="0"/>
              <a:t>Кафедра </a:t>
            </a:r>
            <a:r>
              <a:rPr lang="ru-RU" b="1" dirty="0" smtClean="0"/>
              <a:t>государственно-правовых дисциплин</a:t>
            </a:r>
            <a:endParaRPr lang="ru-RU" b="1" dirty="0"/>
          </a:p>
          <a:p>
            <a:pPr marL="0" indent="0" algn="ctr"/>
            <a:endParaRPr lang="ru-RU" sz="1100" b="1" dirty="0"/>
          </a:p>
          <a:p>
            <a:pPr marL="0" indent="0" algn="ctr"/>
            <a:r>
              <a:rPr lang="ru-RU" b="1" dirty="0"/>
              <a:t> Дисциплина: </a:t>
            </a:r>
            <a:r>
              <a:rPr lang="ru-RU" b="1" dirty="0" smtClean="0"/>
              <a:t>Правоведение</a:t>
            </a:r>
            <a:endParaRPr lang="ru-RU" b="1" dirty="0"/>
          </a:p>
        </p:txBody>
      </p:sp>
      <p:sp>
        <p:nvSpPr>
          <p:cNvPr id="24" name="Google Shape;388;p29"/>
          <p:cNvSpPr txBox="1">
            <a:spLocks/>
          </p:cNvSpPr>
          <p:nvPr/>
        </p:nvSpPr>
        <p:spPr>
          <a:xfrm>
            <a:off x="2863930" y="4661838"/>
            <a:ext cx="2089332" cy="4131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Cabin"/>
              <a:buNone/>
              <a:defRPr sz="1400" b="0" i="0" u="none" strike="noStrike" cap="none">
                <a:solidFill>
                  <a:schemeClr val="dk1"/>
                </a:solidFill>
                <a:latin typeface="Cabin"/>
                <a:ea typeface="Cabin"/>
                <a:cs typeface="Cabin"/>
                <a:sym typeface="Cabin"/>
              </a:defRPr>
            </a:lvl1pPr>
            <a:lvl2pPr marL="914400" marR="0" lvl="1"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2pPr>
            <a:lvl3pPr marL="1371600" marR="0" lvl="2"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3pPr>
            <a:lvl4pPr marL="1828800" marR="0" lvl="3"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4pPr>
            <a:lvl5pPr marL="2286000" marR="0" lvl="4"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5pPr>
            <a:lvl6pPr marL="2743200" marR="0" lvl="5"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6pPr>
            <a:lvl7pPr marL="3200400" marR="0" lvl="6"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7pPr>
            <a:lvl8pPr marL="3657600" marR="0" lvl="7"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8pPr>
            <a:lvl9pPr marL="4114800" marR="0" lvl="8" indent="-304800" algn="ctr" rtl="0">
              <a:lnSpc>
                <a:spcPct val="100000"/>
              </a:lnSpc>
              <a:spcBef>
                <a:spcPts val="0"/>
              </a:spcBef>
              <a:spcAft>
                <a:spcPts val="0"/>
              </a:spcAft>
              <a:buClr>
                <a:schemeClr val="dk1"/>
              </a:buClr>
              <a:buSzPts val="1800"/>
              <a:buFont typeface="Cabin"/>
              <a:buNone/>
              <a:defRPr sz="1800" b="0" i="0" u="none" strike="noStrike" cap="none">
                <a:solidFill>
                  <a:schemeClr val="dk1"/>
                </a:solidFill>
                <a:latin typeface="Cabin"/>
                <a:ea typeface="Cabin"/>
                <a:cs typeface="Cabin"/>
                <a:sym typeface="Cabin"/>
              </a:defRPr>
            </a:lvl9pPr>
          </a:lstStyle>
          <a:p>
            <a:pPr marL="0" indent="0" algn="ctr"/>
            <a:r>
              <a:rPr lang="ru-RU" b="1" dirty="0"/>
              <a:t>Москва - 2023 г.</a:t>
            </a:r>
          </a:p>
        </p:txBody>
      </p:sp>
      <p:pic>
        <p:nvPicPr>
          <p:cNvPr id="26" name="Picture 4" descr="Изображение логотипа"/>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8870" y="1137938"/>
            <a:ext cx="2724993" cy="3222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ru-RU" dirty="0" smtClean="0"/>
              <a:t>Оглавление</a:t>
            </a:r>
            <a:endParaRPr dirty="0"/>
          </a:p>
        </p:txBody>
      </p:sp>
      <p:sp>
        <p:nvSpPr>
          <p:cNvPr id="423" name="Google Shape;423;p31"/>
          <p:cNvSpPr txBox="1">
            <a:spLocks noGrp="1"/>
          </p:cNvSpPr>
          <p:nvPr>
            <p:ph type="subTitle" idx="15"/>
          </p:nvPr>
        </p:nvSpPr>
        <p:spPr>
          <a:xfrm>
            <a:off x="654197" y="4256363"/>
            <a:ext cx="3869675" cy="39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ru-RU" dirty="0" smtClean="0"/>
              <a:t>Библиографический список</a:t>
            </a:r>
            <a:endParaRPr dirty="0"/>
          </a:p>
        </p:txBody>
      </p:sp>
      <p:sp>
        <p:nvSpPr>
          <p:cNvPr id="425" name="Google Shape;425;p31"/>
          <p:cNvSpPr txBox="1">
            <a:spLocks noGrp="1"/>
          </p:cNvSpPr>
          <p:nvPr>
            <p:ph type="subTitle" idx="14"/>
          </p:nvPr>
        </p:nvSpPr>
        <p:spPr>
          <a:xfrm>
            <a:off x="692700" y="3740664"/>
            <a:ext cx="2532000" cy="39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ru-RU" dirty="0" smtClean="0"/>
              <a:t>Заключение</a:t>
            </a:r>
            <a:endParaRPr dirty="0"/>
          </a:p>
        </p:txBody>
      </p:sp>
      <p:sp>
        <p:nvSpPr>
          <p:cNvPr id="426" name="Google Shape;426;p31"/>
          <p:cNvSpPr txBox="1">
            <a:spLocks noGrp="1"/>
          </p:cNvSpPr>
          <p:nvPr>
            <p:ph type="title" idx="3"/>
          </p:nvPr>
        </p:nvSpPr>
        <p:spPr>
          <a:xfrm>
            <a:off x="517868" y="2715278"/>
            <a:ext cx="734700" cy="39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ru-RU" dirty="0" smtClean="0"/>
              <a:t>2.</a:t>
            </a:r>
            <a:endParaRPr dirty="0"/>
          </a:p>
        </p:txBody>
      </p:sp>
      <p:sp>
        <p:nvSpPr>
          <p:cNvPr id="427" name="Google Shape;427;p31"/>
          <p:cNvSpPr txBox="1">
            <a:spLocks noGrp="1"/>
          </p:cNvSpPr>
          <p:nvPr>
            <p:ph type="subTitle" idx="13"/>
          </p:nvPr>
        </p:nvSpPr>
        <p:spPr>
          <a:xfrm>
            <a:off x="1163049" y="2691034"/>
            <a:ext cx="3542097" cy="417925"/>
          </a:xfrm>
          <a:prstGeom prst="rect">
            <a:avLst/>
          </a:prstGeom>
        </p:spPr>
        <p:txBody>
          <a:bodyPr spcFirstLastPara="1" wrap="square" lIns="91425" tIns="91425" rIns="91425" bIns="91425" anchor="b" anchorCtr="0">
            <a:noAutofit/>
          </a:bodyPr>
          <a:lstStyle/>
          <a:p>
            <a:pPr marL="0" lvl="0" indent="0"/>
            <a:r>
              <a:rPr lang="ru-RU" dirty="0" smtClean="0"/>
              <a:t>Структура правовых </a:t>
            </a:r>
            <a:r>
              <a:rPr lang="ru-RU" dirty="0"/>
              <a:t>норм</a:t>
            </a:r>
            <a:endParaRPr dirty="0"/>
          </a:p>
        </p:txBody>
      </p:sp>
      <p:sp>
        <p:nvSpPr>
          <p:cNvPr id="428" name="Google Shape;428;p31"/>
          <p:cNvSpPr txBox="1">
            <a:spLocks noGrp="1"/>
          </p:cNvSpPr>
          <p:nvPr>
            <p:ph type="title" idx="6"/>
          </p:nvPr>
        </p:nvSpPr>
        <p:spPr>
          <a:xfrm>
            <a:off x="488995" y="2197855"/>
            <a:ext cx="734700" cy="39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ru-RU" dirty="0" smtClean="0"/>
              <a:t>1.</a:t>
            </a:r>
            <a:endParaRPr dirty="0"/>
          </a:p>
        </p:txBody>
      </p:sp>
      <p:sp>
        <p:nvSpPr>
          <p:cNvPr id="429" name="Google Shape;429;p31"/>
          <p:cNvSpPr txBox="1">
            <a:spLocks noGrp="1"/>
          </p:cNvSpPr>
          <p:nvPr>
            <p:ph type="subTitle" idx="9"/>
          </p:nvPr>
        </p:nvSpPr>
        <p:spPr>
          <a:xfrm>
            <a:off x="1155033" y="2165683"/>
            <a:ext cx="4572000" cy="45238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ru-RU" dirty="0" smtClean="0"/>
              <a:t>Правовая система Российской Федерации</a:t>
            </a:r>
            <a:endParaRPr dirty="0"/>
          </a:p>
        </p:txBody>
      </p:sp>
      <p:sp>
        <p:nvSpPr>
          <p:cNvPr id="431" name="Google Shape;431;p31"/>
          <p:cNvSpPr txBox="1">
            <a:spLocks noGrp="1"/>
          </p:cNvSpPr>
          <p:nvPr>
            <p:ph type="subTitle" idx="8"/>
          </p:nvPr>
        </p:nvSpPr>
        <p:spPr>
          <a:xfrm>
            <a:off x="643620" y="1772652"/>
            <a:ext cx="2532000" cy="39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ru-RU" dirty="0" smtClean="0"/>
              <a:t>Основная часть</a:t>
            </a:r>
            <a:endParaRPr dirty="0"/>
          </a:p>
        </p:txBody>
      </p:sp>
      <p:sp>
        <p:nvSpPr>
          <p:cNvPr id="433" name="Google Shape;433;p31"/>
          <p:cNvSpPr txBox="1">
            <a:spLocks noGrp="1"/>
          </p:cNvSpPr>
          <p:nvPr>
            <p:ph type="subTitle" idx="1"/>
          </p:nvPr>
        </p:nvSpPr>
        <p:spPr>
          <a:xfrm>
            <a:off x="668715" y="1300191"/>
            <a:ext cx="2532000" cy="39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ru-RU" dirty="0" smtClean="0"/>
              <a:t>Введение</a:t>
            </a:r>
            <a:endParaRPr dirty="0"/>
          </a:p>
        </p:txBody>
      </p:sp>
      <p:pic>
        <p:nvPicPr>
          <p:cNvPr id="17" name="Picture 4" descr="Беззаконный Запад: как рушилась европейская правовая система"/>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2910" y="2715278"/>
            <a:ext cx="3665587" cy="2061893"/>
          </a:xfrm>
          <a:prstGeom prst="rect">
            <a:avLst/>
          </a:prstGeom>
          <a:noFill/>
          <a:extLst>
            <a:ext uri="{909E8E84-426E-40DD-AFC4-6F175D3DCCD1}">
              <a14:hiddenFill xmlns:a14="http://schemas.microsoft.com/office/drawing/2010/main">
                <a:solidFill>
                  <a:srgbClr val="FFFFFF"/>
                </a:solidFill>
              </a14:hiddenFill>
            </a:ext>
          </a:extLst>
        </p:spPr>
      </p:pic>
      <p:sp>
        <p:nvSpPr>
          <p:cNvPr id="23" name="Google Shape;427;p31"/>
          <p:cNvSpPr txBox="1">
            <a:spLocks/>
          </p:cNvSpPr>
          <p:nvPr/>
        </p:nvSpPr>
        <p:spPr>
          <a:xfrm>
            <a:off x="1134175" y="3108958"/>
            <a:ext cx="3542097" cy="48369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Cabin"/>
                <a:ea typeface="Cabin"/>
                <a:cs typeface="Cabin"/>
                <a:sym typeface="Cabin"/>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ru-RU" dirty="0" smtClean="0"/>
              <a:t>Классификация правовых норм</a:t>
            </a:r>
            <a:endParaRPr lang="ru-RU" dirty="0"/>
          </a:p>
        </p:txBody>
      </p:sp>
      <p:sp>
        <p:nvSpPr>
          <p:cNvPr id="24" name="Google Shape;426;p31"/>
          <p:cNvSpPr txBox="1">
            <a:spLocks noGrp="1"/>
          </p:cNvSpPr>
          <p:nvPr>
            <p:ph type="title" idx="3"/>
          </p:nvPr>
        </p:nvSpPr>
        <p:spPr>
          <a:xfrm>
            <a:off x="524603" y="3196058"/>
            <a:ext cx="734700" cy="39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ru-RU" dirty="0" smtClean="0"/>
              <a:t>3.</a:t>
            </a:r>
            <a:endParaRPr dirty="0"/>
          </a:p>
        </p:txBody>
      </p:sp>
      <p:grpSp>
        <p:nvGrpSpPr>
          <p:cNvPr id="14" name="Google Shape;4833;p61"/>
          <p:cNvGrpSpPr/>
          <p:nvPr/>
        </p:nvGrpSpPr>
        <p:grpSpPr>
          <a:xfrm>
            <a:off x="225881" y="4273149"/>
            <a:ext cx="369151" cy="427544"/>
            <a:chOff x="4492800" y="2027925"/>
            <a:chExt cx="414825" cy="481825"/>
          </a:xfrm>
        </p:grpSpPr>
        <p:sp>
          <p:nvSpPr>
            <p:cNvPr id="15" name="Google Shape;4834;p61"/>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6" name="Google Shape;4835;p61"/>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1" name="Google Shape;4833;p61"/>
          <p:cNvGrpSpPr/>
          <p:nvPr/>
        </p:nvGrpSpPr>
        <p:grpSpPr>
          <a:xfrm>
            <a:off x="221400" y="3709720"/>
            <a:ext cx="369151" cy="427544"/>
            <a:chOff x="4492800" y="2027925"/>
            <a:chExt cx="414825" cy="481825"/>
          </a:xfrm>
        </p:grpSpPr>
        <p:sp>
          <p:nvSpPr>
            <p:cNvPr id="22" name="Google Shape;4834;p61"/>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5" name="Google Shape;4835;p61"/>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6" name="Google Shape;4833;p61"/>
          <p:cNvGrpSpPr/>
          <p:nvPr/>
        </p:nvGrpSpPr>
        <p:grpSpPr>
          <a:xfrm>
            <a:off x="221400" y="1802308"/>
            <a:ext cx="369151" cy="427544"/>
            <a:chOff x="4492800" y="2027925"/>
            <a:chExt cx="414825" cy="481825"/>
          </a:xfrm>
        </p:grpSpPr>
        <p:sp>
          <p:nvSpPr>
            <p:cNvPr id="27" name="Google Shape;4834;p61"/>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 name="Google Shape;4835;p61"/>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9" name="Google Shape;4833;p61"/>
          <p:cNvGrpSpPr/>
          <p:nvPr/>
        </p:nvGrpSpPr>
        <p:grpSpPr>
          <a:xfrm>
            <a:off x="225881" y="1300191"/>
            <a:ext cx="369151" cy="427544"/>
            <a:chOff x="4492800" y="2027925"/>
            <a:chExt cx="414825" cy="481825"/>
          </a:xfrm>
        </p:grpSpPr>
        <p:sp>
          <p:nvSpPr>
            <p:cNvPr id="30" name="Google Shape;4834;p61"/>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1" name="Google Shape;4835;p61"/>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2" name="Группа 31"/>
          <p:cNvGrpSpPr/>
          <p:nvPr/>
        </p:nvGrpSpPr>
        <p:grpSpPr>
          <a:xfrm>
            <a:off x="8140199" y="18795"/>
            <a:ext cx="1003801" cy="336960"/>
            <a:chOff x="0" y="0"/>
            <a:chExt cx="1003801" cy="336960"/>
          </a:xfrm>
        </p:grpSpPr>
        <p:sp>
          <p:nvSpPr>
            <p:cNvPr id="33" name="Скругленный прямоугольник 32"/>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34"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1626669" y="834106"/>
            <a:ext cx="5925120" cy="572700"/>
          </a:xfrm>
          <a:prstGeom prst="rect">
            <a:avLst/>
          </a:prstGeom>
        </p:spPr>
        <p:txBody>
          <a:bodyPr spcFirstLastPara="1" wrap="square" lIns="91425" tIns="91425" rIns="91425" bIns="91425" anchor="t" anchorCtr="0">
            <a:noAutofit/>
          </a:bodyPr>
          <a:lstStyle/>
          <a:p>
            <a:pPr lvl="0"/>
            <a:r>
              <a:rPr lang="ru-RU" sz="2400" dirty="0"/>
              <a:t>Понятие </a:t>
            </a:r>
            <a:r>
              <a:rPr lang="ru-RU" sz="2400" dirty="0" smtClean="0"/>
              <a:t>о правовой системе</a:t>
            </a:r>
            <a:endParaRPr lang="ru-RU" sz="2400" dirty="0"/>
          </a:p>
        </p:txBody>
      </p:sp>
      <p:sp>
        <p:nvSpPr>
          <p:cNvPr id="7" name="Google Shape;433;p31"/>
          <p:cNvSpPr txBox="1">
            <a:spLocks noGrp="1"/>
          </p:cNvSpPr>
          <p:nvPr>
            <p:ph type="subTitle" idx="1"/>
          </p:nvPr>
        </p:nvSpPr>
        <p:spPr>
          <a:xfrm>
            <a:off x="155575" y="3135086"/>
            <a:ext cx="6367145" cy="1318927"/>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indent="0"/>
            <a:endParaRPr lang="ru-RU" dirty="0" smtClean="0"/>
          </a:p>
          <a:p>
            <a:pPr marL="0" indent="0"/>
            <a:r>
              <a:rPr lang="ru-RU" dirty="0" smtClean="0"/>
              <a:t>Правовая </a:t>
            </a:r>
            <a:r>
              <a:rPr lang="ru-RU" dirty="0"/>
              <a:t>система Российской Федерации — сложнейший комплекс элементов, структур, норм, правосознания, традиций, образов национально-исторической, технико-юридической, социально-психологической природы</a:t>
            </a:r>
            <a:r>
              <a:rPr lang="ru-RU" dirty="0" smtClean="0"/>
              <a:t>.</a:t>
            </a:r>
            <a:endParaRPr lang="ru-RU" dirty="0"/>
          </a:p>
        </p:txBody>
      </p:sp>
      <p:sp>
        <p:nvSpPr>
          <p:cNvPr id="4" name="AutoShape 2" descr="Беззаконный Запад: как рушилась европейская правовая система"/>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1" name="Google Shape;433;p31"/>
          <p:cNvSpPr txBox="1">
            <a:spLocks noGrp="1"/>
          </p:cNvSpPr>
          <p:nvPr>
            <p:ph type="subTitle" idx="1"/>
          </p:nvPr>
        </p:nvSpPr>
        <p:spPr>
          <a:xfrm>
            <a:off x="155575" y="1448060"/>
            <a:ext cx="8208779" cy="1453415"/>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lvl="0" indent="0"/>
            <a:r>
              <a:rPr lang="ru-RU" dirty="0" smtClean="0"/>
              <a:t>Правовая система </a:t>
            </a:r>
            <a:r>
              <a:rPr lang="ru-RU" dirty="0"/>
              <a:t>— </a:t>
            </a:r>
            <a:r>
              <a:rPr lang="ru-RU" dirty="0" smtClean="0"/>
              <a:t> это совокупность</a:t>
            </a:r>
            <a:r>
              <a:rPr lang="ru-RU" dirty="0"/>
              <a:t> системы права, правосознания и правовой практики (</a:t>
            </a:r>
            <a:r>
              <a:rPr lang="ru-RU" dirty="0" err="1"/>
              <a:t>правореализации</a:t>
            </a:r>
            <a:r>
              <a:rPr lang="ru-RU" dirty="0"/>
              <a:t>). </a:t>
            </a:r>
            <a:endParaRPr lang="ru-RU" dirty="0" smtClean="0"/>
          </a:p>
          <a:p>
            <a:pPr marL="0" lvl="0" indent="0"/>
            <a:r>
              <a:rPr lang="ru-RU" dirty="0" smtClean="0"/>
              <a:t>Понятие </a:t>
            </a:r>
            <a:r>
              <a:rPr lang="ru-RU" dirty="0"/>
              <a:t>правовой системы часто используется, чтобы обозначить всё связанное с правом в определённой стране, охарактеризовать историко-правовые и культурные отличия права разных государств и народов</a:t>
            </a:r>
            <a:r>
              <a:rPr lang="ru-RU" dirty="0" smtClean="0"/>
              <a:t>.</a:t>
            </a:r>
          </a:p>
        </p:txBody>
      </p:sp>
      <p:sp>
        <p:nvSpPr>
          <p:cNvPr id="13" name="Google Shape;421;p31"/>
          <p:cNvSpPr txBox="1">
            <a:spLocks noGrp="1"/>
          </p:cNvSpPr>
          <p:nvPr>
            <p:ph type="title"/>
          </p:nvPr>
        </p:nvSpPr>
        <p:spPr>
          <a:xfrm>
            <a:off x="2906830" y="160338"/>
            <a:ext cx="2916456" cy="572700"/>
          </a:xfrm>
          <a:prstGeom prst="rect">
            <a:avLst/>
          </a:prstGeom>
          <a:solidFill>
            <a:srgbClr val="6E537D"/>
          </a:solidFill>
        </p:spPr>
        <p:style>
          <a:lnRef idx="2">
            <a:schemeClr val="accent1">
              <a:shade val="50000"/>
            </a:schemeClr>
          </a:lnRef>
          <a:fillRef idx="1">
            <a:schemeClr val="accent1"/>
          </a:fillRef>
          <a:effectRef idx="0">
            <a:schemeClr val="accent1"/>
          </a:effectRef>
          <a:fontRef idx="minor">
            <a:schemeClr val="lt1"/>
          </a:fontRef>
        </p:style>
        <p:txBody>
          <a:bodyPr spcFirstLastPara="1" wrap="square" lIns="91425" tIns="91425" rIns="91425" bIns="91425" anchor="t" anchorCtr="0">
            <a:noAutofit/>
          </a:bodyPr>
          <a:lstStyle/>
          <a:p>
            <a:pPr lvl="0"/>
            <a:r>
              <a:rPr lang="ru-RU" sz="2400" dirty="0" smtClean="0">
                <a:solidFill>
                  <a:schemeClr val="bg1"/>
                </a:solidFill>
              </a:rPr>
              <a:t>Введение </a:t>
            </a:r>
            <a:endParaRPr lang="ru-RU" sz="2400" dirty="0">
              <a:solidFill>
                <a:schemeClr val="bg1"/>
              </a:solidFill>
            </a:endParaRPr>
          </a:p>
        </p:txBody>
      </p:sp>
      <p:grpSp>
        <p:nvGrpSpPr>
          <p:cNvPr id="14" name="Google Shape;5100;p62"/>
          <p:cNvGrpSpPr/>
          <p:nvPr/>
        </p:nvGrpSpPr>
        <p:grpSpPr>
          <a:xfrm>
            <a:off x="6812194" y="3314302"/>
            <a:ext cx="1633193" cy="1218138"/>
            <a:chOff x="-42994575" y="3950300"/>
            <a:chExt cx="319025" cy="317450"/>
          </a:xfrm>
        </p:grpSpPr>
        <p:sp>
          <p:nvSpPr>
            <p:cNvPr id="15" name="Google Shape;5101;p62"/>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102;p62"/>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103;p62"/>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Группа 11"/>
          <p:cNvGrpSpPr/>
          <p:nvPr/>
        </p:nvGrpSpPr>
        <p:grpSpPr>
          <a:xfrm>
            <a:off x="8140199" y="2346"/>
            <a:ext cx="1003801" cy="336960"/>
            <a:chOff x="0" y="0"/>
            <a:chExt cx="1003801" cy="336960"/>
          </a:xfrm>
        </p:grpSpPr>
        <p:sp>
          <p:nvSpPr>
            <p:cNvPr id="18" name="Скругленный прямоугольник 17"/>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9"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3</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5207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201" y="749104"/>
            <a:ext cx="7436134" cy="3890272"/>
          </a:xfrm>
          <a:prstGeom prst="rect">
            <a:avLst/>
          </a:prstGeom>
          <a:ln/>
        </p:spPr>
        <p:style>
          <a:lnRef idx="2">
            <a:schemeClr val="accent2">
              <a:shade val="50000"/>
            </a:schemeClr>
          </a:lnRef>
          <a:fillRef idx="1">
            <a:schemeClr val="accent2"/>
          </a:fillRef>
          <a:effectRef idx="0">
            <a:schemeClr val="accent2"/>
          </a:effectRef>
          <a:fontRef idx="minor">
            <a:schemeClr val="lt1"/>
          </a:fontRef>
        </p:style>
      </p:pic>
      <p:sp>
        <p:nvSpPr>
          <p:cNvPr id="8" name="Google Shape;411;p30"/>
          <p:cNvSpPr txBox="1">
            <a:spLocks noGrp="1"/>
          </p:cNvSpPr>
          <p:nvPr>
            <p:ph type="title"/>
          </p:nvPr>
        </p:nvSpPr>
        <p:spPr>
          <a:xfrm>
            <a:off x="182880" y="164600"/>
            <a:ext cx="7594333" cy="538744"/>
          </a:xfrm>
          <a:prstGeom prst="rect">
            <a:avLst/>
          </a:prstGeom>
        </p:spPr>
        <p:txBody>
          <a:bodyPr spcFirstLastPara="1" wrap="square" lIns="91425" tIns="91425" rIns="91425" bIns="91425" anchor="t" anchorCtr="0">
            <a:noAutofit/>
          </a:bodyPr>
          <a:lstStyle/>
          <a:p>
            <a:pPr lvl="0" algn="ctr"/>
            <a:r>
              <a:rPr lang="ru-RU" sz="2800" dirty="0" smtClean="0"/>
              <a:t>Территория  Российской Федерации</a:t>
            </a:r>
            <a:endParaRPr sz="2800" dirty="0"/>
          </a:p>
        </p:txBody>
      </p:sp>
      <p:grpSp>
        <p:nvGrpSpPr>
          <p:cNvPr id="4" name="Группа 3"/>
          <p:cNvGrpSpPr/>
          <p:nvPr/>
        </p:nvGrpSpPr>
        <p:grpSpPr>
          <a:xfrm>
            <a:off x="8140199" y="2346"/>
            <a:ext cx="1003801" cy="336960"/>
            <a:chOff x="0" y="0"/>
            <a:chExt cx="1003801" cy="336960"/>
          </a:xfrm>
        </p:grpSpPr>
        <p:sp>
          <p:nvSpPr>
            <p:cNvPr id="5" name="Скругленный прямоугольник 4"/>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6"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4</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59874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739250" y="542142"/>
            <a:ext cx="7704000" cy="572700"/>
          </a:xfrm>
          <a:prstGeom prst="rect">
            <a:avLst/>
          </a:prstGeom>
        </p:spPr>
        <p:txBody>
          <a:bodyPr spcFirstLastPara="1" wrap="square" lIns="91425" tIns="91425" rIns="91425" bIns="91425" anchor="t" anchorCtr="0">
            <a:noAutofit/>
          </a:bodyPr>
          <a:lstStyle/>
          <a:p>
            <a:pPr lvl="0"/>
            <a:r>
              <a:rPr lang="ru-RU" sz="2400" dirty="0" smtClean="0"/>
              <a:t>1. Правовая </a:t>
            </a:r>
            <a:r>
              <a:rPr lang="ru-RU" sz="2400" dirty="0"/>
              <a:t>система Российской Федерации</a:t>
            </a:r>
          </a:p>
        </p:txBody>
      </p:sp>
      <p:sp>
        <p:nvSpPr>
          <p:cNvPr id="433" name="Google Shape;433;p31"/>
          <p:cNvSpPr txBox="1">
            <a:spLocks noGrp="1"/>
          </p:cNvSpPr>
          <p:nvPr>
            <p:ph type="subTitle" idx="1"/>
          </p:nvPr>
        </p:nvSpPr>
        <p:spPr>
          <a:xfrm>
            <a:off x="3840480" y="1155031"/>
            <a:ext cx="4581626" cy="2650363"/>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b" anchorCtr="0">
            <a:noAutofit/>
          </a:bodyPr>
          <a:lstStyle/>
          <a:p>
            <a:pPr marL="0" indent="0"/>
            <a:r>
              <a:rPr lang="ru-RU" dirty="0"/>
              <a:t>Во второй половине 1980-х </a:t>
            </a:r>
            <a:r>
              <a:rPr lang="ru-RU" dirty="0" smtClean="0"/>
              <a:t>— первой </a:t>
            </a:r>
            <a:r>
              <a:rPr lang="ru-RU" dirty="0"/>
              <a:t>половине 1990-х годов в России началось построение новой правовой системы. </a:t>
            </a:r>
            <a:r>
              <a:rPr lang="ru-RU" dirty="0" smtClean="0"/>
              <a:t> В </a:t>
            </a:r>
            <a:r>
              <a:rPr lang="ru-RU" dirty="0"/>
              <a:t>годы перестройки через многочисленные поправки к Конституции 1978 года </a:t>
            </a:r>
            <a:r>
              <a:rPr lang="ru-RU" dirty="0" smtClean="0"/>
              <a:t>осуществлено </a:t>
            </a:r>
            <a:r>
              <a:rPr lang="ru-RU" dirty="0"/>
              <a:t>признание политического плюрализма, принципа разделения властей, частной собственности и свободы предпринимательства. </a:t>
            </a:r>
          </a:p>
        </p:txBody>
      </p:sp>
      <p:sp>
        <p:nvSpPr>
          <p:cNvPr id="7" name="Google Shape;433;p31"/>
          <p:cNvSpPr txBox="1">
            <a:spLocks noGrp="1"/>
          </p:cNvSpPr>
          <p:nvPr>
            <p:ph type="subTitle" idx="1"/>
          </p:nvPr>
        </p:nvSpPr>
        <p:spPr>
          <a:xfrm>
            <a:off x="96255" y="3927106"/>
            <a:ext cx="8364351" cy="693019"/>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b" anchorCtr="0">
            <a:noAutofit/>
          </a:bodyPr>
          <a:lstStyle/>
          <a:p>
            <a:pPr marL="0" lvl="0" indent="0"/>
            <a:r>
              <a:rPr lang="ru-RU" dirty="0">
                <a:solidFill>
                  <a:schemeClr val="tx1"/>
                </a:solidFill>
              </a:rPr>
              <a:t>С распадом СССР в 1991 году образовалась Российская Федерация </a:t>
            </a:r>
          </a:p>
          <a:p>
            <a:pPr marL="0" lvl="0" indent="0"/>
            <a:r>
              <a:rPr lang="ru-RU" dirty="0">
                <a:solidFill>
                  <a:schemeClr val="tx1"/>
                </a:solidFill>
              </a:rPr>
              <a:t>как суверенное государство</a:t>
            </a:r>
            <a:r>
              <a:rPr lang="ru-RU" dirty="0" smtClean="0">
                <a:solidFill>
                  <a:schemeClr val="tx1"/>
                </a:solidFill>
              </a:rPr>
              <a:t>.</a:t>
            </a:r>
            <a:endParaRPr lang="ru-RU" dirty="0"/>
          </a:p>
        </p:txBody>
      </p:sp>
      <p:sp>
        <p:nvSpPr>
          <p:cNvPr id="6" name="Google Shape;421;p31"/>
          <p:cNvSpPr txBox="1">
            <a:spLocks noGrp="1"/>
          </p:cNvSpPr>
          <p:nvPr>
            <p:ph type="title"/>
          </p:nvPr>
        </p:nvSpPr>
        <p:spPr>
          <a:xfrm>
            <a:off x="2293133" y="0"/>
            <a:ext cx="3570973" cy="572700"/>
          </a:xfrm>
          <a:prstGeom prst="rect">
            <a:avLst/>
          </a:prstGeom>
          <a:solidFill>
            <a:srgbClr val="6E537D"/>
          </a:solidFill>
        </p:spPr>
        <p:style>
          <a:lnRef idx="2">
            <a:schemeClr val="accent1">
              <a:shade val="50000"/>
            </a:schemeClr>
          </a:lnRef>
          <a:fillRef idx="1">
            <a:schemeClr val="accent1"/>
          </a:fillRef>
          <a:effectRef idx="0">
            <a:schemeClr val="accent1"/>
          </a:effectRef>
          <a:fontRef idx="minor">
            <a:schemeClr val="lt1"/>
          </a:fontRef>
        </p:style>
        <p:txBody>
          <a:bodyPr spcFirstLastPara="1" wrap="square" lIns="91425" tIns="91425" rIns="91425" bIns="91425" anchor="t" anchorCtr="0">
            <a:noAutofit/>
          </a:bodyPr>
          <a:lstStyle/>
          <a:p>
            <a:pPr lvl="0"/>
            <a:r>
              <a:rPr lang="ru-RU" sz="2400" dirty="0" smtClean="0">
                <a:solidFill>
                  <a:schemeClr val="bg1"/>
                </a:solidFill>
              </a:rPr>
              <a:t>Основная часть </a:t>
            </a:r>
            <a:endParaRPr lang="ru-RU" sz="2400" dirty="0">
              <a:solidFill>
                <a:schemeClr val="bg1"/>
              </a:solidFill>
            </a:endParaRPr>
          </a:p>
        </p:txBody>
      </p:sp>
      <p:pic>
        <p:nvPicPr>
          <p:cNvPr id="8" name="Picture 4" descr="Флаг России с гербом и надписью &quot;Россия&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021" y="1153344"/>
            <a:ext cx="3439652" cy="2291668"/>
          </a:xfrm>
          <a:prstGeom prst="rect">
            <a:avLst/>
          </a:prstGeom>
        </p:spPr>
        <p:style>
          <a:lnRef idx="3">
            <a:schemeClr val="lt1"/>
          </a:lnRef>
          <a:fillRef idx="1">
            <a:schemeClr val="accent2"/>
          </a:fillRef>
          <a:effectRef idx="1">
            <a:schemeClr val="accent2"/>
          </a:effectRef>
          <a:fontRef idx="minor">
            <a:schemeClr val="lt1"/>
          </a:fontRef>
        </p:style>
      </p:pic>
      <p:sp>
        <p:nvSpPr>
          <p:cNvPr id="3" name="Прямоугольник 2"/>
          <p:cNvSpPr/>
          <p:nvPr/>
        </p:nvSpPr>
        <p:spPr>
          <a:xfrm>
            <a:off x="96254" y="3486266"/>
            <a:ext cx="3614792" cy="276999"/>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pPr fontAlgn="base"/>
            <a:r>
              <a:rPr lang="ru-RU" sz="1200" b="1" dirty="0">
                <a:solidFill>
                  <a:srgbClr val="002060"/>
                </a:solidFill>
              </a:rPr>
              <a:t>Флаг России с гербом и надписью "Россия"</a:t>
            </a:r>
          </a:p>
        </p:txBody>
      </p:sp>
      <p:grpSp>
        <p:nvGrpSpPr>
          <p:cNvPr id="9" name="Группа 8"/>
          <p:cNvGrpSpPr/>
          <p:nvPr/>
        </p:nvGrpSpPr>
        <p:grpSpPr>
          <a:xfrm>
            <a:off x="8140199" y="2346"/>
            <a:ext cx="1003801" cy="336960"/>
            <a:chOff x="0" y="0"/>
            <a:chExt cx="1003801" cy="336960"/>
          </a:xfrm>
        </p:grpSpPr>
        <p:sp>
          <p:nvSpPr>
            <p:cNvPr id="10" name="Скругленный прямоугольник 9"/>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1"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5</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71432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142484" y="262144"/>
            <a:ext cx="7704000" cy="892887"/>
          </a:xfrm>
          <a:prstGeom prst="rect">
            <a:avLst/>
          </a:prstGeom>
        </p:spPr>
        <p:txBody>
          <a:bodyPr spcFirstLastPara="1" wrap="square" lIns="91425" tIns="91425" rIns="91425" bIns="91425" anchor="t" anchorCtr="0">
            <a:noAutofit/>
          </a:bodyPr>
          <a:lstStyle/>
          <a:p>
            <a:pPr lvl="0" algn="l"/>
            <a:r>
              <a:rPr lang="ru-RU" sz="2400" dirty="0">
                <a:solidFill>
                  <a:srgbClr val="C00000"/>
                </a:solidFill>
              </a:rPr>
              <a:t>Конституция Российской Федерации </a:t>
            </a:r>
            <a:r>
              <a:rPr lang="ru-RU" sz="2400" dirty="0" smtClean="0"/>
              <a:t>–</a:t>
            </a:r>
            <a:br>
              <a:rPr lang="ru-RU" sz="2400" dirty="0" smtClean="0"/>
            </a:br>
            <a:r>
              <a:rPr lang="ru-RU" sz="2400" dirty="0" smtClean="0"/>
              <a:t>высший </a:t>
            </a:r>
            <a:r>
              <a:rPr lang="ru-RU" sz="2400" dirty="0"/>
              <a:t>нормативный правовой </a:t>
            </a:r>
            <a:r>
              <a:rPr lang="ru-RU" sz="2400" dirty="0" smtClean="0"/>
              <a:t>акт</a:t>
            </a:r>
            <a:endParaRPr lang="ru-RU" sz="2400" dirty="0"/>
          </a:p>
        </p:txBody>
      </p:sp>
      <p:sp>
        <p:nvSpPr>
          <p:cNvPr id="427" name="Google Shape;427;p31"/>
          <p:cNvSpPr txBox="1">
            <a:spLocks noGrp="1"/>
          </p:cNvSpPr>
          <p:nvPr>
            <p:ph type="subTitle" idx="13"/>
          </p:nvPr>
        </p:nvSpPr>
        <p:spPr>
          <a:xfrm>
            <a:off x="202130" y="1357162"/>
            <a:ext cx="5322771" cy="3180475"/>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lvl="0" indent="0"/>
            <a:r>
              <a:rPr lang="ru-RU" i="1" dirty="0"/>
              <a:t>22 ноября 1991 </a:t>
            </a:r>
            <a:r>
              <a:rPr lang="ru-RU" i="1" dirty="0" smtClean="0"/>
              <a:t>года</a:t>
            </a:r>
          </a:p>
          <a:p>
            <a:pPr marL="0" lvl="0" indent="0"/>
            <a:r>
              <a:rPr lang="ru-RU" dirty="0" smtClean="0"/>
              <a:t>в РСФСР</a:t>
            </a:r>
            <a:r>
              <a:rPr lang="ru-RU" dirty="0"/>
              <a:t> </a:t>
            </a:r>
            <a:r>
              <a:rPr lang="ru-RU" dirty="0" smtClean="0"/>
              <a:t>ратифицирована</a:t>
            </a:r>
            <a:r>
              <a:rPr lang="ru-RU" dirty="0"/>
              <a:t> Декларация прав и свобод человека и гражданина</a:t>
            </a:r>
            <a:r>
              <a:rPr lang="ru-RU" dirty="0" smtClean="0"/>
              <a:t>.</a:t>
            </a:r>
          </a:p>
          <a:p>
            <a:pPr marL="0" lvl="0" indent="0"/>
            <a:r>
              <a:rPr lang="ru-RU" i="1" dirty="0" smtClean="0"/>
              <a:t>12 декабря 1993 года</a:t>
            </a:r>
            <a:r>
              <a:rPr lang="ru-RU" dirty="0" smtClean="0"/>
              <a:t> всенародным голосованием была принята новая </a:t>
            </a:r>
            <a:r>
              <a:rPr lang="ru-RU" dirty="0" smtClean="0">
                <a:solidFill>
                  <a:srgbClr val="C00000"/>
                </a:solidFill>
              </a:rPr>
              <a:t>Конституция </a:t>
            </a:r>
            <a:r>
              <a:rPr lang="ru-RU" dirty="0">
                <a:solidFill>
                  <a:srgbClr val="C00000"/>
                </a:solidFill>
              </a:rPr>
              <a:t>Российской </a:t>
            </a:r>
            <a:r>
              <a:rPr lang="ru-RU" dirty="0" smtClean="0">
                <a:solidFill>
                  <a:srgbClr val="C00000"/>
                </a:solidFill>
              </a:rPr>
              <a:t>Федерации</a:t>
            </a:r>
            <a:r>
              <a:rPr lang="ru-RU" dirty="0" smtClean="0">
                <a:solidFill>
                  <a:schemeClr val="tx1"/>
                </a:solidFill>
              </a:rPr>
              <a:t>, которая </a:t>
            </a:r>
            <a:r>
              <a:rPr lang="ru-RU" dirty="0" smtClean="0"/>
              <a:t>вступила </a:t>
            </a:r>
            <a:r>
              <a:rPr lang="ru-RU" dirty="0"/>
              <a:t>в силу </a:t>
            </a:r>
            <a:r>
              <a:rPr lang="ru-RU" i="1" dirty="0"/>
              <a:t>25 декабря 1993 </a:t>
            </a:r>
            <a:r>
              <a:rPr lang="ru-RU" i="1" dirty="0" smtClean="0"/>
              <a:t>года</a:t>
            </a:r>
            <a:r>
              <a:rPr lang="ru-RU" dirty="0" smtClean="0"/>
              <a:t>.</a:t>
            </a:r>
          </a:p>
          <a:p>
            <a:pPr marL="0" indent="0"/>
            <a:r>
              <a:rPr lang="ru-RU" dirty="0"/>
              <a:t>Конституция является первоисточником права в РФ, принципам которой должны соответствовать все остальные правовые нормы (часть 1 статьи 15 Конституции РФ). </a:t>
            </a:r>
          </a:p>
        </p:txBody>
      </p:sp>
      <p:pic>
        <p:nvPicPr>
          <p:cNvPr id="1026" name="Picture 2" descr="Специальный экземпляр текста Конституции Российской Федерации, на котором приносит присягу Президент Российской Федерации"/>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8528" y="1068404"/>
            <a:ext cx="2627963" cy="3309777"/>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p:cNvSpPr/>
          <p:nvPr/>
        </p:nvSpPr>
        <p:spPr>
          <a:xfrm>
            <a:off x="5621152" y="4460634"/>
            <a:ext cx="3445844" cy="600164"/>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ru-RU" sz="1100" b="1" dirty="0">
                <a:solidFill>
                  <a:schemeClr val="tx1"/>
                </a:solidFill>
              </a:rPr>
              <a:t>Специальный экземпляр текста Конституции Российской Федерации, на котором </a:t>
            </a:r>
            <a:r>
              <a:rPr lang="ru-RU" sz="1100" b="1" dirty="0" smtClean="0">
                <a:solidFill>
                  <a:schemeClr val="tx1"/>
                </a:solidFill>
              </a:rPr>
              <a:t>приносит присягу Президент Российской Федерации</a:t>
            </a:r>
            <a:endParaRPr lang="ru-RU" sz="1100" b="1" dirty="0">
              <a:solidFill>
                <a:schemeClr val="tx1"/>
              </a:solidFill>
            </a:endParaRPr>
          </a:p>
        </p:txBody>
      </p:sp>
      <p:grpSp>
        <p:nvGrpSpPr>
          <p:cNvPr id="6" name="Группа 5"/>
          <p:cNvGrpSpPr/>
          <p:nvPr/>
        </p:nvGrpSpPr>
        <p:grpSpPr>
          <a:xfrm>
            <a:off x="8140199" y="2346"/>
            <a:ext cx="1003801" cy="336960"/>
            <a:chOff x="0" y="0"/>
            <a:chExt cx="1003801" cy="336960"/>
          </a:xfrm>
        </p:grpSpPr>
        <p:sp>
          <p:nvSpPr>
            <p:cNvPr id="7" name="Скругленный прямоугольник 6"/>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8"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6</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242731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8" name="Google Shape;411;p30"/>
          <p:cNvSpPr txBox="1">
            <a:spLocks noGrp="1"/>
          </p:cNvSpPr>
          <p:nvPr>
            <p:ph type="title"/>
          </p:nvPr>
        </p:nvSpPr>
        <p:spPr>
          <a:xfrm>
            <a:off x="102814" y="0"/>
            <a:ext cx="7729086" cy="751830"/>
          </a:xfrm>
          <a:prstGeom prst="rect">
            <a:avLst/>
          </a:prstGeom>
        </p:spPr>
        <p:txBody>
          <a:bodyPr spcFirstLastPara="1" wrap="square" lIns="91425" tIns="91425" rIns="91425" bIns="91425" anchor="t" anchorCtr="0">
            <a:noAutofit/>
          </a:bodyPr>
          <a:lstStyle/>
          <a:p>
            <a:pPr lvl="0" algn="ctr"/>
            <a:r>
              <a:rPr lang="ru-RU" sz="2400" dirty="0" smtClean="0"/>
              <a:t>Система законодательства</a:t>
            </a:r>
            <a:br>
              <a:rPr lang="ru-RU" sz="2400" dirty="0" smtClean="0"/>
            </a:br>
            <a:r>
              <a:rPr lang="ru-RU" sz="2000" dirty="0" smtClean="0"/>
              <a:t>(</a:t>
            </a:r>
            <a:r>
              <a:rPr lang="ru-RU" sz="2000" dirty="0"/>
              <a:t>структура </a:t>
            </a:r>
            <a:r>
              <a:rPr lang="ru-RU" sz="2000" dirty="0" smtClean="0"/>
              <a:t>нормативно-правовых актов</a:t>
            </a:r>
            <a:r>
              <a:rPr lang="ru-RU" sz="2000" dirty="0"/>
              <a:t>) Российской Федерации</a:t>
            </a:r>
            <a:br>
              <a:rPr lang="ru-RU" sz="2000" dirty="0"/>
            </a:br>
            <a:endParaRPr sz="2000" dirty="0"/>
          </a:p>
        </p:txBody>
      </p:sp>
      <p:grpSp>
        <p:nvGrpSpPr>
          <p:cNvPr id="4" name="Google Shape;4512;p60"/>
          <p:cNvGrpSpPr/>
          <p:nvPr/>
        </p:nvGrpSpPr>
        <p:grpSpPr>
          <a:xfrm>
            <a:off x="209232" y="863290"/>
            <a:ext cx="7478828" cy="3694071"/>
            <a:chOff x="4351371" y="3547942"/>
            <a:chExt cx="1362668" cy="843475"/>
          </a:xfrm>
        </p:grpSpPr>
        <p:grpSp>
          <p:nvGrpSpPr>
            <p:cNvPr id="5" name="Google Shape;4513;p60"/>
            <p:cNvGrpSpPr/>
            <p:nvPr/>
          </p:nvGrpSpPr>
          <p:grpSpPr>
            <a:xfrm>
              <a:off x="4351371" y="4209917"/>
              <a:ext cx="1345130" cy="181500"/>
              <a:chOff x="4351371" y="4209917"/>
              <a:chExt cx="1345130" cy="181500"/>
            </a:xfrm>
          </p:grpSpPr>
          <p:sp>
            <p:nvSpPr>
              <p:cNvPr id="16" name="Google Shape;4514;p60"/>
              <p:cNvSpPr/>
              <p:nvPr/>
            </p:nvSpPr>
            <p:spPr>
              <a:xfrm rot="10800000">
                <a:off x="4351371" y="4209917"/>
                <a:ext cx="1281600" cy="181500"/>
              </a:xfrm>
              <a:prstGeom prst="rect">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 name="Google Shape;4515;p60"/>
              <p:cNvCxnSpPr/>
              <p:nvPr/>
            </p:nvCxnSpPr>
            <p:spPr>
              <a:xfrm>
                <a:off x="5551000" y="4298797"/>
                <a:ext cx="145500" cy="0"/>
              </a:xfrm>
              <a:prstGeom prst="straightConnector1">
                <a:avLst/>
              </a:prstGeom>
              <a:noFill/>
              <a:ln w="28575" cap="flat" cmpd="sng">
                <a:solidFill>
                  <a:srgbClr val="435D74"/>
                </a:solidFill>
                <a:prstDash val="solid"/>
                <a:round/>
                <a:headEnd type="none" w="med" len="med"/>
                <a:tailEnd type="none" w="med" len="med"/>
              </a:ln>
            </p:spPr>
          </p:cxnSp>
        </p:grpSp>
        <p:grpSp>
          <p:nvGrpSpPr>
            <p:cNvPr id="6" name="Google Shape;4516;p60"/>
            <p:cNvGrpSpPr/>
            <p:nvPr/>
          </p:nvGrpSpPr>
          <p:grpSpPr>
            <a:xfrm>
              <a:off x="4403010" y="3985221"/>
              <a:ext cx="1311029" cy="181500"/>
              <a:chOff x="4403010" y="3985221"/>
              <a:chExt cx="1311029" cy="181500"/>
            </a:xfrm>
          </p:grpSpPr>
          <p:sp>
            <p:nvSpPr>
              <p:cNvPr id="14" name="Google Shape;4517;p60"/>
              <p:cNvSpPr/>
              <p:nvPr/>
            </p:nvSpPr>
            <p:spPr>
              <a:xfrm rot="10800000">
                <a:off x="4471829" y="3985221"/>
                <a:ext cx="1242210" cy="1815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4518;p60"/>
              <p:cNvCxnSpPr/>
              <p:nvPr/>
            </p:nvCxnSpPr>
            <p:spPr>
              <a:xfrm>
                <a:off x="4403010" y="4075993"/>
                <a:ext cx="145500" cy="0"/>
              </a:xfrm>
              <a:prstGeom prst="straightConnector1">
                <a:avLst/>
              </a:prstGeom>
              <a:noFill/>
              <a:ln w="28575" cap="flat" cmpd="sng">
                <a:solidFill>
                  <a:srgbClr val="5F7D95"/>
                </a:solidFill>
                <a:prstDash val="solid"/>
                <a:round/>
                <a:headEnd type="none" w="med" len="med"/>
                <a:tailEnd type="none" w="med" len="med"/>
              </a:ln>
            </p:spPr>
          </p:cxnSp>
        </p:grpSp>
        <p:grpSp>
          <p:nvGrpSpPr>
            <p:cNvPr id="7" name="Google Shape;4519;p60"/>
            <p:cNvGrpSpPr/>
            <p:nvPr/>
          </p:nvGrpSpPr>
          <p:grpSpPr>
            <a:xfrm>
              <a:off x="4565789" y="3766582"/>
              <a:ext cx="1057961" cy="181500"/>
              <a:chOff x="4565789" y="3766582"/>
              <a:chExt cx="1057961" cy="181500"/>
            </a:xfrm>
          </p:grpSpPr>
          <p:sp>
            <p:nvSpPr>
              <p:cNvPr id="12" name="Google Shape;4520;p60"/>
              <p:cNvSpPr/>
              <p:nvPr/>
            </p:nvSpPr>
            <p:spPr>
              <a:xfrm rot="10800000">
                <a:off x="4565789" y="3766582"/>
                <a:ext cx="1057961" cy="181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 name="Google Shape;4521;p60"/>
              <p:cNvCxnSpPr/>
              <p:nvPr/>
            </p:nvCxnSpPr>
            <p:spPr>
              <a:xfrm flipV="1">
                <a:off x="5365704" y="3855291"/>
                <a:ext cx="60858" cy="2041"/>
              </a:xfrm>
              <a:prstGeom prst="straightConnector1">
                <a:avLst/>
              </a:prstGeom>
              <a:noFill/>
              <a:ln w="28575" cap="flat" cmpd="sng">
                <a:solidFill>
                  <a:srgbClr val="869FB2"/>
                </a:solidFill>
                <a:prstDash val="solid"/>
                <a:round/>
                <a:headEnd type="none" w="med" len="med"/>
                <a:tailEnd type="none" w="med" len="med"/>
              </a:ln>
            </p:spPr>
          </p:cxnSp>
        </p:grpSp>
        <p:grpSp>
          <p:nvGrpSpPr>
            <p:cNvPr id="9" name="Google Shape;4522;p60"/>
            <p:cNvGrpSpPr/>
            <p:nvPr/>
          </p:nvGrpSpPr>
          <p:grpSpPr>
            <a:xfrm>
              <a:off x="4735238" y="3547942"/>
              <a:ext cx="630466" cy="181500"/>
              <a:chOff x="4735238" y="3547942"/>
              <a:chExt cx="630466" cy="181500"/>
            </a:xfrm>
          </p:grpSpPr>
          <p:sp>
            <p:nvSpPr>
              <p:cNvPr id="10" name="Google Shape;4523;p60"/>
              <p:cNvSpPr/>
              <p:nvPr/>
            </p:nvSpPr>
            <p:spPr>
              <a:xfrm rot="10800000">
                <a:off x="4786477" y="3547942"/>
                <a:ext cx="579227" cy="181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4524;p60"/>
              <p:cNvCxnSpPr/>
              <p:nvPr/>
            </p:nvCxnSpPr>
            <p:spPr>
              <a:xfrm>
                <a:off x="4735238" y="3636872"/>
                <a:ext cx="145500" cy="0"/>
              </a:xfrm>
              <a:prstGeom prst="straightConnector1">
                <a:avLst/>
              </a:prstGeom>
              <a:noFill/>
              <a:ln w="28575" cap="flat" cmpd="sng">
                <a:solidFill>
                  <a:srgbClr val="BAC8D3"/>
                </a:solidFill>
                <a:prstDash val="solid"/>
                <a:round/>
                <a:headEnd type="none" w="med" len="med"/>
                <a:tailEnd type="none" w="med" len="med"/>
              </a:ln>
            </p:spPr>
          </p:cxnSp>
        </p:grpSp>
      </p:grpSp>
      <p:sp>
        <p:nvSpPr>
          <p:cNvPr id="2" name="Прямоугольник 1"/>
          <p:cNvSpPr/>
          <p:nvPr/>
        </p:nvSpPr>
        <p:spPr>
          <a:xfrm>
            <a:off x="3062825" y="1050765"/>
            <a:ext cx="2211819" cy="400110"/>
          </a:xfrm>
          <a:prstGeom prst="rect">
            <a:avLst/>
          </a:prstGeom>
        </p:spPr>
        <p:txBody>
          <a:bodyPr wrap="square">
            <a:spAutoFit/>
          </a:bodyPr>
          <a:lstStyle/>
          <a:p>
            <a:pPr algn="ctr"/>
            <a:r>
              <a:rPr lang="ru-RU" sz="2000" b="1" dirty="0"/>
              <a:t>Конституция</a:t>
            </a:r>
            <a:endParaRPr lang="ru-RU" sz="2000" dirty="0"/>
          </a:p>
        </p:txBody>
      </p:sp>
      <p:sp>
        <p:nvSpPr>
          <p:cNvPr id="3" name="Прямоугольник 2"/>
          <p:cNvSpPr/>
          <p:nvPr/>
        </p:nvSpPr>
        <p:spPr>
          <a:xfrm>
            <a:off x="1386038" y="1872053"/>
            <a:ext cx="5806482" cy="646331"/>
          </a:xfrm>
          <a:prstGeom prst="rect">
            <a:avLst/>
          </a:prstGeom>
        </p:spPr>
        <p:txBody>
          <a:bodyPr wrap="square">
            <a:spAutoFit/>
          </a:bodyPr>
          <a:lstStyle/>
          <a:p>
            <a:pPr algn="ctr"/>
            <a:r>
              <a:rPr lang="ru-RU" sz="2000" b="1" dirty="0" smtClean="0"/>
              <a:t>Законы (</a:t>
            </a:r>
            <a:r>
              <a:rPr lang="ru-RU" sz="1600" b="1" dirty="0" smtClean="0"/>
              <a:t>Федеральные конституционные, </a:t>
            </a:r>
            <a:r>
              <a:rPr lang="ru-RU" sz="1600" b="1" dirty="0"/>
              <a:t>федеральные, законы о поправках к Конституции РФ </a:t>
            </a:r>
            <a:r>
              <a:rPr lang="ru-RU" sz="1600" b="1" dirty="0" smtClean="0"/>
              <a:t>)</a:t>
            </a:r>
            <a:endParaRPr lang="ru-RU" sz="1600" dirty="0"/>
          </a:p>
        </p:txBody>
      </p:sp>
      <p:sp>
        <p:nvSpPr>
          <p:cNvPr id="18" name="Прямоугольник 17"/>
          <p:cNvSpPr/>
          <p:nvPr/>
        </p:nvSpPr>
        <p:spPr>
          <a:xfrm>
            <a:off x="1207388" y="2778391"/>
            <a:ext cx="5944347" cy="646331"/>
          </a:xfrm>
          <a:prstGeom prst="rect">
            <a:avLst/>
          </a:prstGeom>
        </p:spPr>
        <p:txBody>
          <a:bodyPr wrap="square">
            <a:spAutoFit/>
          </a:bodyPr>
          <a:lstStyle/>
          <a:p>
            <a:pPr algn="ctr"/>
            <a:r>
              <a:rPr lang="ru-RU" sz="2000" b="1" dirty="0"/>
              <a:t>Подзаконные </a:t>
            </a:r>
            <a:r>
              <a:rPr lang="ru-RU" sz="2000" b="1" dirty="0" smtClean="0"/>
              <a:t>акты </a:t>
            </a:r>
          </a:p>
          <a:p>
            <a:pPr algn="ctr"/>
            <a:r>
              <a:rPr lang="ru-RU" sz="1600" b="1" dirty="0" smtClean="0"/>
              <a:t>(</a:t>
            </a:r>
            <a:r>
              <a:rPr lang="ru-RU" sz="1600" b="1" dirty="0"/>
              <a:t>Указы, Постановления, Распоряжения и т.д.)</a:t>
            </a:r>
            <a:endParaRPr lang="ru-RU" sz="1600" dirty="0"/>
          </a:p>
        </p:txBody>
      </p:sp>
      <p:sp>
        <p:nvSpPr>
          <p:cNvPr id="19" name="Прямоугольник 18"/>
          <p:cNvSpPr/>
          <p:nvPr/>
        </p:nvSpPr>
        <p:spPr>
          <a:xfrm>
            <a:off x="241148" y="3751016"/>
            <a:ext cx="7699694" cy="104644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ru-RU" sz="1600" b="1" dirty="0">
                <a:solidFill>
                  <a:schemeClr val="tx1"/>
                </a:solidFill>
              </a:rPr>
              <a:t>Стержень правовой системы </a:t>
            </a:r>
            <a:r>
              <a:rPr lang="ru-RU" sz="1600" b="1" dirty="0" smtClean="0">
                <a:solidFill>
                  <a:schemeClr val="tx1"/>
                </a:solidFill>
              </a:rPr>
              <a:t>-  </a:t>
            </a:r>
            <a:r>
              <a:rPr lang="ru-RU" sz="1600" b="1" dirty="0">
                <a:solidFill>
                  <a:schemeClr val="tx1"/>
                </a:solidFill>
              </a:rPr>
              <a:t>законы. </a:t>
            </a:r>
            <a:endParaRPr lang="ru-RU" sz="1600" b="1" dirty="0" smtClean="0">
              <a:solidFill>
                <a:schemeClr val="tx1"/>
              </a:solidFill>
            </a:endParaRPr>
          </a:p>
          <a:p>
            <a:pPr algn="ctr"/>
            <a:r>
              <a:rPr lang="ru-RU" sz="1600" b="1" dirty="0" smtClean="0">
                <a:solidFill>
                  <a:schemeClr val="tx1"/>
                </a:solidFill>
              </a:rPr>
              <a:t>В </a:t>
            </a:r>
            <a:r>
              <a:rPr lang="ru-RU" sz="1600" b="1" dirty="0">
                <a:solidFill>
                  <a:schemeClr val="tx1"/>
                </a:solidFill>
              </a:rPr>
              <a:t>России они принимаются Государственной Думой, одобряются Советом Федерации и подписываются </a:t>
            </a:r>
            <a:r>
              <a:rPr lang="ru-RU" sz="1600" b="1" dirty="0" smtClean="0">
                <a:solidFill>
                  <a:schemeClr val="tx1"/>
                </a:solidFill>
              </a:rPr>
              <a:t>Президентом</a:t>
            </a:r>
            <a:endParaRPr lang="ru-RU" b="1" dirty="0">
              <a:solidFill>
                <a:schemeClr val="tx1"/>
              </a:solidFill>
            </a:endParaRPr>
          </a:p>
          <a:p>
            <a:pPr algn="ctr"/>
            <a:r>
              <a:rPr lang="ru-RU" b="1" dirty="0"/>
              <a:t>                    </a:t>
            </a:r>
            <a:endParaRPr lang="ru-RU" dirty="0"/>
          </a:p>
        </p:txBody>
      </p:sp>
      <p:grpSp>
        <p:nvGrpSpPr>
          <p:cNvPr id="20" name="Группа 19"/>
          <p:cNvGrpSpPr/>
          <p:nvPr/>
        </p:nvGrpSpPr>
        <p:grpSpPr>
          <a:xfrm>
            <a:off x="8140199" y="2346"/>
            <a:ext cx="1003801" cy="336960"/>
            <a:chOff x="0" y="0"/>
            <a:chExt cx="1003801" cy="336960"/>
          </a:xfrm>
        </p:grpSpPr>
        <p:sp>
          <p:nvSpPr>
            <p:cNvPr id="21" name="Скругленный прямоугольник 20"/>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22"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7</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875544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2"/>
          <p:cNvSpPr txBox="1">
            <a:spLocks noGrp="1"/>
          </p:cNvSpPr>
          <p:nvPr>
            <p:ph type="title"/>
          </p:nvPr>
        </p:nvSpPr>
        <p:spPr>
          <a:xfrm>
            <a:off x="263334" y="240631"/>
            <a:ext cx="8255024" cy="519764"/>
          </a:xfrm>
          <a:prstGeom prst="rect">
            <a:avLst/>
          </a:prstGeom>
        </p:spPr>
        <p:txBody>
          <a:bodyPr spcFirstLastPara="1" wrap="square" lIns="91425" tIns="91425" rIns="91425" bIns="91425" anchor="b" anchorCtr="0">
            <a:noAutofit/>
          </a:bodyPr>
          <a:lstStyle/>
          <a:p>
            <a:pPr lvl="0" algn="ctr"/>
            <a:r>
              <a:rPr lang="ru-RU" sz="2400" dirty="0" smtClean="0"/>
              <a:t>Основные черты </a:t>
            </a:r>
            <a:r>
              <a:rPr lang="ru-RU" sz="2400" dirty="0"/>
              <a:t>российской правовой </a:t>
            </a:r>
            <a:r>
              <a:rPr lang="ru-RU" sz="2400" dirty="0" smtClean="0"/>
              <a:t>системы</a:t>
            </a:r>
            <a:endParaRPr sz="2400" dirty="0"/>
          </a:p>
        </p:txBody>
      </p:sp>
      <p:sp>
        <p:nvSpPr>
          <p:cNvPr id="439" name="Google Shape;439;p32"/>
          <p:cNvSpPr txBox="1">
            <a:spLocks noGrp="1"/>
          </p:cNvSpPr>
          <p:nvPr>
            <p:ph type="subTitle" idx="1"/>
          </p:nvPr>
        </p:nvSpPr>
        <p:spPr>
          <a:xfrm>
            <a:off x="394636" y="703437"/>
            <a:ext cx="8054781" cy="3092339"/>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t" anchorCtr="0">
            <a:noAutofit/>
          </a:bodyPr>
          <a:lstStyle/>
          <a:p>
            <a:pPr marL="0" indent="0">
              <a:buSzPts val="1100"/>
              <a:buNone/>
            </a:pPr>
            <a:r>
              <a:rPr lang="ru-RU" sz="2000" b="1" dirty="0"/>
              <a:t>Российская правовая система </a:t>
            </a:r>
            <a:r>
              <a:rPr lang="ru-RU" sz="2000" b="1" dirty="0" smtClean="0"/>
              <a:t>относится </a:t>
            </a:r>
            <a:r>
              <a:rPr lang="ru-RU" sz="2000" b="1" dirty="0"/>
              <a:t>к </a:t>
            </a:r>
            <a:r>
              <a:rPr lang="ru-RU" sz="2000" b="1" dirty="0" smtClean="0">
                <a:solidFill>
                  <a:srgbClr val="002060"/>
                </a:solidFill>
              </a:rPr>
              <a:t>романо-германской </a:t>
            </a:r>
            <a:r>
              <a:rPr lang="ru-RU" sz="2000" b="1" dirty="0">
                <a:solidFill>
                  <a:srgbClr val="002060"/>
                </a:solidFill>
              </a:rPr>
              <a:t>правовой </a:t>
            </a:r>
            <a:r>
              <a:rPr lang="ru-RU" sz="2000" b="1" dirty="0" smtClean="0">
                <a:solidFill>
                  <a:srgbClr val="002060"/>
                </a:solidFill>
              </a:rPr>
              <a:t>семье</a:t>
            </a:r>
            <a:r>
              <a:rPr lang="ru-RU" sz="2000" b="1" dirty="0" smtClean="0"/>
              <a:t>.</a:t>
            </a:r>
          </a:p>
          <a:p>
            <a:pPr marL="0" indent="0">
              <a:buSzPts val="1100"/>
              <a:buNone/>
            </a:pPr>
            <a:r>
              <a:rPr lang="ru-RU" sz="2000" b="1" dirty="0" smtClean="0"/>
              <a:t>Основными отличительными чертами которой, являются:</a:t>
            </a:r>
          </a:p>
          <a:p>
            <a:pPr marL="342900" indent="-342900">
              <a:lnSpc>
                <a:spcPct val="150000"/>
              </a:lnSpc>
              <a:buSzPts val="1100"/>
              <a:buFont typeface="Wingdings" panose="05000000000000000000" pitchFamily="2" charset="2"/>
              <a:buChar char="Ø"/>
            </a:pPr>
            <a:r>
              <a:rPr lang="ru-RU" sz="2000" b="1" dirty="0"/>
              <a:t>нормативная </a:t>
            </a:r>
            <a:r>
              <a:rPr lang="ru-RU" sz="2000" b="1" dirty="0" smtClean="0"/>
              <a:t>упорядоченность;  </a:t>
            </a:r>
            <a:endParaRPr lang="ru-RU" sz="2000" b="1" dirty="0"/>
          </a:p>
          <a:p>
            <a:pPr marL="342900" indent="-342900">
              <a:lnSpc>
                <a:spcPct val="150000"/>
              </a:lnSpc>
              <a:buSzPts val="1100"/>
              <a:buFont typeface="Wingdings" panose="05000000000000000000" pitchFamily="2" charset="2"/>
              <a:buChar char="Ø"/>
            </a:pPr>
            <a:r>
              <a:rPr lang="ru-RU" sz="2000" b="1" dirty="0"/>
              <a:t>структурированность  </a:t>
            </a:r>
            <a:r>
              <a:rPr lang="ru-RU" sz="2000" b="1" dirty="0" smtClean="0"/>
              <a:t>источников;  </a:t>
            </a:r>
            <a:endParaRPr lang="ru-RU" sz="2000" b="1" dirty="0"/>
          </a:p>
          <a:p>
            <a:pPr marL="342900" indent="-342900">
              <a:lnSpc>
                <a:spcPct val="150000"/>
              </a:lnSpc>
              <a:buSzPts val="1100"/>
              <a:buFont typeface="Wingdings" panose="05000000000000000000" pitchFamily="2" charset="2"/>
              <a:buChar char="Ø"/>
            </a:pPr>
            <a:r>
              <a:rPr lang="ru-RU" sz="2000" b="1" dirty="0"/>
              <a:t>устойчивые  демократические   правовые   </a:t>
            </a:r>
            <a:r>
              <a:rPr lang="ru-RU" sz="2000" b="1" dirty="0" smtClean="0"/>
              <a:t>принципы;</a:t>
            </a:r>
            <a:endParaRPr lang="ru-RU" sz="2000" b="1" dirty="0"/>
          </a:p>
          <a:p>
            <a:pPr marL="342900" indent="-342900">
              <a:lnSpc>
                <a:spcPct val="150000"/>
              </a:lnSpc>
              <a:buSzPts val="1100"/>
              <a:buFont typeface="Wingdings" panose="05000000000000000000" pitchFamily="2" charset="2"/>
              <a:buChar char="Ø"/>
            </a:pPr>
            <a:r>
              <a:rPr lang="ru-RU" sz="2000" b="1" dirty="0"/>
              <a:t>обеспечение  строгой   юридической   техники. </a:t>
            </a:r>
            <a:endParaRPr lang="ru-RU" sz="2000" b="1" dirty="0" smtClean="0"/>
          </a:p>
        </p:txBody>
      </p:sp>
      <p:grpSp>
        <p:nvGrpSpPr>
          <p:cNvPr id="5" name="Google Shape;5100;p62"/>
          <p:cNvGrpSpPr/>
          <p:nvPr/>
        </p:nvGrpSpPr>
        <p:grpSpPr>
          <a:xfrm>
            <a:off x="7142838" y="3795776"/>
            <a:ext cx="1633193" cy="1218138"/>
            <a:chOff x="-42994575" y="3950300"/>
            <a:chExt cx="319025" cy="317450"/>
          </a:xfrm>
        </p:grpSpPr>
        <p:sp>
          <p:nvSpPr>
            <p:cNvPr id="6" name="Google Shape;5101;p62"/>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102;p62"/>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103;p62"/>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Группа 8"/>
          <p:cNvGrpSpPr/>
          <p:nvPr/>
        </p:nvGrpSpPr>
        <p:grpSpPr>
          <a:xfrm>
            <a:off x="8140199" y="2346"/>
            <a:ext cx="1003801" cy="336960"/>
            <a:chOff x="0" y="0"/>
            <a:chExt cx="1003801" cy="336960"/>
          </a:xfrm>
        </p:grpSpPr>
        <p:sp>
          <p:nvSpPr>
            <p:cNvPr id="10" name="Скругленный прямоугольник 9"/>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1"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8</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1211310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2"/>
          <p:cNvSpPr txBox="1">
            <a:spLocks noGrp="1"/>
          </p:cNvSpPr>
          <p:nvPr>
            <p:ph type="title"/>
          </p:nvPr>
        </p:nvSpPr>
        <p:spPr>
          <a:xfrm>
            <a:off x="263334" y="240631"/>
            <a:ext cx="8255024" cy="519764"/>
          </a:xfrm>
          <a:prstGeom prst="rect">
            <a:avLst/>
          </a:prstGeom>
        </p:spPr>
        <p:txBody>
          <a:bodyPr spcFirstLastPara="1" wrap="square" lIns="91425" tIns="91425" rIns="91425" bIns="91425" anchor="b" anchorCtr="0">
            <a:noAutofit/>
          </a:bodyPr>
          <a:lstStyle/>
          <a:p>
            <a:pPr lvl="0" algn="ctr"/>
            <a:r>
              <a:rPr lang="ru-RU" sz="2400" dirty="0"/>
              <a:t>Особенности российской правовой </a:t>
            </a:r>
            <a:r>
              <a:rPr lang="ru-RU" sz="2400" dirty="0" smtClean="0"/>
              <a:t>системы (1)</a:t>
            </a:r>
            <a:endParaRPr sz="2400" dirty="0"/>
          </a:p>
        </p:txBody>
      </p:sp>
      <p:sp>
        <p:nvSpPr>
          <p:cNvPr id="439" name="Google Shape;439;p32"/>
          <p:cNvSpPr txBox="1">
            <a:spLocks noGrp="1"/>
          </p:cNvSpPr>
          <p:nvPr>
            <p:ph type="subTitle" idx="1"/>
          </p:nvPr>
        </p:nvSpPr>
        <p:spPr>
          <a:xfrm>
            <a:off x="600220" y="703437"/>
            <a:ext cx="7860387" cy="3887813"/>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t" anchorCtr="0">
            <a:noAutofit/>
          </a:bodyPr>
          <a:lstStyle/>
          <a:p>
            <a:pPr marL="0" indent="0">
              <a:buSzPts val="1100"/>
              <a:buNone/>
            </a:pPr>
            <a:r>
              <a:rPr lang="ru-RU" sz="1600" b="1" dirty="0"/>
              <a:t>Правовая система Российской </a:t>
            </a:r>
            <a:r>
              <a:rPr lang="ru-RU" sz="1600" b="1" dirty="0" smtClean="0"/>
              <a:t>Федерации имеет только </a:t>
            </a:r>
            <a:r>
              <a:rPr lang="ru-RU" sz="1600" b="1" dirty="0"/>
              <a:t>формально юридическое сходство с романо-германской правовой </a:t>
            </a:r>
            <a:r>
              <a:rPr lang="ru-RU" sz="1600" b="1" dirty="0" smtClean="0"/>
              <a:t>семьей, а в </a:t>
            </a:r>
            <a:r>
              <a:rPr lang="ru-RU" sz="1600" b="1" dirty="0"/>
              <a:t>сущностном отношении </a:t>
            </a:r>
            <a:r>
              <a:rPr lang="ru-RU" sz="1600" b="1" dirty="0" smtClean="0"/>
              <a:t>она уникальна.</a:t>
            </a:r>
          </a:p>
          <a:p>
            <a:pPr>
              <a:spcBef>
                <a:spcPts val="1000"/>
              </a:spcBef>
            </a:pPr>
            <a:r>
              <a:rPr lang="ru-RU" sz="1600" b="1" dirty="0" smtClean="0"/>
              <a:t>Нормативный правовой </a:t>
            </a:r>
            <a:r>
              <a:rPr lang="ru-RU" sz="1600" b="1" dirty="0"/>
              <a:t>акт является основным источником права.</a:t>
            </a:r>
          </a:p>
          <a:p>
            <a:pPr>
              <a:spcBef>
                <a:spcPts val="1000"/>
              </a:spcBef>
            </a:pPr>
            <a:r>
              <a:rPr lang="ru-RU" sz="1600" b="1" dirty="0" smtClean="0"/>
              <a:t>Нормативные правовые акты </a:t>
            </a:r>
            <a:r>
              <a:rPr lang="ru-RU" sz="1600" b="1" dirty="0"/>
              <a:t>составляют иерархическую систему. Во главе </a:t>
            </a:r>
            <a:r>
              <a:rPr lang="ru-RU" sz="1600" b="1" dirty="0" smtClean="0"/>
              <a:t>данной иерархической </a:t>
            </a:r>
            <a:r>
              <a:rPr lang="ru-RU" sz="1600" b="1" dirty="0"/>
              <a:t>системы нормативных актов состоит конституция (основной закон</a:t>
            </a:r>
            <a:r>
              <a:rPr lang="ru-RU" sz="1600" b="1" dirty="0" smtClean="0"/>
              <a:t>).</a:t>
            </a:r>
            <a:endParaRPr lang="ru-RU" sz="1600" b="1" dirty="0"/>
          </a:p>
          <a:p>
            <a:pPr>
              <a:spcBef>
                <a:spcPts val="1000"/>
              </a:spcBef>
            </a:pPr>
            <a:r>
              <a:rPr lang="ru-RU" sz="1600" b="1" dirty="0"/>
              <a:t>Система права делится на две большие части - </a:t>
            </a:r>
            <a:r>
              <a:rPr lang="ru-RU" sz="1600" b="1" dirty="0">
                <a:solidFill>
                  <a:srgbClr val="002060"/>
                </a:solidFill>
              </a:rPr>
              <a:t>публичное право </a:t>
            </a:r>
            <a:r>
              <a:rPr lang="ru-RU" sz="1600" b="1" dirty="0"/>
              <a:t>(регулирует общественное отношения, связанные с осуществлением гос. власти, к нему относиться </a:t>
            </a:r>
            <a:r>
              <a:rPr lang="ru-RU" sz="1600" b="1" dirty="0" smtClean="0"/>
              <a:t>конституционное</a:t>
            </a:r>
            <a:r>
              <a:rPr lang="ru-RU" sz="1600" b="1" dirty="0"/>
              <a:t>, финансовое, налоговое, уголовное право и т.д.) и </a:t>
            </a:r>
            <a:r>
              <a:rPr lang="ru-RU" sz="1600" b="1" dirty="0">
                <a:solidFill>
                  <a:srgbClr val="002060"/>
                </a:solidFill>
              </a:rPr>
              <a:t>частное право </a:t>
            </a:r>
            <a:r>
              <a:rPr lang="ru-RU" sz="1600" b="1" dirty="0"/>
              <a:t>(регулирует вопросы частной жизни граждан, регулируется гражданским правом</a:t>
            </a:r>
            <a:r>
              <a:rPr lang="ru-RU" sz="1600" b="1" dirty="0" smtClean="0"/>
              <a:t>).</a:t>
            </a:r>
          </a:p>
          <a:p>
            <a:pPr>
              <a:spcBef>
                <a:spcPts val="1000"/>
              </a:spcBef>
            </a:pPr>
            <a:r>
              <a:rPr lang="ru-RU" sz="1600" b="1" dirty="0" smtClean="0"/>
              <a:t>(см. далее)</a:t>
            </a:r>
          </a:p>
        </p:txBody>
      </p:sp>
      <p:grpSp>
        <p:nvGrpSpPr>
          <p:cNvPr id="5" name="Google Shape;5100;p62"/>
          <p:cNvGrpSpPr/>
          <p:nvPr/>
        </p:nvGrpSpPr>
        <p:grpSpPr>
          <a:xfrm>
            <a:off x="7142838" y="3795776"/>
            <a:ext cx="1633193" cy="1218138"/>
            <a:chOff x="-42994575" y="3950300"/>
            <a:chExt cx="319025" cy="317450"/>
          </a:xfrm>
        </p:grpSpPr>
        <p:sp>
          <p:nvSpPr>
            <p:cNvPr id="6" name="Google Shape;5101;p62"/>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102;p62"/>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103;p62"/>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Группа 8"/>
          <p:cNvGrpSpPr/>
          <p:nvPr/>
        </p:nvGrpSpPr>
        <p:grpSpPr>
          <a:xfrm>
            <a:off x="8140199" y="2346"/>
            <a:ext cx="1003801" cy="336960"/>
            <a:chOff x="0" y="0"/>
            <a:chExt cx="1003801" cy="336960"/>
          </a:xfrm>
        </p:grpSpPr>
        <p:sp>
          <p:nvSpPr>
            <p:cNvPr id="10" name="Скругленный прямоугольник 9"/>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1"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9</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0307837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2"/>
          <p:cNvSpPr txBox="1">
            <a:spLocks noGrp="1"/>
          </p:cNvSpPr>
          <p:nvPr>
            <p:ph type="title"/>
          </p:nvPr>
        </p:nvSpPr>
        <p:spPr>
          <a:xfrm>
            <a:off x="263334" y="240631"/>
            <a:ext cx="8255024" cy="519764"/>
          </a:xfrm>
          <a:prstGeom prst="rect">
            <a:avLst/>
          </a:prstGeom>
        </p:spPr>
        <p:txBody>
          <a:bodyPr spcFirstLastPara="1" wrap="square" lIns="91425" tIns="91425" rIns="91425" bIns="91425" anchor="b" anchorCtr="0">
            <a:noAutofit/>
          </a:bodyPr>
          <a:lstStyle/>
          <a:p>
            <a:pPr lvl="0" algn="ctr"/>
            <a:r>
              <a:rPr lang="ru-RU" sz="2400" dirty="0"/>
              <a:t>Особенности российской правовой </a:t>
            </a:r>
            <a:r>
              <a:rPr lang="ru-RU" sz="2400" dirty="0" smtClean="0"/>
              <a:t>системы (2)</a:t>
            </a:r>
            <a:endParaRPr sz="2400" dirty="0"/>
          </a:p>
        </p:txBody>
      </p:sp>
      <p:sp>
        <p:nvSpPr>
          <p:cNvPr id="439" name="Google Shape;439;p32"/>
          <p:cNvSpPr txBox="1">
            <a:spLocks noGrp="1"/>
          </p:cNvSpPr>
          <p:nvPr>
            <p:ph type="subTitle" idx="1"/>
          </p:nvPr>
        </p:nvSpPr>
        <p:spPr>
          <a:xfrm>
            <a:off x="407715" y="703438"/>
            <a:ext cx="7860387" cy="3146667"/>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t" anchorCtr="0">
            <a:noAutofit/>
          </a:bodyPr>
          <a:lstStyle/>
          <a:p>
            <a:pPr>
              <a:spcBef>
                <a:spcPts val="1000"/>
              </a:spcBef>
              <a:buFont typeface="+mj-lt"/>
              <a:buAutoNum type="arabicPeriod" startAt="4"/>
            </a:pPr>
            <a:r>
              <a:rPr lang="ru-RU" sz="1600" b="1" dirty="0" smtClean="0"/>
              <a:t>Строгая  </a:t>
            </a:r>
            <a:r>
              <a:rPr lang="ru-RU" sz="1600" b="1" dirty="0"/>
              <a:t>отраслевая  классификация: публичное  и частное право делиться на специализированные отрасли права (гражданское, семейное, уголовное, конституционное и др.). Во главе отрасли, как правило, находиться комплексный стабильный акт, содержащий основные положения данной отрасли права - кодекс</a:t>
            </a:r>
            <a:r>
              <a:rPr lang="ru-RU" sz="1600" b="1" dirty="0" smtClean="0"/>
              <a:t>.</a:t>
            </a:r>
          </a:p>
          <a:p>
            <a:pPr>
              <a:spcBef>
                <a:spcPts val="1000"/>
              </a:spcBef>
              <a:buFont typeface="+mj-lt"/>
              <a:buAutoNum type="arabicPeriod" startAt="4"/>
            </a:pPr>
            <a:r>
              <a:rPr lang="ru-RU" sz="1600" b="1" dirty="0"/>
              <a:t>Главными творцами права </a:t>
            </a:r>
            <a:r>
              <a:rPr lang="ru-RU" sz="1600" b="1" dirty="0" smtClean="0"/>
              <a:t>являются законодатели</a:t>
            </a:r>
            <a:r>
              <a:rPr lang="ru-RU" sz="1600" b="1" dirty="0"/>
              <a:t>, а не судьи</a:t>
            </a:r>
            <a:r>
              <a:rPr lang="ru-RU" sz="1600" b="1" dirty="0" smtClean="0"/>
              <a:t>.</a:t>
            </a:r>
          </a:p>
          <a:p>
            <a:pPr>
              <a:spcBef>
                <a:spcPts val="1000"/>
              </a:spcBef>
              <a:buFont typeface="+mj-lt"/>
              <a:buAutoNum type="arabicPeriod" startAt="4"/>
            </a:pPr>
            <a:r>
              <a:rPr lang="ru-RU" sz="1600" b="1" dirty="0"/>
              <a:t>Большое значение в российской правовой системе имеют подзаконные </a:t>
            </a:r>
            <a:r>
              <a:rPr lang="ru-RU" sz="1600" b="1" dirty="0" smtClean="0"/>
              <a:t>акты (указы </a:t>
            </a:r>
            <a:r>
              <a:rPr lang="ru-RU" sz="1600" b="1" dirty="0"/>
              <a:t>президента, постановления Правительства, инструкции, указания, распоряжения министерств и ведомств, а также доктрины (теория) </a:t>
            </a:r>
            <a:r>
              <a:rPr lang="ru-RU" sz="1600" b="1" dirty="0" smtClean="0"/>
              <a:t>права, вырабатываемые </a:t>
            </a:r>
            <a:r>
              <a:rPr lang="ru-RU" sz="1600" b="1" dirty="0"/>
              <a:t>в университетах и научных учреждениях).</a:t>
            </a:r>
          </a:p>
        </p:txBody>
      </p:sp>
      <p:grpSp>
        <p:nvGrpSpPr>
          <p:cNvPr id="4" name="Google Shape;5100;p62"/>
          <p:cNvGrpSpPr/>
          <p:nvPr/>
        </p:nvGrpSpPr>
        <p:grpSpPr>
          <a:xfrm>
            <a:off x="7142838" y="3795776"/>
            <a:ext cx="1633193" cy="1218138"/>
            <a:chOff x="-42994575" y="3950300"/>
            <a:chExt cx="319025" cy="317450"/>
          </a:xfrm>
        </p:grpSpPr>
        <p:sp>
          <p:nvSpPr>
            <p:cNvPr id="5" name="Google Shape;5101;p62"/>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102;p62"/>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103;p62"/>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 name="Группа 7"/>
          <p:cNvGrpSpPr/>
          <p:nvPr/>
        </p:nvGrpSpPr>
        <p:grpSpPr>
          <a:xfrm>
            <a:off x="8140199" y="2346"/>
            <a:ext cx="1003801" cy="336960"/>
            <a:chOff x="0" y="0"/>
            <a:chExt cx="1003801" cy="336960"/>
          </a:xfrm>
        </p:grpSpPr>
        <p:sp>
          <p:nvSpPr>
            <p:cNvPr id="9" name="Скругленный прямоугольник 8"/>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0"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10</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858476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577516" y="160338"/>
            <a:ext cx="7902341" cy="572700"/>
          </a:xfrm>
          <a:prstGeom prst="rect">
            <a:avLst/>
          </a:prstGeom>
        </p:spPr>
        <p:txBody>
          <a:bodyPr spcFirstLastPara="1" wrap="square" lIns="91425" tIns="91425" rIns="91425" bIns="91425" anchor="t" anchorCtr="0">
            <a:noAutofit/>
          </a:bodyPr>
          <a:lstStyle/>
          <a:p>
            <a:pPr lvl="0"/>
            <a:r>
              <a:rPr lang="ru-RU" sz="2400" dirty="0" smtClean="0"/>
              <a:t>Нормативные правовые акты в РФ</a:t>
            </a:r>
            <a:endParaRPr lang="ru-RU" sz="2400" dirty="0"/>
          </a:p>
        </p:txBody>
      </p:sp>
      <p:sp>
        <p:nvSpPr>
          <p:cNvPr id="7" name="Google Shape;433;p31"/>
          <p:cNvSpPr txBox="1">
            <a:spLocks noGrp="1"/>
          </p:cNvSpPr>
          <p:nvPr>
            <p:ph type="subTitle" idx="1"/>
          </p:nvPr>
        </p:nvSpPr>
        <p:spPr>
          <a:xfrm>
            <a:off x="392998" y="721895"/>
            <a:ext cx="7595969" cy="3792354"/>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indent="0"/>
            <a:endParaRPr lang="ru-RU" sz="1600" dirty="0" smtClean="0">
              <a:solidFill>
                <a:srgbClr val="002060"/>
              </a:solidFill>
            </a:endParaRPr>
          </a:p>
          <a:p>
            <a:pPr marL="0" indent="0"/>
            <a:r>
              <a:rPr lang="ru-RU" sz="1600" dirty="0" smtClean="0"/>
              <a:t>Являются основными </a:t>
            </a:r>
            <a:r>
              <a:rPr lang="ru-RU" sz="1600" dirty="0" smtClean="0">
                <a:solidFill>
                  <a:srgbClr val="002060"/>
                </a:solidFill>
              </a:rPr>
              <a:t>источниками</a:t>
            </a:r>
            <a:r>
              <a:rPr lang="ru-RU" sz="1600" dirty="0" smtClean="0"/>
              <a:t> (формами) права в РФ.</a:t>
            </a:r>
          </a:p>
          <a:p>
            <a:pPr marL="0" indent="0"/>
            <a:endParaRPr lang="ru-RU" sz="1600" dirty="0" smtClean="0"/>
          </a:p>
          <a:p>
            <a:pPr marL="285750" indent="-285750">
              <a:buFont typeface="Wingdings" panose="05000000000000000000" pitchFamily="2" charset="2"/>
              <a:buChar char="Ø"/>
            </a:pPr>
            <a:r>
              <a:rPr lang="ru-RU" sz="1600" dirty="0" smtClean="0"/>
              <a:t> Конституция;</a:t>
            </a:r>
          </a:p>
          <a:p>
            <a:pPr marL="285750" indent="-285750">
              <a:buFont typeface="Wingdings" panose="05000000000000000000" pitchFamily="2" charset="2"/>
              <a:buChar char="Ø"/>
            </a:pPr>
            <a:r>
              <a:rPr lang="ru-RU" sz="1600" dirty="0" smtClean="0"/>
              <a:t>федеральные </a:t>
            </a:r>
            <a:r>
              <a:rPr lang="ru-RU" sz="1600" dirty="0"/>
              <a:t>конституционные </a:t>
            </a:r>
            <a:r>
              <a:rPr lang="ru-RU" sz="1600" dirty="0" smtClean="0"/>
              <a:t>законы; </a:t>
            </a:r>
          </a:p>
          <a:p>
            <a:pPr marL="285750" indent="-285750">
              <a:buFont typeface="Wingdings" panose="05000000000000000000" pitchFamily="2" charset="2"/>
              <a:buChar char="Ø"/>
            </a:pPr>
            <a:r>
              <a:rPr lang="ru-RU" sz="1600" dirty="0" smtClean="0"/>
              <a:t>федеральные законы; </a:t>
            </a:r>
          </a:p>
          <a:p>
            <a:pPr marL="285750" indent="-285750">
              <a:buFont typeface="Wingdings" panose="05000000000000000000" pitchFamily="2" charset="2"/>
              <a:buChar char="Ø"/>
            </a:pPr>
            <a:r>
              <a:rPr lang="ru-RU" sz="1600" dirty="0" smtClean="0"/>
              <a:t>законы </a:t>
            </a:r>
            <a:r>
              <a:rPr lang="ru-RU" sz="1600" dirty="0"/>
              <a:t>о поправках к Конституции РФ </a:t>
            </a:r>
            <a:r>
              <a:rPr lang="ru-RU" sz="1600" dirty="0" smtClean="0"/>
              <a:t>(приняты </a:t>
            </a:r>
            <a:r>
              <a:rPr lang="ru-RU" sz="1600" dirty="0"/>
              <a:t>в 2008 году</a:t>
            </a:r>
            <a:r>
              <a:rPr lang="ru-RU" sz="1600" dirty="0" smtClean="0"/>
              <a:t>);</a:t>
            </a:r>
          </a:p>
          <a:p>
            <a:pPr marL="285750" indent="-285750">
              <a:buFont typeface="Wingdings" panose="05000000000000000000" pitchFamily="2" charset="2"/>
              <a:buChar char="Ø"/>
            </a:pPr>
            <a:r>
              <a:rPr lang="ru-RU" sz="1600" dirty="0" smtClean="0"/>
              <a:t>указы </a:t>
            </a:r>
            <a:r>
              <a:rPr lang="ru-RU" sz="1600" dirty="0"/>
              <a:t>и распоряжения </a:t>
            </a:r>
            <a:r>
              <a:rPr lang="ru-RU" sz="1600" dirty="0" smtClean="0"/>
              <a:t>Президента</a:t>
            </a:r>
            <a:r>
              <a:rPr lang="ru-RU" sz="1600" dirty="0"/>
              <a:t>;</a:t>
            </a:r>
            <a:endParaRPr lang="ru-RU" sz="1600" dirty="0" smtClean="0"/>
          </a:p>
          <a:p>
            <a:pPr marL="285750" indent="-285750">
              <a:buFont typeface="Wingdings" panose="05000000000000000000" pitchFamily="2" charset="2"/>
              <a:buChar char="Ø"/>
            </a:pPr>
            <a:r>
              <a:rPr lang="ru-RU" sz="1600" dirty="0" smtClean="0"/>
              <a:t>постановления </a:t>
            </a:r>
            <a:r>
              <a:rPr lang="ru-RU" sz="1600" dirty="0"/>
              <a:t>и распоряжения </a:t>
            </a:r>
            <a:r>
              <a:rPr lang="ru-RU" sz="1600" dirty="0" smtClean="0"/>
              <a:t>Правительства</a:t>
            </a:r>
            <a:r>
              <a:rPr lang="ru-RU" sz="1600" dirty="0"/>
              <a:t>;</a:t>
            </a:r>
            <a:endParaRPr lang="ru-RU" sz="1600" dirty="0" smtClean="0"/>
          </a:p>
          <a:p>
            <a:pPr marL="285750" indent="-285750">
              <a:buFont typeface="Wingdings" panose="05000000000000000000" pitchFamily="2" charset="2"/>
              <a:buChar char="Ø"/>
            </a:pPr>
            <a:r>
              <a:rPr lang="ru-RU" sz="1600" dirty="0" smtClean="0"/>
              <a:t>ведомственные </a:t>
            </a:r>
            <a:r>
              <a:rPr lang="ru-RU" sz="1600" dirty="0"/>
              <a:t>акты федеральных органов исполнительной </a:t>
            </a:r>
            <a:r>
              <a:rPr lang="ru-RU" sz="1600" dirty="0" smtClean="0"/>
              <a:t>власти</a:t>
            </a:r>
            <a:r>
              <a:rPr lang="ru-RU" sz="1600" dirty="0"/>
              <a:t>;</a:t>
            </a:r>
            <a:endParaRPr lang="ru-RU" sz="1600" dirty="0" smtClean="0"/>
          </a:p>
          <a:p>
            <a:pPr marL="285750" indent="-285750">
              <a:buFont typeface="Wingdings" panose="05000000000000000000" pitchFamily="2" charset="2"/>
              <a:buChar char="Ø"/>
            </a:pPr>
            <a:r>
              <a:rPr lang="ru-RU" sz="1600" dirty="0" smtClean="0"/>
              <a:t> </a:t>
            </a:r>
            <a:r>
              <a:rPr lang="ru-RU" sz="1600" dirty="0"/>
              <a:t>конституции (уставы) субъектов </a:t>
            </a:r>
            <a:r>
              <a:rPr lang="ru-RU" sz="1600" dirty="0" smtClean="0"/>
              <a:t>РФ;</a:t>
            </a:r>
          </a:p>
          <a:p>
            <a:pPr marL="285750" indent="-285750">
              <a:buFont typeface="Wingdings" panose="05000000000000000000" pitchFamily="2" charset="2"/>
              <a:buChar char="Ø"/>
            </a:pPr>
            <a:r>
              <a:rPr lang="ru-RU" sz="1600" dirty="0" smtClean="0"/>
              <a:t>законы </a:t>
            </a:r>
            <a:r>
              <a:rPr lang="ru-RU" sz="1600" dirty="0"/>
              <a:t>субъектов </a:t>
            </a:r>
            <a:r>
              <a:rPr lang="ru-RU" sz="1600" dirty="0" smtClean="0"/>
              <a:t>РФ</a:t>
            </a:r>
            <a:r>
              <a:rPr lang="ru-RU" sz="1600" dirty="0"/>
              <a:t>;</a:t>
            </a:r>
            <a:endParaRPr lang="ru-RU" sz="1600" dirty="0" smtClean="0"/>
          </a:p>
          <a:p>
            <a:pPr marL="285750" indent="-285750">
              <a:buFont typeface="Wingdings" panose="05000000000000000000" pitchFamily="2" charset="2"/>
              <a:buChar char="Ø"/>
            </a:pPr>
            <a:r>
              <a:rPr lang="ru-RU" sz="1600" dirty="0" smtClean="0"/>
              <a:t>акты </a:t>
            </a:r>
            <a:r>
              <a:rPr lang="ru-RU" sz="1600" dirty="0"/>
              <a:t>органов исполнительной власти субъектов </a:t>
            </a:r>
            <a:r>
              <a:rPr lang="ru-RU" sz="1600" dirty="0" smtClean="0"/>
              <a:t>РФ</a:t>
            </a:r>
            <a:r>
              <a:rPr lang="ru-RU" sz="1600" dirty="0"/>
              <a:t>;</a:t>
            </a:r>
            <a:endParaRPr lang="ru-RU" sz="1600" dirty="0" smtClean="0"/>
          </a:p>
          <a:p>
            <a:pPr marL="285750" indent="-285750">
              <a:buFont typeface="Wingdings" panose="05000000000000000000" pitchFamily="2" charset="2"/>
              <a:buChar char="Ø"/>
            </a:pPr>
            <a:r>
              <a:rPr lang="ru-RU" sz="1600" dirty="0" smtClean="0"/>
              <a:t>акты </a:t>
            </a:r>
            <a:r>
              <a:rPr lang="ru-RU" sz="1600" dirty="0"/>
              <a:t>органов местного </a:t>
            </a:r>
            <a:r>
              <a:rPr lang="ru-RU" sz="1600" dirty="0" smtClean="0"/>
              <a:t>самоуправления</a:t>
            </a:r>
            <a:r>
              <a:rPr lang="ru-RU" sz="1600" dirty="0"/>
              <a:t>;</a:t>
            </a:r>
            <a:endParaRPr lang="ru-RU" sz="1600" dirty="0" smtClean="0"/>
          </a:p>
          <a:p>
            <a:pPr marL="285750" indent="-285750">
              <a:buFont typeface="Wingdings" panose="05000000000000000000" pitchFamily="2" charset="2"/>
              <a:buChar char="Ø"/>
            </a:pPr>
            <a:r>
              <a:rPr lang="ru-RU" sz="1600" dirty="0" smtClean="0"/>
              <a:t>международные </a:t>
            </a:r>
            <a:r>
              <a:rPr lang="ru-RU" sz="1600" dirty="0"/>
              <a:t>договоры и соглашения, если они были в установленном порядке ратифицированы.</a:t>
            </a:r>
          </a:p>
        </p:txBody>
      </p:sp>
      <p:sp>
        <p:nvSpPr>
          <p:cNvPr id="2" name="AutoShape 2" descr="Флаг России с гербом и надписью &quot;Россия&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pSp>
        <p:nvGrpSpPr>
          <p:cNvPr id="5" name="Группа 4"/>
          <p:cNvGrpSpPr/>
          <p:nvPr/>
        </p:nvGrpSpPr>
        <p:grpSpPr>
          <a:xfrm>
            <a:off x="8140199" y="2346"/>
            <a:ext cx="1003801" cy="336960"/>
            <a:chOff x="0" y="0"/>
            <a:chExt cx="1003801" cy="336960"/>
          </a:xfrm>
        </p:grpSpPr>
        <p:sp>
          <p:nvSpPr>
            <p:cNvPr id="6" name="Скругленный прямоугольник 5"/>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8"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11</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6404595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ru-RU" sz="2400" dirty="0"/>
              <a:t>Федеральное собрание Российской </a:t>
            </a:r>
            <a:r>
              <a:rPr lang="ru-RU" sz="2400" dirty="0" smtClean="0"/>
              <a:t>Федерации</a:t>
            </a:r>
            <a:endParaRPr lang="ru-RU" sz="2400" dirty="0"/>
          </a:p>
        </p:txBody>
      </p:sp>
      <p:sp>
        <p:nvSpPr>
          <p:cNvPr id="14" name="Google Shape;433;p31"/>
          <p:cNvSpPr txBox="1">
            <a:spLocks noGrp="1"/>
          </p:cNvSpPr>
          <p:nvPr>
            <p:ph type="subTitle" idx="1"/>
          </p:nvPr>
        </p:nvSpPr>
        <p:spPr>
          <a:xfrm>
            <a:off x="442762" y="3099335"/>
            <a:ext cx="7883092" cy="1171356"/>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lvl="0" indent="0"/>
            <a:r>
              <a:rPr lang="ru-RU" sz="1600" dirty="0" smtClean="0">
                <a:solidFill>
                  <a:srgbClr val="002060"/>
                </a:solidFill>
                <a:latin typeface="+mn-lt"/>
              </a:rPr>
              <a:t>Федеральное собрание Российской </a:t>
            </a:r>
            <a:r>
              <a:rPr lang="ru-RU" sz="1600" dirty="0">
                <a:solidFill>
                  <a:srgbClr val="002060"/>
                </a:solidFill>
                <a:latin typeface="+mn-lt"/>
              </a:rPr>
              <a:t>Федерации  </a:t>
            </a:r>
            <a:r>
              <a:rPr lang="ru-RU" sz="1600" dirty="0" smtClean="0">
                <a:solidFill>
                  <a:schemeClr val="tx1"/>
                </a:solidFill>
                <a:latin typeface="+mn-lt"/>
              </a:rPr>
              <a:t>— двухпалатный парламент, состоящий из Совета Федерации и Государственной Думы; </a:t>
            </a:r>
            <a:r>
              <a:rPr lang="ru-RU" sz="1600" dirty="0">
                <a:solidFill>
                  <a:schemeClr val="tx1"/>
                </a:solidFill>
                <a:latin typeface="+mn-lt"/>
              </a:rPr>
              <a:t>является представительным и законодательным органом Российской </a:t>
            </a:r>
            <a:r>
              <a:rPr lang="ru-RU" sz="1600" dirty="0" smtClean="0">
                <a:solidFill>
                  <a:schemeClr val="tx1"/>
                </a:solidFill>
                <a:latin typeface="+mn-lt"/>
              </a:rPr>
              <a:t>Федерации. </a:t>
            </a:r>
            <a:endParaRPr lang="ru-RU" sz="1600" dirty="0">
              <a:solidFill>
                <a:schemeClr val="tx1"/>
              </a:solidFill>
              <a:latin typeface="+mn-lt"/>
            </a:endParaRPr>
          </a:p>
        </p:txBody>
      </p:sp>
      <p:sp>
        <p:nvSpPr>
          <p:cNvPr id="9" name="Прямоугольник 8"/>
          <p:cNvSpPr/>
          <p:nvPr/>
        </p:nvSpPr>
        <p:spPr>
          <a:xfrm>
            <a:off x="442761" y="1705476"/>
            <a:ext cx="7883091" cy="1323439"/>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r>
              <a:rPr lang="ru-RU" sz="1600" b="1" dirty="0" smtClean="0">
                <a:solidFill>
                  <a:schemeClr val="tx1"/>
                </a:solidFill>
              </a:rPr>
              <a:t>В Российской правовой </a:t>
            </a:r>
            <a:r>
              <a:rPr lang="ru-RU" sz="1600" b="1" dirty="0">
                <a:solidFill>
                  <a:schemeClr val="tx1"/>
                </a:solidFill>
              </a:rPr>
              <a:t>системе </a:t>
            </a:r>
            <a:r>
              <a:rPr lang="ru-RU" sz="1600" b="1" dirty="0" smtClean="0">
                <a:solidFill>
                  <a:schemeClr val="tx1"/>
                </a:solidFill>
              </a:rPr>
              <a:t>законодательными </a:t>
            </a:r>
            <a:r>
              <a:rPr lang="ru-RU" sz="1600" b="1" dirty="0">
                <a:solidFill>
                  <a:schemeClr val="tx1"/>
                </a:solidFill>
              </a:rPr>
              <a:t>органами в РФ </a:t>
            </a:r>
            <a:r>
              <a:rPr lang="ru-RU" sz="1600" b="1" dirty="0" smtClean="0">
                <a:solidFill>
                  <a:schemeClr val="tx1"/>
                </a:solidFill>
              </a:rPr>
              <a:t>являются </a:t>
            </a:r>
            <a:r>
              <a:rPr lang="ru-RU" sz="1600" b="1" dirty="0">
                <a:solidFill>
                  <a:schemeClr val="tx1"/>
                </a:solidFill>
              </a:rPr>
              <a:t>высшие представительные органы Федерации и ее субъектов. </a:t>
            </a:r>
            <a:endParaRPr lang="ru-RU" sz="1600" b="1" dirty="0" smtClean="0">
              <a:solidFill>
                <a:schemeClr val="tx1"/>
              </a:solidFill>
            </a:endParaRPr>
          </a:p>
          <a:p>
            <a:r>
              <a:rPr lang="ru-RU" sz="1600" b="1" u="sng" dirty="0" smtClean="0">
                <a:solidFill>
                  <a:schemeClr val="tx1"/>
                </a:solidFill>
              </a:rPr>
              <a:t>Высшим Федеральным представительным </a:t>
            </a:r>
            <a:r>
              <a:rPr lang="ru-RU" sz="1600" b="1" u="sng" dirty="0">
                <a:solidFill>
                  <a:schemeClr val="tx1"/>
                </a:solidFill>
              </a:rPr>
              <a:t>органом РФ </a:t>
            </a:r>
            <a:r>
              <a:rPr lang="ru-RU" sz="1600" b="1" dirty="0" smtClean="0">
                <a:solidFill>
                  <a:schemeClr val="tx1"/>
                </a:solidFill>
              </a:rPr>
              <a:t>является</a:t>
            </a:r>
            <a:r>
              <a:rPr lang="ru-RU" sz="1600" b="1" dirty="0" smtClean="0"/>
              <a:t> </a:t>
            </a:r>
            <a:r>
              <a:rPr lang="ru-RU" sz="1600" b="1" dirty="0">
                <a:solidFill>
                  <a:srgbClr val="002060"/>
                </a:solidFill>
              </a:rPr>
              <a:t>Федеральное Собрание РФ</a:t>
            </a:r>
            <a:r>
              <a:rPr lang="ru-RU" sz="1600" b="1" dirty="0"/>
              <a:t>, </a:t>
            </a:r>
            <a:r>
              <a:rPr lang="ru-RU" sz="1600" b="1" dirty="0">
                <a:solidFill>
                  <a:schemeClr val="tx1"/>
                </a:solidFill>
              </a:rPr>
              <a:t>основной функцией </a:t>
            </a:r>
            <a:r>
              <a:rPr lang="ru-RU" sz="1600" b="1" dirty="0" smtClean="0">
                <a:solidFill>
                  <a:schemeClr val="tx1"/>
                </a:solidFill>
              </a:rPr>
              <a:t>которого является </a:t>
            </a:r>
            <a:r>
              <a:rPr lang="ru-RU" sz="1600" b="1" dirty="0">
                <a:solidFill>
                  <a:schemeClr val="tx1"/>
                </a:solidFill>
              </a:rPr>
              <a:t>принятие законов.</a:t>
            </a:r>
          </a:p>
        </p:txBody>
      </p:sp>
      <p:grpSp>
        <p:nvGrpSpPr>
          <p:cNvPr id="5" name="Google Shape;4833;p61"/>
          <p:cNvGrpSpPr/>
          <p:nvPr/>
        </p:nvGrpSpPr>
        <p:grpSpPr>
          <a:xfrm>
            <a:off x="442762" y="547397"/>
            <a:ext cx="521423" cy="646136"/>
            <a:chOff x="4492800" y="2027925"/>
            <a:chExt cx="414825" cy="481825"/>
          </a:xfrm>
        </p:grpSpPr>
        <p:sp>
          <p:nvSpPr>
            <p:cNvPr id="6" name="Google Shape;4834;p61"/>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 name="Google Shape;4835;p61"/>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8" name="Группа 7"/>
          <p:cNvGrpSpPr/>
          <p:nvPr/>
        </p:nvGrpSpPr>
        <p:grpSpPr>
          <a:xfrm>
            <a:off x="8140199" y="2346"/>
            <a:ext cx="1003801" cy="336960"/>
            <a:chOff x="0" y="0"/>
            <a:chExt cx="1003801" cy="336960"/>
          </a:xfrm>
        </p:grpSpPr>
        <p:sp>
          <p:nvSpPr>
            <p:cNvPr id="10" name="Скругленный прямоугольник 9"/>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1"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12</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8931236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1717089" y="236623"/>
            <a:ext cx="5255393" cy="572700"/>
          </a:xfrm>
          <a:prstGeom prst="rect">
            <a:avLst/>
          </a:prstGeom>
        </p:spPr>
        <p:txBody>
          <a:bodyPr spcFirstLastPara="1" wrap="square" lIns="91425" tIns="91425" rIns="91425" bIns="91425" anchor="t" anchorCtr="0">
            <a:noAutofit/>
          </a:bodyPr>
          <a:lstStyle/>
          <a:p>
            <a:pPr lvl="0"/>
            <a:r>
              <a:rPr lang="ru-RU" sz="2400" dirty="0" smtClean="0"/>
              <a:t>Государственная Дума</a:t>
            </a:r>
            <a:endParaRPr lang="ru-RU" sz="2400" dirty="0"/>
          </a:p>
        </p:txBody>
      </p:sp>
      <p:sp>
        <p:nvSpPr>
          <p:cNvPr id="7" name="Google Shape;433;p31"/>
          <p:cNvSpPr txBox="1">
            <a:spLocks noGrp="1"/>
          </p:cNvSpPr>
          <p:nvPr>
            <p:ph type="subTitle" idx="1"/>
          </p:nvPr>
        </p:nvSpPr>
        <p:spPr>
          <a:xfrm>
            <a:off x="259883" y="3870702"/>
            <a:ext cx="8614610" cy="1142777"/>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lvl="0" indent="0"/>
            <a:r>
              <a:rPr lang="ru-RU" sz="1600" dirty="0" smtClean="0">
                <a:solidFill>
                  <a:srgbClr val="002060"/>
                </a:solidFill>
              </a:rPr>
              <a:t>Государственная дума Федерального собрания Российской Федерации  (Государственная дума</a:t>
            </a:r>
            <a:r>
              <a:rPr lang="ru-RU" sz="1600" dirty="0">
                <a:solidFill>
                  <a:srgbClr val="002060"/>
                </a:solidFill>
              </a:rPr>
              <a:t>, </a:t>
            </a:r>
            <a:r>
              <a:rPr lang="ru-RU" sz="1600" dirty="0" smtClean="0">
                <a:solidFill>
                  <a:srgbClr val="002060"/>
                </a:solidFill>
              </a:rPr>
              <a:t>Госдума</a:t>
            </a:r>
            <a:r>
              <a:rPr lang="ru-RU" sz="1600" dirty="0">
                <a:solidFill>
                  <a:srgbClr val="002060"/>
                </a:solidFill>
              </a:rPr>
              <a:t>, ГД) </a:t>
            </a:r>
            <a:r>
              <a:rPr lang="ru-RU" sz="1600" dirty="0"/>
              <a:t>— нижняя </a:t>
            </a:r>
            <a:r>
              <a:rPr lang="ru-RU" sz="1600" dirty="0" smtClean="0"/>
              <a:t>палата </a:t>
            </a:r>
            <a:r>
              <a:rPr lang="ru-RU" sz="1600" dirty="0"/>
              <a:t>Федерального </a:t>
            </a:r>
            <a:r>
              <a:rPr lang="ru-RU" sz="1600" dirty="0" smtClean="0"/>
              <a:t>собрания </a:t>
            </a:r>
            <a:r>
              <a:rPr lang="ru-RU" sz="1600" dirty="0"/>
              <a:t>парламента Российской Федерации. Высший представительный и законодательный орган власти в России наряду с Советом Федерации. </a:t>
            </a:r>
          </a:p>
        </p:txBody>
      </p:sp>
      <p:pic>
        <p:nvPicPr>
          <p:cNvPr id="6146" name="Picture 2" descr="Москва Россия Здание Государственной Думы Российской Федерации — стоковые  фотографии и другие картинки Государственная дума"/>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8307" y="809323"/>
            <a:ext cx="4492959" cy="3061379"/>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oogle Shape;4833;p61"/>
          <p:cNvGrpSpPr/>
          <p:nvPr/>
        </p:nvGrpSpPr>
        <p:grpSpPr>
          <a:xfrm>
            <a:off x="442762" y="284725"/>
            <a:ext cx="521423" cy="646136"/>
            <a:chOff x="4492800" y="2027925"/>
            <a:chExt cx="414825" cy="481825"/>
          </a:xfrm>
        </p:grpSpPr>
        <p:sp>
          <p:nvSpPr>
            <p:cNvPr id="6" name="Google Shape;4834;p61"/>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 name="Google Shape;4835;p61"/>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9" name="Группа 8"/>
          <p:cNvGrpSpPr/>
          <p:nvPr/>
        </p:nvGrpSpPr>
        <p:grpSpPr>
          <a:xfrm>
            <a:off x="8140199" y="2346"/>
            <a:ext cx="1003801" cy="336960"/>
            <a:chOff x="0" y="0"/>
            <a:chExt cx="1003801" cy="336960"/>
          </a:xfrm>
        </p:grpSpPr>
        <p:sp>
          <p:nvSpPr>
            <p:cNvPr id="10" name="Скругленный прямоугольник 9"/>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1"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13</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7331582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1717089" y="236623"/>
            <a:ext cx="5255393" cy="572700"/>
          </a:xfrm>
          <a:prstGeom prst="rect">
            <a:avLst/>
          </a:prstGeom>
        </p:spPr>
        <p:txBody>
          <a:bodyPr spcFirstLastPara="1" wrap="square" lIns="91425" tIns="91425" rIns="91425" bIns="91425" anchor="t" anchorCtr="0">
            <a:noAutofit/>
          </a:bodyPr>
          <a:lstStyle/>
          <a:p>
            <a:pPr lvl="0"/>
            <a:r>
              <a:rPr lang="ru-RU" sz="2400" dirty="0" smtClean="0"/>
              <a:t>Совет Федерации</a:t>
            </a:r>
            <a:endParaRPr lang="ru-RU" sz="2400" dirty="0"/>
          </a:p>
        </p:txBody>
      </p:sp>
      <p:sp>
        <p:nvSpPr>
          <p:cNvPr id="7" name="Google Shape;433;p31"/>
          <p:cNvSpPr txBox="1">
            <a:spLocks noGrp="1"/>
          </p:cNvSpPr>
          <p:nvPr>
            <p:ph type="subTitle" idx="1"/>
          </p:nvPr>
        </p:nvSpPr>
        <p:spPr>
          <a:xfrm>
            <a:off x="259883" y="4158114"/>
            <a:ext cx="8614610" cy="855365"/>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lvl="0" indent="0"/>
            <a:r>
              <a:rPr lang="ru-RU" sz="1600" dirty="0" smtClean="0">
                <a:solidFill>
                  <a:srgbClr val="002060"/>
                </a:solidFill>
              </a:rPr>
              <a:t>Совет Федерации Федерального собрания Российской Федерации</a:t>
            </a:r>
            <a:r>
              <a:rPr lang="ru-RU" sz="1600" dirty="0" smtClean="0"/>
              <a:t> — верхняя палата </a:t>
            </a:r>
            <a:r>
              <a:rPr lang="ru-RU" sz="1600" dirty="0"/>
              <a:t>Федерального </a:t>
            </a:r>
            <a:r>
              <a:rPr lang="ru-RU" sz="1600" dirty="0" smtClean="0"/>
              <a:t>собрания </a:t>
            </a:r>
            <a:r>
              <a:rPr lang="ru-RU" sz="1600" dirty="0"/>
              <a:t>парламента Российской Федерации. Высший представительный и законодательный орган власти в России наряду с </a:t>
            </a:r>
            <a:r>
              <a:rPr lang="ru-RU" sz="1600" dirty="0" smtClean="0"/>
              <a:t>Государственной Думой. </a:t>
            </a:r>
            <a:endParaRPr lang="ru-RU" sz="1600" dirty="0"/>
          </a:p>
        </p:txBody>
      </p:sp>
      <p:pic>
        <p:nvPicPr>
          <p:cNvPr id="19460" name="Picture 4" descr="Совет Федерации - Портфолио ГЕФЕСТ ПРОЕКТ"/>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1124" y="788554"/>
            <a:ext cx="4186679" cy="3321433"/>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oogle Shape;4833;p61"/>
          <p:cNvGrpSpPr/>
          <p:nvPr/>
        </p:nvGrpSpPr>
        <p:grpSpPr>
          <a:xfrm>
            <a:off x="442762" y="284725"/>
            <a:ext cx="521423" cy="646136"/>
            <a:chOff x="4492800" y="2027925"/>
            <a:chExt cx="414825" cy="481825"/>
          </a:xfrm>
        </p:grpSpPr>
        <p:sp>
          <p:nvSpPr>
            <p:cNvPr id="6" name="Google Shape;4834;p61"/>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 name="Google Shape;4835;p61"/>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9" name="Группа 8"/>
          <p:cNvGrpSpPr/>
          <p:nvPr/>
        </p:nvGrpSpPr>
        <p:grpSpPr>
          <a:xfrm>
            <a:off x="8140199" y="2346"/>
            <a:ext cx="1003801" cy="336960"/>
            <a:chOff x="0" y="0"/>
            <a:chExt cx="1003801" cy="336960"/>
          </a:xfrm>
        </p:grpSpPr>
        <p:sp>
          <p:nvSpPr>
            <p:cNvPr id="10" name="Скругленный прямоугольник 9"/>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1"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14</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1354006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440868" y="96253"/>
            <a:ext cx="7704000" cy="572700"/>
          </a:xfrm>
          <a:prstGeom prst="rect">
            <a:avLst/>
          </a:prstGeom>
        </p:spPr>
        <p:txBody>
          <a:bodyPr spcFirstLastPara="1" wrap="square" lIns="91425" tIns="91425" rIns="91425" bIns="91425" anchor="t" anchorCtr="0">
            <a:noAutofit/>
          </a:bodyPr>
          <a:lstStyle/>
          <a:p>
            <a:pPr lvl="0"/>
            <a:r>
              <a:rPr lang="ru-RU" sz="2400" dirty="0" smtClean="0"/>
              <a:t>Структура правовой системы Российской Федерации</a:t>
            </a:r>
            <a:endParaRPr lang="ru-RU" sz="2400" dirty="0"/>
          </a:p>
        </p:txBody>
      </p:sp>
      <p:sp>
        <p:nvSpPr>
          <p:cNvPr id="4" name="Google Shape;433;p31"/>
          <p:cNvSpPr txBox="1">
            <a:spLocks noGrp="1"/>
          </p:cNvSpPr>
          <p:nvPr>
            <p:ph type="subTitle" idx="1"/>
          </p:nvPr>
        </p:nvSpPr>
        <p:spPr>
          <a:xfrm>
            <a:off x="202132" y="702644"/>
            <a:ext cx="8181472" cy="2926080"/>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indent="0"/>
            <a:r>
              <a:rPr lang="ru-RU" sz="1600" dirty="0">
                <a:solidFill>
                  <a:srgbClr val="002060"/>
                </a:solidFill>
              </a:rPr>
              <a:t>Система права </a:t>
            </a:r>
            <a:r>
              <a:rPr lang="ru-RU" sz="1600" dirty="0">
                <a:solidFill>
                  <a:schemeClr val="tx1"/>
                </a:solidFill>
              </a:rPr>
              <a:t>состоит из </a:t>
            </a:r>
            <a:r>
              <a:rPr lang="ru-RU" sz="1600" dirty="0">
                <a:solidFill>
                  <a:srgbClr val="002060"/>
                </a:solidFill>
              </a:rPr>
              <a:t>отраслей права</a:t>
            </a:r>
            <a:r>
              <a:rPr lang="ru-RU" sz="1600" dirty="0">
                <a:solidFill>
                  <a:schemeClr val="tx1"/>
                </a:solidFill>
              </a:rPr>
              <a:t>, каждая из которых </a:t>
            </a:r>
            <a:r>
              <a:rPr lang="ru-RU" sz="1600" dirty="0" smtClean="0">
                <a:solidFill>
                  <a:schemeClr val="tx1"/>
                </a:solidFill>
              </a:rPr>
              <a:t>регулирует </a:t>
            </a:r>
            <a:r>
              <a:rPr lang="ru-RU" sz="1600" dirty="0">
                <a:solidFill>
                  <a:schemeClr val="tx1"/>
                </a:solidFill>
              </a:rPr>
              <a:t>какую-то сферу жизни общества </a:t>
            </a:r>
            <a:r>
              <a:rPr lang="ru-RU" sz="1600" dirty="0" smtClean="0">
                <a:solidFill>
                  <a:schemeClr val="tx1"/>
                </a:solidFill>
              </a:rPr>
              <a:t>(определённые </a:t>
            </a:r>
            <a:r>
              <a:rPr lang="ru-RU" sz="1600" dirty="0">
                <a:solidFill>
                  <a:schemeClr val="tx1"/>
                </a:solidFill>
              </a:rPr>
              <a:t>общественные отношения</a:t>
            </a:r>
            <a:r>
              <a:rPr lang="ru-RU" sz="1600" dirty="0" smtClean="0">
                <a:solidFill>
                  <a:schemeClr val="tx1"/>
                </a:solidFill>
              </a:rPr>
              <a:t>): </a:t>
            </a:r>
            <a:r>
              <a:rPr lang="ru-RU" sz="1600" dirty="0">
                <a:solidFill>
                  <a:schemeClr val="tx1"/>
                </a:solidFill>
              </a:rPr>
              <a:t>конституционное право, гражданское право, уголовное право и т. д. Отрасли права, в свою очередь, состоят из </a:t>
            </a:r>
            <a:r>
              <a:rPr lang="ru-RU" sz="1600" dirty="0">
                <a:solidFill>
                  <a:srgbClr val="002060"/>
                </a:solidFill>
              </a:rPr>
              <a:t>правовых институтов</a:t>
            </a:r>
            <a:r>
              <a:rPr lang="ru-RU" sz="1600" dirty="0">
                <a:solidFill>
                  <a:schemeClr val="tx1"/>
                </a:solidFill>
              </a:rPr>
              <a:t>, каждый из которых регулирует определённую ситуацию или явление. Например, в конституционном праве есть институт референдума, институт гражданства и др., в гражданском праве – институт договора, институт собственности и др. А правовые институты, в свою очередь, состоят из </a:t>
            </a:r>
            <a:r>
              <a:rPr lang="ru-RU" sz="1600" dirty="0">
                <a:solidFill>
                  <a:srgbClr val="002060"/>
                </a:solidFill>
              </a:rPr>
              <a:t>норм </a:t>
            </a:r>
            <a:r>
              <a:rPr lang="ru-RU" sz="1600" dirty="0" smtClean="0">
                <a:solidFill>
                  <a:srgbClr val="002060"/>
                </a:solidFill>
              </a:rPr>
              <a:t>права (правовых норм) </a:t>
            </a:r>
            <a:r>
              <a:rPr lang="ru-RU" sz="1600" dirty="0">
                <a:solidFill>
                  <a:schemeClr val="tx1"/>
                </a:solidFill>
              </a:rPr>
              <a:t>– правил поведения, установленных государством</a:t>
            </a:r>
            <a:r>
              <a:rPr lang="ru-RU" sz="1600" dirty="0" smtClean="0">
                <a:solidFill>
                  <a:schemeClr val="tx1"/>
                </a:solidFill>
              </a:rPr>
              <a:t>.</a:t>
            </a:r>
          </a:p>
          <a:p>
            <a:pPr marL="0" indent="0"/>
            <a:endParaRPr lang="ru-RU" sz="1600" dirty="0">
              <a:solidFill>
                <a:schemeClr val="tx1"/>
              </a:solidFill>
            </a:endParaRPr>
          </a:p>
          <a:p>
            <a:pPr marL="0" indent="0"/>
            <a:r>
              <a:rPr lang="ru-RU" sz="1600" dirty="0" smtClean="0">
                <a:solidFill>
                  <a:schemeClr val="tx1"/>
                </a:solidFill>
              </a:rPr>
              <a:t>Данные </a:t>
            </a:r>
            <a:r>
              <a:rPr lang="ru-RU" sz="1600" dirty="0">
                <a:solidFill>
                  <a:schemeClr val="tx1"/>
                </a:solidFill>
              </a:rPr>
              <a:t>подходы выстраивают стройную иерархическую </a:t>
            </a:r>
            <a:r>
              <a:rPr lang="ru-RU" sz="1600" dirty="0" smtClean="0">
                <a:solidFill>
                  <a:schemeClr val="tx1"/>
                </a:solidFill>
              </a:rPr>
              <a:t>систему.</a:t>
            </a:r>
            <a:endParaRPr lang="ru-RU" sz="1600" dirty="0">
              <a:solidFill>
                <a:schemeClr val="tx1"/>
              </a:solidFill>
            </a:endParaRPr>
          </a:p>
          <a:p>
            <a:pPr marL="0" indent="0"/>
            <a:endParaRPr lang="ru-RU" sz="1600" dirty="0" smtClean="0">
              <a:solidFill>
                <a:schemeClr val="tx1"/>
              </a:solidFill>
            </a:endParaRPr>
          </a:p>
        </p:txBody>
      </p:sp>
      <p:grpSp>
        <p:nvGrpSpPr>
          <p:cNvPr id="5" name="Google Shape;5100;p62"/>
          <p:cNvGrpSpPr/>
          <p:nvPr/>
        </p:nvGrpSpPr>
        <p:grpSpPr>
          <a:xfrm>
            <a:off x="7244685" y="3719372"/>
            <a:ext cx="1633193" cy="1218138"/>
            <a:chOff x="-42994575" y="3950300"/>
            <a:chExt cx="319025" cy="317450"/>
          </a:xfrm>
        </p:grpSpPr>
        <p:sp>
          <p:nvSpPr>
            <p:cNvPr id="6" name="Google Shape;5101;p62"/>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102;p62"/>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103;p62"/>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Группа 8"/>
          <p:cNvGrpSpPr/>
          <p:nvPr/>
        </p:nvGrpSpPr>
        <p:grpSpPr>
          <a:xfrm>
            <a:off x="8140199" y="2346"/>
            <a:ext cx="1003801" cy="336960"/>
            <a:chOff x="0" y="0"/>
            <a:chExt cx="1003801" cy="336960"/>
          </a:xfrm>
        </p:grpSpPr>
        <p:sp>
          <p:nvSpPr>
            <p:cNvPr id="10" name="Скругленный прямоугольник 9"/>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1"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15</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142895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440868" y="96253"/>
            <a:ext cx="7704000" cy="572700"/>
          </a:xfrm>
          <a:prstGeom prst="rect">
            <a:avLst/>
          </a:prstGeom>
        </p:spPr>
        <p:txBody>
          <a:bodyPr spcFirstLastPara="1" wrap="square" lIns="91425" tIns="91425" rIns="91425" bIns="91425" anchor="t" anchorCtr="0">
            <a:noAutofit/>
          </a:bodyPr>
          <a:lstStyle/>
          <a:p>
            <a:pPr lvl="0"/>
            <a:r>
              <a:rPr lang="ru-RU" sz="2400" dirty="0" smtClean="0"/>
              <a:t>Структура правовой системы Российской Федерации</a:t>
            </a:r>
            <a:endParaRPr lang="ru-RU" sz="2400" dirty="0"/>
          </a:p>
        </p:txBody>
      </p:sp>
      <p:pic>
        <p:nvPicPr>
          <p:cNvPr id="5" name="Picture 2" descr="https://img-fotki.yandex.ru/get/38941/137929765.1d/0_20a068_1bdacb60_ori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010" y="571584"/>
            <a:ext cx="8401217" cy="4163104"/>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082;p55"/>
          <p:cNvSpPr/>
          <p:nvPr/>
        </p:nvSpPr>
        <p:spPr>
          <a:xfrm>
            <a:off x="2117559" y="837616"/>
            <a:ext cx="264694" cy="269290"/>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82;p55"/>
          <p:cNvSpPr/>
          <p:nvPr/>
        </p:nvSpPr>
        <p:spPr>
          <a:xfrm>
            <a:off x="2099112" y="1509781"/>
            <a:ext cx="264694" cy="269290"/>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82;p55"/>
          <p:cNvSpPr/>
          <p:nvPr/>
        </p:nvSpPr>
        <p:spPr>
          <a:xfrm>
            <a:off x="2103924" y="2162693"/>
            <a:ext cx="264694" cy="269290"/>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82;p55"/>
          <p:cNvSpPr/>
          <p:nvPr/>
        </p:nvSpPr>
        <p:spPr>
          <a:xfrm>
            <a:off x="2109538" y="2825232"/>
            <a:ext cx="264694" cy="269290"/>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Группа 10"/>
          <p:cNvGrpSpPr/>
          <p:nvPr/>
        </p:nvGrpSpPr>
        <p:grpSpPr>
          <a:xfrm>
            <a:off x="8140199" y="2346"/>
            <a:ext cx="1003801" cy="336960"/>
            <a:chOff x="0" y="0"/>
            <a:chExt cx="1003801" cy="336960"/>
          </a:xfrm>
        </p:grpSpPr>
        <p:sp>
          <p:nvSpPr>
            <p:cNvPr id="12" name="Скругленный прямоугольник 11"/>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3"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16</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9820987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440868" y="96253"/>
            <a:ext cx="7704000" cy="572700"/>
          </a:xfrm>
          <a:prstGeom prst="rect">
            <a:avLst/>
          </a:prstGeom>
        </p:spPr>
        <p:txBody>
          <a:bodyPr spcFirstLastPara="1" wrap="square" lIns="91425" tIns="91425" rIns="91425" bIns="91425" anchor="t" anchorCtr="0">
            <a:noAutofit/>
          </a:bodyPr>
          <a:lstStyle/>
          <a:p>
            <a:pPr lvl="0"/>
            <a:r>
              <a:rPr lang="ru-RU" sz="2400" dirty="0" smtClean="0"/>
              <a:t>Понятие «норма права» (1)</a:t>
            </a:r>
            <a:endParaRPr lang="ru-RU" sz="2400" dirty="0"/>
          </a:p>
        </p:txBody>
      </p:sp>
      <p:sp>
        <p:nvSpPr>
          <p:cNvPr id="4" name="Google Shape;433;p31"/>
          <p:cNvSpPr txBox="1">
            <a:spLocks noGrp="1"/>
          </p:cNvSpPr>
          <p:nvPr>
            <p:ph type="subTitle" idx="1"/>
          </p:nvPr>
        </p:nvSpPr>
        <p:spPr>
          <a:xfrm>
            <a:off x="115504" y="664143"/>
            <a:ext cx="8354728" cy="3619098"/>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indent="0"/>
            <a:r>
              <a:rPr lang="ru-RU" sz="1600" u="sng" dirty="0" smtClean="0">
                <a:solidFill>
                  <a:srgbClr val="002060"/>
                </a:solidFill>
              </a:rPr>
              <a:t>Норма права (правовая норма) </a:t>
            </a:r>
            <a:r>
              <a:rPr lang="ru-RU" sz="1600" dirty="0" smtClean="0">
                <a:solidFill>
                  <a:srgbClr val="002060"/>
                </a:solidFill>
              </a:rPr>
              <a:t>– это установленное </a:t>
            </a:r>
            <a:r>
              <a:rPr lang="ru-RU" sz="1600" dirty="0">
                <a:solidFill>
                  <a:srgbClr val="002060"/>
                </a:solidFill>
              </a:rPr>
              <a:t>или </a:t>
            </a:r>
            <a:r>
              <a:rPr lang="ru-RU" sz="1600" dirty="0" smtClean="0">
                <a:solidFill>
                  <a:srgbClr val="002060"/>
                </a:solidFill>
              </a:rPr>
              <a:t>санкционированное и охраняемое  государством</a:t>
            </a:r>
            <a:r>
              <a:rPr lang="ru-RU" sz="1600" dirty="0">
                <a:solidFill>
                  <a:srgbClr val="002060"/>
                </a:solidFill>
              </a:rPr>
              <a:t> </a:t>
            </a:r>
            <a:r>
              <a:rPr lang="ru-RU" sz="1600" dirty="0" smtClean="0">
                <a:solidFill>
                  <a:srgbClr val="002060"/>
                </a:solidFill>
              </a:rPr>
              <a:t>общеобязательное </a:t>
            </a:r>
            <a:r>
              <a:rPr lang="ru-RU" sz="1600" dirty="0">
                <a:solidFill>
                  <a:srgbClr val="002060"/>
                </a:solidFill>
              </a:rPr>
              <a:t>правило поведения</a:t>
            </a:r>
            <a:r>
              <a:rPr lang="ru-RU" sz="1600" dirty="0" smtClean="0">
                <a:solidFill>
                  <a:srgbClr val="002060"/>
                </a:solidFill>
              </a:rPr>
              <a:t>.</a:t>
            </a:r>
          </a:p>
          <a:p>
            <a:pPr marL="0" indent="0"/>
            <a:r>
              <a:rPr lang="ru-RU" sz="1600" dirty="0">
                <a:solidFill>
                  <a:srgbClr val="002060"/>
                </a:solidFill>
              </a:rPr>
              <a:t>Она создается не для отдельного индивида, а для </a:t>
            </a:r>
            <a:r>
              <a:rPr lang="ru-RU" sz="1600" dirty="0" smtClean="0">
                <a:solidFill>
                  <a:srgbClr val="002060"/>
                </a:solidFill>
              </a:rPr>
              <a:t>всех, </a:t>
            </a:r>
            <a:r>
              <a:rPr lang="ru-RU" sz="1600" dirty="0">
                <a:solidFill>
                  <a:srgbClr val="002060"/>
                </a:solidFill>
              </a:rPr>
              <a:t>входящих в состав данной категории людей (общества в целом</a:t>
            </a:r>
            <a:r>
              <a:rPr lang="ru-RU" sz="1600" dirty="0" smtClean="0">
                <a:solidFill>
                  <a:srgbClr val="002060"/>
                </a:solidFill>
              </a:rPr>
              <a:t>).</a:t>
            </a:r>
          </a:p>
          <a:p>
            <a:pPr marL="0" indent="0"/>
            <a:r>
              <a:rPr lang="ru-RU" sz="1600" u="sng" dirty="0" smtClean="0">
                <a:solidFill>
                  <a:srgbClr val="002060"/>
                </a:solidFill>
              </a:rPr>
              <a:t>Норма </a:t>
            </a:r>
            <a:r>
              <a:rPr lang="ru-RU" sz="1600" u="sng" dirty="0">
                <a:solidFill>
                  <a:srgbClr val="002060"/>
                </a:solidFill>
              </a:rPr>
              <a:t>права содержит вполне конкретное правило поведения</a:t>
            </a:r>
            <a:r>
              <a:rPr lang="ru-RU" sz="1600" u="sng" dirty="0" smtClean="0">
                <a:solidFill>
                  <a:srgbClr val="002060"/>
                </a:solidFill>
              </a:rPr>
              <a:t>.</a:t>
            </a:r>
          </a:p>
          <a:p>
            <a:pPr marL="0" indent="0"/>
            <a:r>
              <a:rPr lang="ru-RU" sz="1400" dirty="0" smtClean="0">
                <a:solidFill>
                  <a:srgbClr val="002060"/>
                </a:solidFill>
              </a:rPr>
              <a:t>Например</a:t>
            </a:r>
            <a:r>
              <a:rPr lang="ru-RU" sz="1400" dirty="0">
                <a:solidFill>
                  <a:srgbClr val="002060"/>
                </a:solidFill>
              </a:rPr>
              <a:t>, ст. 16 ГК РФ определяет, что убытки, причиненные гражданину или юридическому лицу в результате незаконных действий (бездействия) государственных органов, органов местного самоуправления или должностных лиц этих органов, в том числе издания, не соответствующего закону или иному правовому акту, акта государственного органа или органа местного самоуправления, подлежат возмещению Российской Федерацией, соответствующими субъектами федерации или муниципальным образованием. Здесь типичный пример нормы права как формально определенного правила, означающего полноту и точность указания на признаки правила поведения. Каждый индивидуальный случай причинения убытков гражданину или юридическому лицу подпадает под действие этой нормы, то есть она регулирует все повторяющиеся индивидуальные отношения данного вида</a:t>
            </a:r>
            <a:r>
              <a:rPr lang="ru-RU" sz="1400" dirty="0" smtClean="0">
                <a:solidFill>
                  <a:srgbClr val="002060"/>
                </a:solidFill>
              </a:rPr>
              <a:t>.</a:t>
            </a:r>
          </a:p>
        </p:txBody>
      </p:sp>
      <p:grpSp>
        <p:nvGrpSpPr>
          <p:cNvPr id="5" name="Google Shape;4833;p61"/>
          <p:cNvGrpSpPr/>
          <p:nvPr/>
        </p:nvGrpSpPr>
        <p:grpSpPr>
          <a:xfrm>
            <a:off x="6183089" y="1697027"/>
            <a:ext cx="292078" cy="339253"/>
            <a:chOff x="4492800" y="2027925"/>
            <a:chExt cx="414825" cy="481825"/>
          </a:xfrm>
        </p:grpSpPr>
        <p:sp>
          <p:nvSpPr>
            <p:cNvPr id="6" name="Google Shape;4834;p61"/>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 name="Google Shape;4835;p61"/>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8" name="Группа 7"/>
          <p:cNvGrpSpPr/>
          <p:nvPr/>
        </p:nvGrpSpPr>
        <p:grpSpPr>
          <a:xfrm>
            <a:off x="8140199" y="2346"/>
            <a:ext cx="1003801" cy="336960"/>
            <a:chOff x="0" y="0"/>
            <a:chExt cx="1003801" cy="336960"/>
          </a:xfrm>
        </p:grpSpPr>
        <p:sp>
          <p:nvSpPr>
            <p:cNvPr id="9" name="Скругленный прямоугольник 8"/>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0"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17</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071045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 name="Google Shape;433;p31"/>
          <p:cNvSpPr txBox="1">
            <a:spLocks noGrp="1"/>
          </p:cNvSpPr>
          <p:nvPr>
            <p:ph type="subTitle" idx="1"/>
          </p:nvPr>
        </p:nvSpPr>
        <p:spPr>
          <a:xfrm>
            <a:off x="125129" y="500514"/>
            <a:ext cx="8277725" cy="4013735"/>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indent="0"/>
            <a:endParaRPr lang="ru-RU" sz="1600" dirty="0" smtClean="0">
              <a:solidFill>
                <a:srgbClr val="002060"/>
              </a:solidFill>
            </a:endParaRPr>
          </a:p>
          <a:p>
            <a:pPr marL="0" indent="0"/>
            <a:r>
              <a:rPr lang="ru-RU" sz="1600" u="sng" dirty="0" smtClean="0">
                <a:solidFill>
                  <a:srgbClr val="002060"/>
                </a:solidFill>
              </a:rPr>
              <a:t>Норма </a:t>
            </a:r>
            <a:r>
              <a:rPr lang="ru-RU" sz="1600" u="sng" dirty="0">
                <a:solidFill>
                  <a:srgbClr val="002060"/>
                </a:solidFill>
              </a:rPr>
              <a:t>права регулирует не конкретную ситуацию и не конкретное правоотношение, а рассчитана на неограниченное применение в случае появления подобных ситуаций и отношений</a:t>
            </a:r>
            <a:r>
              <a:rPr lang="ru-RU" sz="1400" u="sng" dirty="0">
                <a:solidFill>
                  <a:srgbClr val="002060"/>
                </a:solidFill>
              </a:rPr>
              <a:t>. </a:t>
            </a:r>
            <a:endParaRPr lang="ru-RU" sz="1400" u="sng" dirty="0" smtClean="0">
              <a:solidFill>
                <a:srgbClr val="002060"/>
              </a:solidFill>
            </a:endParaRPr>
          </a:p>
          <a:p>
            <a:pPr marL="0" indent="0"/>
            <a:r>
              <a:rPr lang="ru-RU" sz="1400" dirty="0" smtClean="0">
                <a:solidFill>
                  <a:srgbClr val="002060"/>
                </a:solidFill>
              </a:rPr>
              <a:t>Вот </a:t>
            </a:r>
            <a:r>
              <a:rPr lang="ru-RU" sz="1400" dirty="0">
                <a:solidFill>
                  <a:srgbClr val="002060"/>
                </a:solidFill>
              </a:rPr>
              <a:t>несколько примеров:</a:t>
            </a:r>
          </a:p>
          <a:p>
            <a:pPr marL="0" indent="0"/>
            <a:r>
              <a:rPr lang="ru-RU" sz="1400" dirty="0" smtClean="0">
                <a:solidFill>
                  <a:srgbClr val="002060"/>
                </a:solidFill>
              </a:rPr>
              <a:t>«</a:t>
            </a:r>
            <a:r>
              <a:rPr lang="ru-RU" sz="1400" dirty="0">
                <a:solidFill>
                  <a:srgbClr val="002060"/>
                </a:solidFill>
              </a:rPr>
              <a:t>Никто не может быть ограничен в трудовых правах и свободах или получать какие-либо преимущества в зависимости от пола, расы, цвета кожи, национальности, языка, происхождения, имущественного, семейного, социального и должностного положения, возраста, места жительства, отношения к религии, убеждений, принадлежности или непринадлежности к общественным объединениям или каким-либо социальным группам, а также от других обстоятельств, не связанных с деловыми качествами работника» (Трудовой кодекс РФ, ст. 3)</a:t>
            </a:r>
          </a:p>
          <a:p>
            <a:pPr marL="0" indent="0"/>
            <a:endParaRPr lang="ru-RU" sz="1400" dirty="0">
              <a:solidFill>
                <a:srgbClr val="002060"/>
              </a:solidFill>
            </a:endParaRPr>
          </a:p>
          <a:p>
            <a:pPr marL="0" indent="0"/>
            <a:r>
              <a:rPr lang="ru-RU" sz="1400" dirty="0">
                <a:solidFill>
                  <a:srgbClr val="002060"/>
                </a:solidFill>
              </a:rPr>
              <a:t>«Сотрудник подразделения ППСП в любых условиях должен быть вежливым и тактичным с гражданами, обращаться к ним на "Вы", свои требования и замечания излагать в убедительной и понятной форме, не допускать споров и действий, оскорбляющих их честь и достоинство» (Устав Патрульно-постовой службы полиции, ст. 226)</a:t>
            </a:r>
          </a:p>
          <a:p>
            <a:pPr marL="0" indent="0"/>
            <a:endParaRPr lang="ru-RU" sz="1400" dirty="0">
              <a:solidFill>
                <a:srgbClr val="002060"/>
              </a:solidFill>
            </a:endParaRPr>
          </a:p>
          <a:p>
            <a:pPr marL="0" indent="0"/>
            <a:r>
              <a:rPr lang="ru-RU" sz="1400" dirty="0">
                <a:solidFill>
                  <a:srgbClr val="002060"/>
                </a:solidFill>
              </a:rPr>
              <a:t>«Граждане Российской Федерации имеют право собираться мирно, без оружия, проводить собрания, митинги и демонстрации, шествия и пикетирование» (Конституция РФ, ст. 31)</a:t>
            </a:r>
          </a:p>
        </p:txBody>
      </p:sp>
      <p:grpSp>
        <p:nvGrpSpPr>
          <p:cNvPr id="5" name="Google Shape;4833;p61"/>
          <p:cNvGrpSpPr/>
          <p:nvPr/>
        </p:nvGrpSpPr>
        <p:grpSpPr>
          <a:xfrm>
            <a:off x="7598004" y="1067162"/>
            <a:ext cx="292078" cy="339253"/>
            <a:chOff x="4492800" y="2027925"/>
            <a:chExt cx="414825" cy="481825"/>
          </a:xfrm>
        </p:grpSpPr>
        <p:sp>
          <p:nvSpPr>
            <p:cNvPr id="6" name="Google Shape;4834;p61"/>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 name="Google Shape;4835;p61"/>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8" name="Google Shape;421;p31"/>
          <p:cNvSpPr txBox="1">
            <a:spLocks noGrp="1"/>
          </p:cNvSpPr>
          <p:nvPr>
            <p:ph type="title"/>
          </p:nvPr>
        </p:nvSpPr>
        <p:spPr>
          <a:xfrm>
            <a:off x="469744" y="-1"/>
            <a:ext cx="7704000" cy="452387"/>
          </a:xfrm>
          <a:prstGeom prst="rect">
            <a:avLst/>
          </a:prstGeom>
        </p:spPr>
        <p:txBody>
          <a:bodyPr spcFirstLastPara="1" wrap="square" lIns="91425" tIns="91425" rIns="91425" bIns="91425" anchor="t" anchorCtr="0">
            <a:noAutofit/>
          </a:bodyPr>
          <a:lstStyle/>
          <a:p>
            <a:pPr lvl="0"/>
            <a:r>
              <a:rPr lang="ru-RU" sz="2400" dirty="0" smtClean="0"/>
              <a:t>Понятие «норма права» (2)</a:t>
            </a:r>
            <a:endParaRPr lang="ru-RU" sz="2400" dirty="0"/>
          </a:p>
        </p:txBody>
      </p:sp>
      <p:grpSp>
        <p:nvGrpSpPr>
          <p:cNvPr id="9" name="Группа 8"/>
          <p:cNvGrpSpPr/>
          <p:nvPr/>
        </p:nvGrpSpPr>
        <p:grpSpPr>
          <a:xfrm>
            <a:off x="8140199" y="2346"/>
            <a:ext cx="1003801" cy="336960"/>
            <a:chOff x="0" y="0"/>
            <a:chExt cx="1003801" cy="336960"/>
          </a:xfrm>
        </p:grpSpPr>
        <p:sp>
          <p:nvSpPr>
            <p:cNvPr id="10" name="Скругленный прямоугольник 9"/>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1"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18</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162431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20" name="Google Shape;520;p36"/>
          <p:cNvSpPr txBox="1">
            <a:spLocks noGrp="1"/>
          </p:cNvSpPr>
          <p:nvPr>
            <p:ph type="title"/>
          </p:nvPr>
        </p:nvSpPr>
        <p:spPr>
          <a:xfrm>
            <a:off x="681498" y="242894"/>
            <a:ext cx="7704000" cy="572700"/>
          </a:xfrm>
          <a:prstGeom prst="rect">
            <a:avLst/>
          </a:prstGeom>
        </p:spPr>
        <p:txBody>
          <a:bodyPr spcFirstLastPara="1" wrap="square" lIns="91425" tIns="91425" rIns="91425" bIns="91425" anchor="t" anchorCtr="0">
            <a:noAutofit/>
          </a:bodyPr>
          <a:lstStyle/>
          <a:p>
            <a:pPr lvl="0"/>
            <a:r>
              <a:rPr lang="ru-RU" sz="2400" dirty="0" smtClean="0"/>
              <a:t>2. Структура </a:t>
            </a:r>
            <a:r>
              <a:rPr lang="ru-RU" sz="2400" dirty="0"/>
              <a:t>правовой нормы</a:t>
            </a:r>
            <a:endParaRPr sz="2400" dirty="0"/>
          </a:p>
        </p:txBody>
      </p:sp>
      <p:sp>
        <p:nvSpPr>
          <p:cNvPr id="521" name="Google Shape;521;p36"/>
          <p:cNvSpPr txBox="1">
            <a:spLocks noGrp="1"/>
          </p:cNvSpPr>
          <p:nvPr>
            <p:ph type="subTitle" idx="1"/>
          </p:nvPr>
        </p:nvSpPr>
        <p:spPr>
          <a:xfrm>
            <a:off x="463603" y="1417989"/>
            <a:ext cx="7583117" cy="757321"/>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t" anchorCtr="0">
            <a:noAutofit/>
          </a:bodyPr>
          <a:lstStyle/>
          <a:p>
            <a:pPr marL="0" lvl="0" indent="0"/>
            <a:r>
              <a:rPr lang="ru-RU" sz="1400" b="1" dirty="0" smtClean="0"/>
              <a:t>Даёт представление о </a:t>
            </a:r>
            <a:r>
              <a:rPr lang="ru-RU" sz="1400" b="1" dirty="0"/>
              <a:t>тех лицах, к которым относится эта норма права, о территории и времени действия этой правовой нормы, </a:t>
            </a:r>
            <a:r>
              <a:rPr lang="ru-RU" sz="1400" b="1" dirty="0" smtClean="0"/>
              <a:t>то </a:t>
            </a:r>
            <a:r>
              <a:rPr lang="ru-RU" sz="1400" b="1" dirty="0"/>
              <a:t>есть </a:t>
            </a:r>
            <a:r>
              <a:rPr lang="ru-RU" sz="1400" b="1" dirty="0" smtClean="0"/>
              <a:t>указывает </a:t>
            </a:r>
            <a:r>
              <a:rPr lang="ru-RU" sz="1400" b="1" dirty="0"/>
              <a:t>на </a:t>
            </a:r>
            <a:r>
              <a:rPr lang="ru-RU" sz="1400" b="1" dirty="0" smtClean="0"/>
              <a:t>условия, </a:t>
            </a:r>
            <a:r>
              <a:rPr lang="ru-RU" sz="1400" b="1" dirty="0"/>
              <a:t>при </a:t>
            </a:r>
            <a:r>
              <a:rPr lang="ru-RU" sz="1400" b="1" dirty="0" smtClean="0"/>
              <a:t>которых </a:t>
            </a:r>
            <a:r>
              <a:rPr lang="ru-RU" sz="1400" b="1" dirty="0"/>
              <a:t>эта норма должна осуществляться и на кого </a:t>
            </a:r>
            <a:r>
              <a:rPr lang="ru-RU" sz="1400" b="1" dirty="0" smtClean="0"/>
              <a:t>распространяется.</a:t>
            </a:r>
            <a:endParaRPr sz="1400" b="1" dirty="0"/>
          </a:p>
        </p:txBody>
      </p:sp>
      <p:sp>
        <p:nvSpPr>
          <p:cNvPr id="525" name="Google Shape;525;p36"/>
          <p:cNvSpPr txBox="1">
            <a:spLocks noGrp="1"/>
          </p:cNvSpPr>
          <p:nvPr>
            <p:ph type="subTitle" idx="5"/>
          </p:nvPr>
        </p:nvSpPr>
        <p:spPr>
          <a:xfrm>
            <a:off x="464817" y="1017710"/>
            <a:ext cx="2593212" cy="447900"/>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lvl="0" indent="0"/>
            <a:r>
              <a:rPr lang="ru-RU" dirty="0" smtClean="0"/>
              <a:t>1) Гипотеза </a:t>
            </a:r>
            <a:r>
              <a:rPr lang="ru-RU" dirty="0"/>
              <a:t>(если…)</a:t>
            </a:r>
            <a:endParaRPr dirty="0"/>
          </a:p>
        </p:txBody>
      </p:sp>
      <p:sp>
        <p:nvSpPr>
          <p:cNvPr id="19" name="Google Shape;525;p36"/>
          <p:cNvSpPr txBox="1">
            <a:spLocks noGrp="1"/>
          </p:cNvSpPr>
          <p:nvPr>
            <p:ph type="subTitle" idx="5"/>
          </p:nvPr>
        </p:nvSpPr>
        <p:spPr>
          <a:xfrm>
            <a:off x="3140639" y="3598244"/>
            <a:ext cx="2593212" cy="447900"/>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lvl="0" indent="0"/>
            <a:r>
              <a:rPr lang="ru-RU" dirty="0" smtClean="0"/>
              <a:t>3) Санкция (иначе…)</a:t>
            </a:r>
            <a:endParaRPr dirty="0"/>
          </a:p>
        </p:txBody>
      </p:sp>
      <p:sp>
        <p:nvSpPr>
          <p:cNvPr id="20" name="Google Shape;525;p36"/>
          <p:cNvSpPr txBox="1">
            <a:spLocks noGrp="1"/>
          </p:cNvSpPr>
          <p:nvPr>
            <p:ph type="subTitle" idx="5"/>
          </p:nvPr>
        </p:nvSpPr>
        <p:spPr>
          <a:xfrm>
            <a:off x="1584152" y="2310064"/>
            <a:ext cx="2593212" cy="447900"/>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lvl="0" indent="0"/>
            <a:r>
              <a:rPr lang="ru-RU" dirty="0" smtClean="0"/>
              <a:t>2) Диспозиция (то…)</a:t>
            </a:r>
            <a:endParaRPr dirty="0"/>
          </a:p>
        </p:txBody>
      </p:sp>
      <p:sp>
        <p:nvSpPr>
          <p:cNvPr id="26" name="Google Shape;521;p36"/>
          <p:cNvSpPr txBox="1">
            <a:spLocks noGrp="1"/>
          </p:cNvSpPr>
          <p:nvPr>
            <p:ph type="subTitle" idx="1"/>
          </p:nvPr>
        </p:nvSpPr>
        <p:spPr>
          <a:xfrm>
            <a:off x="1617043" y="2773548"/>
            <a:ext cx="7238199" cy="778174"/>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t" anchorCtr="0">
            <a:noAutofit/>
          </a:bodyPr>
          <a:lstStyle/>
          <a:p>
            <a:pPr marL="0" lvl="0" indent="0"/>
            <a:r>
              <a:rPr lang="ru-RU" sz="1400" b="1" dirty="0" smtClean="0"/>
              <a:t>Само правило поведения; указывает, каким </a:t>
            </a:r>
            <a:r>
              <a:rPr lang="ru-RU" sz="1400" b="1" dirty="0"/>
              <a:t>может и каким должно быть </a:t>
            </a:r>
            <a:r>
              <a:rPr lang="ru-RU" sz="1400" b="1" dirty="0" smtClean="0"/>
              <a:t>поведение</a:t>
            </a:r>
            <a:r>
              <a:rPr lang="ru-RU" sz="1400" b="1" dirty="0"/>
              <a:t>, которому должны следовать участники </a:t>
            </a:r>
            <a:r>
              <a:rPr lang="ru-RU" sz="1400" b="1" dirty="0" smtClean="0"/>
              <a:t>правоотношений, когда </a:t>
            </a:r>
            <a:r>
              <a:rPr lang="ru-RU" sz="1400" b="1" dirty="0"/>
              <a:t>наступили те условия, которые предусмотрены гипотезой.</a:t>
            </a:r>
            <a:endParaRPr sz="1400" b="1" dirty="0"/>
          </a:p>
        </p:txBody>
      </p:sp>
      <p:sp>
        <p:nvSpPr>
          <p:cNvPr id="27" name="Google Shape;521;p36"/>
          <p:cNvSpPr txBox="1">
            <a:spLocks noGrp="1"/>
          </p:cNvSpPr>
          <p:nvPr>
            <p:ph type="subTitle" idx="1"/>
          </p:nvPr>
        </p:nvSpPr>
        <p:spPr>
          <a:xfrm>
            <a:off x="3147461" y="4030047"/>
            <a:ext cx="5996539" cy="1013590"/>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t" anchorCtr="0">
            <a:noAutofit/>
          </a:bodyPr>
          <a:lstStyle/>
          <a:p>
            <a:pPr marL="0" lvl="0" indent="0"/>
            <a:r>
              <a:rPr lang="ru-RU" sz="1400" b="1" dirty="0" smtClean="0"/>
              <a:t>Содержит </a:t>
            </a:r>
            <a:r>
              <a:rPr lang="ru-RU" sz="1400" b="1" dirty="0"/>
              <a:t>описание неблагоприятных </a:t>
            </a:r>
            <a:r>
              <a:rPr lang="ru-RU" sz="1400" b="1" dirty="0" smtClean="0"/>
              <a:t>последствий для</a:t>
            </a:r>
            <a:r>
              <a:rPr lang="ru-RU" sz="1400" b="1" dirty="0"/>
              <a:t> правонарушителя, мер государственного принуждения, </a:t>
            </a:r>
            <a:r>
              <a:rPr lang="ru-RU" sz="1400" b="1" dirty="0" smtClean="0"/>
              <a:t>наказания (</a:t>
            </a:r>
            <a:r>
              <a:rPr lang="ru-RU" sz="1400" b="1" dirty="0"/>
              <a:t>меры юридической ответственности</a:t>
            </a:r>
            <a:r>
              <a:rPr lang="ru-RU" sz="1400" b="1" dirty="0" smtClean="0"/>
              <a:t>), </a:t>
            </a:r>
            <a:r>
              <a:rPr lang="ru-RU" sz="1400" b="1" dirty="0"/>
              <a:t>которые могут наступать для лица, </a:t>
            </a:r>
            <a:r>
              <a:rPr lang="ru-RU" sz="1400" b="1" dirty="0" smtClean="0"/>
              <a:t>не выполнившего </a:t>
            </a:r>
            <a:r>
              <a:rPr lang="ru-RU" sz="1400" b="1" dirty="0"/>
              <a:t>требование </a:t>
            </a:r>
            <a:r>
              <a:rPr lang="ru-RU" sz="1400" b="1" dirty="0" smtClean="0"/>
              <a:t>диспозиции.</a:t>
            </a:r>
            <a:endParaRPr sz="1400" b="1" dirty="0"/>
          </a:p>
        </p:txBody>
      </p:sp>
      <p:grpSp>
        <p:nvGrpSpPr>
          <p:cNvPr id="9" name="Группа 8"/>
          <p:cNvGrpSpPr/>
          <p:nvPr/>
        </p:nvGrpSpPr>
        <p:grpSpPr>
          <a:xfrm>
            <a:off x="8140199" y="2346"/>
            <a:ext cx="1003801" cy="336960"/>
            <a:chOff x="0" y="0"/>
            <a:chExt cx="1003801" cy="336960"/>
          </a:xfrm>
        </p:grpSpPr>
        <p:sp>
          <p:nvSpPr>
            <p:cNvPr id="10" name="Скругленный прямоугольник 9"/>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1"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19</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3421209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250257" y="263335"/>
            <a:ext cx="7969718" cy="497061"/>
          </a:xfrm>
          <a:prstGeom prst="rect">
            <a:avLst/>
          </a:prstGeom>
        </p:spPr>
        <p:txBody>
          <a:bodyPr spcFirstLastPara="1" wrap="square" lIns="91425" tIns="91425" rIns="91425" bIns="91425" anchor="t" anchorCtr="0">
            <a:noAutofit/>
          </a:bodyPr>
          <a:lstStyle/>
          <a:p>
            <a:pPr lvl="0"/>
            <a:r>
              <a:rPr lang="ru-RU" sz="2000" dirty="0" smtClean="0"/>
              <a:t>Примеры взаимосвязи структурных элементов правовой нормы (1)</a:t>
            </a:r>
            <a:endParaRPr lang="ru-RU" sz="2000" dirty="0"/>
          </a:p>
        </p:txBody>
      </p:sp>
      <p:sp>
        <p:nvSpPr>
          <p:cNvPr id="4" name="Прямоугольник 3"/>
          <p:cNvSpPr/>
          <p:nvPr/>
        </p:nvSpPr>
        <p:spPr>
          <a:xfrm>
            <a:off x="452387" y="922663"/>
            <a:ext cx="7921592" cy="3754874"/>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fontAlgn="t"/>
            <a:r>
              <a:rPr lang="ru-RU" b="1" dirty="0">
                <a:solidFill>
                  <a:srgbClr val="002060"/>
                </a:solidFill>
              </a:rPr>
              <a:t>Деление нормы права на данные три </a:t>
            </a:r>
            <a:r>
              <a:rPr lang="ru-RU" b="1" dirty="0" smtClean="0">
                <a:solidFill>
                  <a:srgbClr val="002060"/>
                </a:solidFill>
              </a:rPr>
              <a:t>составляющие называется </a:t>
            </a:r>
            <a:r>
              <a:rPr lang="ru-RU" b="1" dirty="0">
                <a:solidFill>
                  <a:srgbClr val="002060"/>
                </a:solidFill>
              </a:rPr>
              <a:t>в </a:t>
            </a:r>
            <a:r>
              <a:rPr lang="ru-RU" b="1" u="sng" dirty="0">
                <a:solidFill>
                  <a:srgbClr val="002060"/>
                </a:solidFill>
              </a:rPr>
              <a:t>науке </a:t>
            </a:r>
            <a:r>
              <a:rPr lang="ru-RU" b="1" u="sng" dirty="0">
                <a:solidFill>
                  <a:srgbClr val="7030A0"/>
                </a:solidFill>
              </a:rPr>
              <a:t>«логической нормой». </a:t>
            </a:r>
            <a:r>
              <a:rPr lang="ru-RU" b="1" dirty="0">
                <a:solidFill>
                  <a:srgbClr val="002060"/>
                </a:solidFill>
              </a:rPr>
              <a:t>Ее </a:t>
            </a:r>
            <a:r>
              <a:rPr lang="ru-RU" b="1" dirty="0" smtClean="0">
                <a:solidFill>
                  <a:srgbClr val="002060"/>
                </a:solidFill>
              </a:rPr>
              <a:t>элементы взаимосвязаны </a:t>
            </a:r>
            <a:r>
              <a:rPr lang="ru-RU" b="1" dirty="0">
                <a:solidFill>
                  <a:srgbClr val="002060"/>
                </a:solidFill>
              </a:rPr>
              <a:t>между собой и проявляются в </a:t>
            </a:r>
            <a:r>
              <a:rPr lang="ru-RU" b="1" dirty="0" smtClean="0">
                <a:solidFill>
                  <a:srgbClr val="002060"/>
                </a:solidFill>
              </a:rPr>
              <a:t>положениях </a:t>
            </a:r>
            <a:r>
              <a:rPr lang="ru-RU" b="1" dirty="0">
                <a:solidFill>
                  <a:srgbClr val="002060"/>
                </a:solidFill>
              </a:rPr>
              <a:t>нормативных правовых актов по условной схеме:</a:t>
            </a:r>
          </a:p>
          <a:p>
            <a:pPr fontAlgn="t"/>
            <a:r>
              <a:rPr lang="ru-RU" b="1" dirty="0">
                <a:solidFill>
                  <a:srgbClr val="002060"/>
                </a:solidFill>
              </a:rPr>
              <a:t>«если… то…, а в противном случае… ».</a:t>
            </a:r>
          </a:p>
          <a:p>
            <a:pPr fontAlgn="t"/>
            <a:r>
              <a:rPr lang="ru-RU" b="1" dirty="0" smtClean="0">
                <a:solidFill>
                  <a:srgbClr val="002060"/>
                </a:solidFill>
              </a:rPr>
              <a:t>Взаимодействуя </a:t>
            </a:r>
            <a:r>
              <a:rPr lang="ru-RU" b="1" dirty="0">
                <a:solidFill>
                  <a:srgbClr val="002060"/>
                </a:solidFill>
              </a:rPr>
              <a:t>между собой, указанные </a:t>
            </a:r>
            <a:r>
              <a:rPr lang="ru-RU" b="1" dirty="0" smtClean="0">
                <a:solidFill>
                  <a:srgbClr val="002060"/>
                </a:solidFill>
              </a:rPr>
              <a:t>элементы образуют </a:t>
            </a:r>
            <a:r>
              <a:rPr lang="ru-RU" b="1" dirty="0">
                <a:solidFill>
                  <a:srgbClr val="002060"/>
                </a:solidFill>
              </a:rPr>
              <a:t>следующую структуру нормы права: </a:t>
            </a:r>
            <a:r>
              <a:rPr lang="ru-RU" b="1" u="sng" dirty="0" smtClean="0">
                <a:solidFill>
                  <a:srgbClr val="002060"/>
                </a:solidFill>
              </a:rPr>
              <a:t>диспозиция</a:t>
            </a:r>
            <a:r>
              <a:rPr lang="ru-RU" b="1" dirty="0" smtClean="0">
                <a:solidFill>
                  <a:srgbClr val="002060"/>
                </a:solidFill>
              </a:rPr>
              <a:t> </a:t>
            </a:r>
            <a:r>
              <a:rPr lang="ru-RU" b="1" dirty="0">
                <a:solidFill>
                  <a:srgbClr val="002060"/>
                </a:solidFill>
              </a:rPr>
              <a:t>определяет модель противоправного поведения;</a:t>
            </a:r>
          </a:p>
          <a:p>
            <a:pPr fontAlgn="t"/>
            <a:r>
              <a:rPr lang="ru-RU" b="1" u="sng" dirty="0">
                <a:solidFill>
                  <a:srgbClr val="002060"/>
                </a:solidFill>
              </a:rPr>
              <a:t>гипотеза </a:t>
            </a:r>
            <a:r>
              <a:rPr lang="ru-RU" b="1" dirty="0">
                <a:solidFill>
                  <a:srgbClr val="002060"/>
                </a:solidFill>
              </a:rPr>
              <a:t>определяет условия применения </a:t>
            </a:r>
            <a:r>
              <a:rPr lang="ru-RU" b="1" dirty="0" smtClean="0">
                <a:solidFill>
                  <a:srgbClr val="002060"/>
                </a:solidFill>
              </a:rPr>
              <a:t>принудительного </a:t>
            </a:r>
            <a:r>
              <a:rPr lang="ru-RU" b="1" dirty="0">
                <a:solidFill>
                  <a:srgbClr val="002060"/>
                </a:solidFill>
              </a:rPr>
              <a:t>воздействия; </a:t>
            </a:r>
            <a:r>
              <a:rPr lang="ru-RU" b="1" u="sng" dirty="0">
                <a:solidFill>
                  <a:srgbClr val="002060"/>
                </a:solidFill>
              </a:rPr>
              <a:t>санкция </a:t>
            </a:r>
            <a:r>
              <a:rPr lang="ru-RU" b="1" dirty="0">
                <a:solidFill>
                  <a:srgbClr val="002060"/>
                </a:solidFill>
              </a:rPr>
              <a:t>содержит меры </a:t>
            </a:r>
            <a:r>
              <a:rPr lang="ru-RU" b="1" dirty="0" smtClean="0">
                <a:solidFill>
                  <a:srgbClr val="002060"/>
                </a:solidFill>
              </a:rPr>
              <a:t>применяемого </a:t>
            </a:r>
            <a:r>
              <a:rPr lang="ru-RU" b="1" dirty="0">
                <a:solidFill>
                  <a:srgbClr val="002060"/>
                </a:solidFill>
              </a:rPr>
              <a:t>принуждения.</a:t>
            </a:r>
          </a:p>
          <a:p>
            <a:pPr fontAlgn="t"/>
            <a:r>
              <a:rPr lang="ru-RU" b="1" dirty="0">
                <a:solidFill>
                  <a:srgbClr val="002060"/>
                </a:solidFill>
              </a:rPr>
              <a:t>В качестве примера можно привести структуру </a:t>
            </a:r>
            <a:r>
              <a:rPr lang="ru-RU" b="1" dirty="0" smtClean="0">
                <a:solidFill>
                  <a:srgbClr val="002060"/>
                </a:solidFill>
              </a:rPr>
              <a:t>нормы </a:t>
            </a:r>
            <a:r>
              <a:rPr lang="ru-RU" b="1" dirty="0">
                <a:solidFill>
                  <a:srgbClr val="002060"/>
                </a:solidFill>
              </a:rPr>
              <a:t>гражданского процессуального права, </a:t>
            </a:r>
            <a:r>
              <a:rPr lang="ru-RU" b="1" dirty="0" smtClean="0">
                <a:solidFill>
                  <a:srgbClr val="002060"/>
                </a:solidFill>
              </a:rPr>
              <a:t>содержащейся </a:t>
            </a:r>
            <a:r>
              <a:rPr lang="ru-RU" b="1" dirty="0">
                <a:solidFill>
                  <a:srgbClr val="002060"/>
                </a:solidFill>
              </a:rPr>
              <a:t>в ст. 140 ГПК РФ:</a:t>
            </a:r>
          </a:p>
          <a:p>
            <a:pPr fontAlgn="t"/>
            <a:r>
              <a:rPr lang="ru-RU" b="1" dirty="0" smtClean="0">
                <a:solidFill>
                  <a:srgbClr val="002060"/>
                </a:solidFill>
              </a:rPr>
              <a:t>1) диспозиция</a:t>
            </a:r>
            <a:r>
              <a:rPr lang="ru-RU" b="1" dirty="0">
                <a:solidFill>
                  <a:srgbClr val="002060"/>
                </a:solidFill>
              </a:rPr>
              <a:t>: совершение лицом действий, </a:t>
            </a:r>
            <a:r>
              <a:rPr lang="ru-RU" b="1" dirty="0" smtClean="0">
                <a:solidFill>
                  <a:srgbClr val="002060"/>
                </a:solidFill>
              </a:rPr>
              <a:t>запрещенных </a:t>
            </a:r>
            <a:r>
              <a:rPr lang="ru-RU" b="1" dirty="0">
                <a:solidFill>
                  <a:srgbClr val="002060"/>
                </a:solidFill>
              </a:rPr>
              <a:t>п. п. 2 или 3 ч. 1 ст. 140 ГПК </a:t>
            </a:r>
            <a:r>
              <a:rPr lang="ru-RU" b="1" dirty="0" smtClean="0">
                <a:solidFill>
                  <a:srgbClr val="002060"/>
                </a:solidFill>
              </a:rPr>
              <a:t>РФ;</a:t>
            </a:r>
          </a:p>
          <a:p>
            <a:pPr fontAlgn="t"/>
            <a:r>
              <a:rPr lang="ru-RU" b="1" dirty="0" smtClean="0">
                <a:solidFill>
                  <a:srgbClr val="002060"/>
                </a:solidFill>
              </a:rPr>
              <a:t>2</a:t>
            </a:r>
            <a:r>
              <a:rPr lang="ru-RU" b="1" dirty="0">
                <a:solidFill>
                  <a:srgbClr val="002060"/>
                </a:solidFill>
              </a:rPr>
              <a:t>) гипотеза: закон не содержит специального </a:t>
            </a:r>
            <a:r>
              <a:rPr lang="ru-RU" b="1" dirty="0" smtClean="0">
                <a:solidFill>
                  <a:srgbClr val="002060"/>
                </a:solidFill>
              </a:rPr>
              <a:t>порядка </a:t>
            </a:r>
            <a:r>
              <a:rPr lang="ru-RU" b="1" dirty="0">
                <a:solidFill>
                  <a:srgbClr val="002060"/>
                </a:solidFill>
              </a:rPr>
              <a:t>наложения штрафа, в связи с чем </a:t>
            </a:r>
            <a:r>
              <a:rPr lang="ru-RU" b="1" dirty="0" smtClean="0">
                <a:solidFill>
                  <a:srgbClr val="002060"/>
                </a:solidFill>
              </a:rPr>
              <a:t>используются </a:t>
            </a:r>
            <a:r>
              <a:rPr lang="ru-RU" b="1" dirty="0">
                <a:solidFill>
                  <a:srgbClr val="002060"/>
                </a:solidFill>
              </a:rPr>
              <a:t>общие процедуры гражданского </a:t>
            </a:r>
            <a:r>
              <a:rPr lang="ru-RU" b="1" dirty="0" smtClean="0">
                <a:solidFill>
                  <a:srgbClr val="002060"/>
                </a:solidFill>
              </a:rPr>
              <a:t>судопроизводства </a:t>
            </a:r>
            <a:r>
              <a:rPr lang="ru-RU" b="1" dirty="0">
                <a:solidFill>
                  <a:srgbClr val="002060"/>
                </a:solidFill>
              </a:rPr>
              <a:t>(аналогия права);</a:t>
            </a:r>
          </a:p>
          <a:p>
            <a:pPr fontAlgn="t"/>
            <a:r>
              <a:rPr lang="ru-RU" b="1" dirty="0" smtClean="0">
                <a:solidFill>
                  <a:srgbClr val="002060"/>
                </a:solidFill>
              </a:rPr>
              <a:t>3</a:t>
            </a:r>
            <a:r>
              <a:rPr lang="ru-RU" b="1" dirty="0">
                <a:solidFill>
                  <a:srgbClr val="002060"/>
                </a:solidFill>
              </a:rPr>
              <a:t>) санкция: штраф и возмещение убытков, </a:t>
            </a:r>
            <a:r>
              <a:rPr lang="ru-RU" b="1" dirty="0" smtClean="0">
                <a:solidFill>
                  <a:srgbClr val="002060"/>
                </a:solidFill>
              </a:rPr>
              <a:t>причиненных </a:t>
            </a:r>
            <a:r>
              <a:rPr lang="ru-RU" b="1" dirty="0">
                <a:solidFill>
                  <a:srgbClr val="002060"/>
                </a:solidFill>
              </a:rPr>
              <a:t>действиями нарушителя, в </a:t>
            </a:r>
            <a:r>
              <a:rPr lang="ru-RU" b="1" dirty="0" smtClean="0">
                <a:solidFill>
                  <a:srgbClr val="002060"/>
                </a:solidFill>
              </a:rPr>
              <a:t>соответствии с ч. 2 ст. 140 ГПК РФ.</a:t>
            </a:r>
            <a:endParaRPr lang="ru-RU" b="1" dirty="0">
              <a:solidFill>
                <a:srgbClr val="002060"/>
              </a:solidFill>
            </a:endParaRPr>
          </a:p>
        </p:txBody>
      </p:sp>
      <p:grpSp>
        <p:nvGrpSpPr>
          <p:cNvPr id="5" name="Группа 4"/>
          <p:cNvGrpSpPr/>
          <p:nvPr/>
        </p:nvGrpSpPr>
        <p:grpSpPr>
          <a:xfrm>
            <a:off x="8140199" y="2346"/>
            <a:ext cx="1003801" cy="336960"/>
            <a:chOff x="0" y="0"/>
            <a:chExt cx="1003801" cy="336960"/>
          </a:xfrm>
        </p:grpSpPr>
        <p:sp>
          <p:nvSpPr>
            <p:cNvPr id="6" name="Скругленный прямоугольник 5"/>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7"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20</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5376750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279133" y="263335"/>
            <a:ext cx="8094846" cy="497061"/>
          </a:xfrm>
          <a:prstGeom prst="rect">
            <a:avLst/>
          </a:prstGeom>
        </p:spPr>
        <p:txBody>
          <a:bodyPr spcFirstLastPara="1" wrap="square" lIns="91425" tIns="91425" rIns="91425" bIns="91425" anchor="t" anchorCtr="0">
            <a:noAutofit/>
          </a:bodyPr>
          <a:lstStyle/>
          <a:p>
            <a:pPr lvl="0"/>
            <a:r>
              <a:rPr lang="ru-RU" sz="2000" dirty="0" smtClean="0"/>
              <a:t>Примеры взаимосвязи структурных элементов правовой нормы (2)</a:t>
            </a:r>
            <a:endParaRPr lang="ru-RU" sz="2000" dirty="0"/>
          </a:p>
        </p:txBody>
      </p:sp>
      <p:sp>
        <p:nvSpPr>
          <p:cNvPr id="4" name="Прямоугольник 3"/>
          <p:cNvSpPr/>
          <p:nvPr/>
        </p:nvSpPr>
        <p:spPr>
          <a:xfrm>
            <a:off x="356135" y="778284"/>
            <a:ext cx="8046720" cy="4185761"/>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fontAlgn="t"/>
            <a:r>
              <a:rPr lang="ru-RU" b="1" dirty="0" smtClean="0">
                <a:solidFill>
                  <a:srgbClr val="002060"/>
                </a:solidFill>
              </a:rPr>
              <a:t>Не всегда </a:t>
            </a:r>
            <a:r>
              <a:rPr lang="ru-RU" b="1" u="sng" dirty="0" smtClean="0">
                <a:solidFill>
                  <a:srgbClr val="002060"/>
                </a:solidFill>
              </a:rPr>
              <a:t>норма права </a:t>
            </a:r>
            <a:r>
              <a:rPr lang="ru-RU" b="1" dirty="0" smtClean="0">
                <a:solidFill>
                  <a:srgbClr val="002060"/>
                </a:solidFill>
              </a:rPr>
              <a:t>прописывается в законе в </a:t>
            </a:r>
            <a:r>
              <a:rPr lang="ru-RU" b="1" dirty="0">
                <a:solidFill>
                  <a:srgbClr val="002060"/>
                </a:solidFill>
              </a:rPr>
              <a:t>полном объёме </a:t>
            </a:r>
            <a:r>
              <a:rPr lang="ru-RU" b="1" dirty="0" smtClean="0">
                <a:solidFill>
                  <a:srgbClr val="002060"/>
                </a:solidFill>
              </a:rPr>
              <a:t>(гипотеза</a:t>
            </a:r>
            <a:r>
              <a:rPr lang="ru-RU" b="1" dirty="0">
                <a:solidFill>
                  <a:srgbClr val="002060"/>
                </a:solidFill>
              </a:rPr>
              <a:t>, </a:t>
            </a:r>
            <a:r>
              <a:rPr lang="ru-RU" b="1" dirty="0" smtClean="0">
                <a:solidFill>
                  <a:srgbClr val="002060"/>
                </a:solidFill>
              </a:rPr>
              <a:t>диспозиция </a:t>
            </a:r>
            <a:r>
              <a:rPr lang="ru-RU" b="1" dirty="0">
                <a:solidFill>
                  <a:srgbClr val="002060"/>
                </a:solidFill>
              </a:rPr>
              <a:t>и </a:t>
            </a:r>
            <a:r>
              <a:rPr lang="ru-RU" b="1" dirty="0" smtClean="0">
                <a:solidFill>
                  <a:srgbClr val="002060"/>
                </a:solidFill>
              </a:rPr>
              <a:t>санкция могут находиться либо в разных законах, либо в разных местах одного закона).</a:t>
            </a:r>
          </a:p>
          <a:p>
            <a:pPr fontAlgn="t"/>
            <a:r>
              <a:rPr lang="ru-RU" b="1" dirty="0" smtClean="0">
                <a:solidFill>
                  <a:srgbClr val="002060"/>
                </a:solidFill>
              </a:rPr>
              <a:t> Рассмотрим пример </a:t>
            </a:r>
            <a:r>
              <a:rPr lang="ru-RU" b="1" dirty="0">
                <a:solidFill>
                  <a:srgbClr val="002060"/>
                </a:solidFill>
              </a:rPr>
              <a:t>из Трудового </a:t>
            </a:r>
            <a:r>
              <a:rPr lang="ru-RU" b="1" dirty="0" smtClean="0">
                <a:solidFill>
                  <a:srgbClr val="002060"/>
                </a:solidFill>
              </a:rPr>
              <a:t>кодекса, где гипотеза </a:t>
            </a:r>
            <a:r>
              <a:rPr lang="ru-RU" b="1" dirty="0">
                <a:solidFill>
                  <a:srgbClr val="002060"/>
                </a:solidFill>
              </a:rPr>
              <a:t>и диспозиция находятся вместе, а санкции – либо в другом месте того же закона, либо вообще в другом </a:t>
            </a:r>
            <a:r>
              <a:rPr lang="ru-RU" b="1" dirty="0" smtClean="0">
                <a:solidFill>
                  <a:srgbClr val="002060"/>
                </a:solidFill>
              </a:rPr>
              <a:t>законе.</a:t>
            </a:r>
          </a:p>
          <a:p>
            <a:pPr fontAlgn="t"/>
            <a:r>
              <a:rPr lang="ru-RU" b="1" u="sng" dirty="0" smtClean="0">
                <a:solidFill>
                  <a:srgbClr val="002060"/>
                </a:solidFill>
              </a:rPr>
              <a:t>Гипотеза </a:t>
            </a:r>
            <a:r>
              <a:rPr lang="ru-RU" b="1" dirty="0">
                <a:solidFill>
                  <a:srgbClr val="002060"/>
                </a:solidFill>
              </a:rPr>
              <a:t>– если кто-то поступает на работу или уже работает, </a:t>
            </a:r>
            <a:r>
              <a:rPr lang="ru-RU" b="1" u="sng" dirty="0">
                <a:solidFill>
                  <a:srgbClr val="002060"/>
                </a:solidFill>
              </a:rPr>
              <a:t>диспозиция</a:t>
            </a:r>
            <a:r>
              <a:rPr lang="ru-RU" b="1" dirty="0">
                <a:solidFill>
                  <a:srgbClr val="002060"/>
                </a:solidFill>
              </a:rPr>
              <a:t> – его трудовые права нельзя ограничивать или давать ему преимущество из-за пола, расы, цвета кожи и т. д. А вот санкция как таковая не прописана.</a:t>
            </a:r>
          </a:p>
          <a:p>
            <a:pPr fontAlgn="t"/>
            <a:r>
              <a:rPr lang="ru-RU" b="1" dirty="0" smtClean="0">
                <a:solidFill>
                  <a:srgbClr val="002060"/>
                </a:solidFill>
              </a:rPr>
              <a:t>Тут </a:t>
            </a:r>
            <a:r>
              <a:rPr lang="ru-RU" b="1" dirty="0">
                <a:solidFill>
                  <a:srgbClr val="002060"/>
                </a:solidFill>
              </a:rPr>
              <a:t>может быть </a:t>
            </a:r>
            <a:r>
              <a:rPr lang="ru-RU" b="1" u="sng" dirty="0">
                <a:solidFill>
                  <a:srgbClr val="002060"/>
                </a:solidFill>
              </a:rPr>
              <a:t>несколько видов </a:t>
            </a:r>
            <a:r>
              <a:rPr lang="ru-RU" b="1" u="sng" dirty="0" smtClean="0">
                <a:solidFill>
                  <a:srgbClr val="002060"/>
                </a:solidFill>
              </a:rPr>
              <a:t>санкций</a:t>
            </a:r>
            <a:r>
              <a:rPr lang="ru-RU" b="1" dirty="0" smtClean="0">
                <a:solidFill>
                  <a:srgbClr val="002060"/>
                </a:solidFill>
              </a:rPr>
              <a:t>:</a:t>
            </a:r>
          </a:p>
          <a:p>
            <a:pPr marL="342900" indent="-342900" fontAlgn="t">
              <a:buAutoNum type="arabicParenR"/>
            </a:pPr>
            <a:r>
              <a:rPr lang="ru-RU" b="1" dirty="0" smtClean="0">
                <a:solidFill>
                  <a:srgbClr val="002060"/>
                </a:solidFill>
              </a:rPr>
              <a:t>в </a:t>
            </a:r>
            <a:r>
              <a:rPr lang="ru-RU" b="1" dirty="0">
                <a:solidFill>
                  <a:srgbClr val="002060"/>
                </a:solidFill>
              </a:rPr>
              <a:t>той же статье указано: «Лица, считающие, что они подверглись дискриминации в сфере труда, вправе обратиться в суд с заявлением о восстановлении нарушенных прав, возмещении материального вреда и компенсации морального вреда». Т.е. если работник докажет, что его права были нарушены именно из-за дискриминации, то может восстановить их – например, отменить наложенное взыскание или восстановиться на работе, а также взыскать компенсацию материального или морального вреда</a:t>
            </a:r>
            <a:r>
              <a:rPr lang="ru-RU" b="1" dirty="0" smtClean="0">
                <a:solidFill>
                  <a:srgbClr val="002060"/>
                </a:solidFill>
              </a:rPr>
              <a:t>.</a:t>
            </a:r>
          </a:p>
          <a:p>
            <a:pPr marL="342900" indent="-342900" fontAlgn="t">
              <a:buAutoNum type="arabicParenR"/>
            </a:pPr>
            <a:r>
              <a:rPr lang="ru-RU" b="1" dirty="0" smtClean="0">
                <a:solidFill>
                  <a:srgbClr val="002060"/>
                </a:solidFill>
              </a:rPr>
              <a:t>работодателя </a:t>
            </a:r>
            <a:r>
              <a:rPr lang="ru-RU" b="1" dirty="0">
                <a:solidFill>
                  <a:srgbClr val="002060"/>
                </a:solidFill>
              </a:rPr>
              <a:t>могут привлечь к административной ответственности по ст. 5.62 Кодекса РФ об административных правонарушениях («Дискриминация», штраф на </a:t>
            </a:r>
            <a:r>
              <a:rPr lang="ru-RU" b="1" dirty="0" err="1">
                <a:solidFill>
                  <a:srgbClr val="002060"/>
                </a:solidFill>
              </a:rPr>
              <a:t>юрлиц</a:t>
            </a:r>
            <a:r>
              <a:rPr lang="ru-RU" b="1" dirty="0">
                <a:solidFill>
                  <a:srgbClr val="002060"/>
                </a:solidFill>
              </a:rPr>
              <a:t> – 50-100 тыс. руб</a:t>
            </a:r>
            <a:r>
              <a:rPr lang="ru-RU" b="1" dirty="0" smtClean="0">
                <a:solidFill>
                  <a:srgbClr val="002060"/>
                </a:solidFill>
              </a:rPr>
              <a:t>.).</a:t>
            </a:r>
          </a:p>
        </p:txBody>
      </p:sp>
      <p:grpSp>
        <p:nvGrpSpPr>
          <p:cNvPr id="5" name="Группа 4"/>
          <p:cNvGrpSpPr/>
          <p:nvPr/>
        </p:nvGrpSpPr>
        <p:grpSpPr>
          <a:xfrm>
            <a:off x="8140199" y="2346"/>
            <a:ext cx="1003801" cy="336960"/>
            <a:chOff x="0" y="0"/>
            <a:chExt cx="1003801" cy="336960"/>
          </a:xfrm>
        </p:grpSpPr>
        <p:sp>
          <p:nvSpPr>
            <p:cNvPr id="6" name="Скругленный прямоугольник 5"/>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7"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21</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3843046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411993" y="214019"/>
            <a:ext cx="7704000" cy="572700"/>
          </a:xfrm>
          <a:prstGeom prst="rect">
            <a:avLst/>
          </a:prstGeom>
        </p:spPr>
        <p:txBody>
          <a:bodyPr spcFirstLastPara="1" wrap="square" lIns="91425" tIns="91425" rIns="91425" bIns="91425" anchor="t" anchorCtr="0">
            <a:noAutofit/>
          </a:bodyPr>
          <a:lstStyle/>
          <a:p>
            <a:pPr lvl="0"/>
            <a:r>
              <a:rPr lang="ru-RU" sz="2400" dirty="0"/>
              <a:t>3</a:t>
            </a:r>
            <a:r>
              <a:rPr lang="ru-RU" sz="2400" dirty="0" smtClean="0"/>
              <a:t>. Классификация правовых норм</a:t>
            </a:r>
            <a:endParaRPr lang="ru-RU" sz="2400" dirty="0"/>
          </a:p>
        </p:txBody>
      </p:sp>
      <p:sp>
        <p:nvSpPr>
          <p:cNvPr id="7" name="Google Shape;433;p31"/>
          <p:cNvSpPr txBox="1">
            <a:spLocks noGrp="1"/>
          </p:cNvSpPr>
          <p:nvPr>
            <p:ph type="subTitle" idx="1"/>
          </p:nvPr>
        </p:nvSpPr>
        <p:spPr>
          <a:xfrm>
            <a:off x="283812" y="911048"/>
            <a:ext cx="8075593" cy="2906829"/>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indent="0"/>
            <a:r>
              <a:rPr lang="ru-RU" sz="1600" dirty="0">
                <a:solidFill>
                  <a:srgbClr val="002060"/>
                </a:solidFill>
              </a:rPr>
              <a:t>К настоящему времени юридической наукой </a:t>
            </a:r>
            <a:r>
              <a:rPr lang="ru-RU" sz="1600" dirty="0" smtClean="0">
                <a:solidFill>
                  <a:srgbClr val="002060"/>
                </a:solidFill>
              </a:rPr>
              <a:t>сформированы </a:t>
            </a:r>
            <a:r>
              <a:rPr lang="ru-RU" sz="1600" dirty="0">
                <a:solidFill>
                  <a:srgbClr val="002060"/>
                </a:solidFill>
              </a:rPr>
              <a:t>различные подходы к вопросу </a:t>
            </a:r>
            <a:r>
              <a:rPr lang="ru-RU" sz="1600" dirty="0" smtClean="0">
                <a:solidFill>
                  <a:srgbClr val="002060"/>
                </a:solidFill>
              </a:rPr>
              <a:t>классификации </a:t>
            </a:r>
            <a:r>
              <a:rPr lang="ru-RU" sz="1600" dirty="0">
                <a:solidFill>
                  <a:srgbClr val="002060"/>
                </a:solidFill>
              </a:rPr>
              <a:t>норм права</a:t>
            </a:r>
            <a:r>
              <a:rPr lang="ru-RU" sz="1600" dirty="0" smtClean="0">
                <a:solidFill>
                  <a:srgbClr val="002060"/>
                </a:solidFill>
              </a:rPr>
              <a:t>.</a:t>
            </a:r>
          </a:p>
          <a:p>
            <a:pPr marL="0" indent="0"/>
            <a:r>
              <a:rPr lang="ru-RU" sz="1600" dirty="0" smtClean="0">
                <a:solidFill>
                  <a:srgbClr val="002060"/>
                </a:solidFill>
              </a:rPr>
              <a:t> </a:t>
            </a:r>
          </a:p>
          <a:p>
            <a:pPr marL="0" indent="0"/>
            <a:r>
              <a:rPr lang="ru-RU" sz="1600" dirty="0">
                <a:solidFill>
                  <a:srgbClr val="002060"/>
                </a:solidFill>
              </a:rPr>
              <a:t>Классификация норм права преследует несколько целей: выявление их различных регулятивных свойств; определение места различных норм в механизме правового регулирования; установление системных свойств </a:t>
            </a:r>
            <a:r>
              <a:rPr lang="ru-RU" sz="1600" dirty="0" smtClean="0">
                <a:solidFill>
                  <a:srgbClr val="002060"/>
                </a:solidFill>
              </a:rPr>
              <a:t>норм и </a:t>
            </a:r>
            <a:r>
              <a:rPr lang="ru-RU" sz="1600" dirty="0">
                <a:solidFill>
                  <a:srgbClr val="002060"/>
                </a:solidFill>
              </a:rPr>
              <a:t>их взаимосвязи</a:t>
            </a:r>
            <a:r>
              <a:rPr lang="ru-RU" sz="1600" dirty="0" smtClean="0">
                <a:solidFill>
                  <a:srgbClr val="002060"/>
                </a:solidFill>
              </a:rPr>
              <a:t>.</a:t>
            </a:r>
          </a:p>
          <a:p>
            <a:pPr marL="0" indent="0"/>
            <a:endParaRPr lang="ru-RU" sz="1600" dirty="0" smtClean="0">
              <a:solidFill>
                <a:srgbClr val="002060"/>
              </a:solidFill>
            </a:endParaRPr>
          </a:p>
          <a:p>
            <a:pPr marL="0" indent="0"/>
            <a:r>
              <a:rPr lang="ru-RU" sz="1600" u="sng" dirty="0">
                <a:solidFill>
                  <a:srgbClr val="002060"/>
                </a:solidFill>
              </a:rPr>
              <a:t>Наиболее распространенной является классификация исходя из отрасли </a:t>
            </a:r>
            <a:r>
              <a:rPr lang="ru-RU" sz="1600" u="sng" dirty="0" smtClean="0">
                <a:solidFill>
                  <a:srgbClr val="002060"/>
                </a:solidFill>
              </a:rPr>
              <a:t>права </a:t>
            </a:r>
          </a:p>
          <a:p>
            <a:pPr marL="0" indent="0"/>
            <a:r>
              <a:rPr lang="ru-RU" sz="1600" dirty="0" smtClean="0">
                <a:solidFill>
                  <a:srgbClr val="002060"/>
                </a:solidFill>
              </a:rPr>
              <a:t>(см. таблицу далее). </a:t>
            </a:r>
          </a:p>
          <a:p>
            <a:pPr marL="0" indent="0"/>
            <a:endParaRPr lang="ru-RU" sz="1600" dirty="0" smtClean="0">
              <a:solidFill>
                <a:srgbClr val="002060"/>
              </a:solidFill>
            </a:endParaRPr>
          </a:p>
        </p:txBody>
      </p:sp>
      <p:grpSp>
        <p:nvGrpSpPr>
          <p:cNvPr id="6" name="Google Shape;5100;p62"/>
          <p:cNvGrpSpPr/>
          <p:nvPr/>
        </p:nvGrpSpPr>
        <p:grpSpPr>
          <a:xfrm>
            <a:off x="6985448" y="3817877"/>
            <a:ext cx="1633193" cy="1218138"/>
            <a:chOff x="-42994575" y="3950300"/>
            <a:chExt cx="319025" cy="317450"/>
          </a:xfrm>
        </p:grpSpPr>
        <p:sp>
          <p:nvSpPr>
            <p:cNvPr id="8" name="Google Shape;5101;p62"/>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102;p62"/>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03;p62"/>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Группа 10"/>
          <p:cNvGrpSpPr/>
          <p:nvPr/>
        </p:nvGrpSpPr>
        <p:grpSpPr>
          <a:xfrm>
            <a:off x="8140199" y="2346"/>
            <a:ext cx="1003801" cy="336960"/>
            <a:chOff x="0" y="0"/>
            <a:chExt cx="1003801" cy="336960"/>
          </a:xfrm>
        </p:grpSpPr>
        <p:sp>
          <p:nvSpPr>
            <p:cNvPr id="12" name="Скругленный прямоугольник 11"/>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3"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22</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4264327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ru-RU" sz="2400" dirty="0" smtClean="0"/>
              <a:t>Классификация правовых норм (1)</a:t>
            </a:r>
            <a:endParaRPr sz="2400" dirty="0"/>
          </a:p>
        </p:txBody>
      </p:sp>
      <p:graphicFrame>
        <p:nvGraphicFramePr>
          <p:cNvPr id="2" name="Таблица 1"/>
          <p:cNvGraphicFramePr>
            <a:graphicFrameLocks noGrp="1"/>
          </p:cNvGraphicFramePr>
          <p:nvPr>
            <p:extLst>
              <p:ext uri="{D42A27DB-BD31-4B8C-83A1-F6EECF244321}">
                <p14:modId xmlns:p14="http://schemas.microsoft.com/office/powerpoint/2010/main" val="3727686847"/>
              </p:ext>
            </p:extLst>
          </p:nvPr>
        </p:nvGraphicFramePr>
        <p:xfrm>
          <a:off x="259882" y="1152525"/>
          <a:ext cx="8156906" cy="3629585"/>
        </p:xfrm>
        <a:graphic>
          <a:graphicData uri="http://schemas.openxmlformats.org/drawingml/2006/table">
            <a:tbl>
              <a:tblPr>
                <a:tableStyleId>{3C2FFA5D-87B4-456A-9821-1D502468CF0F}</a:tableStyleId>
              </a:tblPr>
              <a:tblGrid>
                <a:gridCol w="2773893"/>
                <a:gridCol w="5383013"/>
              </a:tblGrid>
              <a:tr h="374711">
                <a:tc>
                  <a:txBody>
                    <a:bodyPr/>
                    <a:lstStyle/>
                    <a:p>
                      <a:pPr marL="0" lvl="0" indent="0" algn="l" rtl="0">
                        <a:spcBef>
                          <a:spcPts val="0"/>
                        </a:spcBef>
                        <a:spcAft>
                          <a:spcPts val="0"/>
                        </a:spcAft>
                        <a:buNone/>
                      </a:pPr>
                      <a:r>
                        <a:rPr lang="ru-RU" sz="1400" b="1" u="sng" dirty="0" smtClean="0">
                          <a:sym typeface="Cabin"/>
                        </a:rPr>
                        <a:t>Критерий</a:t>
                      </a:r>
                      <a:r>
                        <a:rPr lang="ru-RU" sz="1400" b="1" u="sng" baseline="0" dirty="0" smtClean="0">
                          <a:sym typeface="Cabin"/>
                        </a:rPr>
                        <a:t> классификации</a:t>
                      </a:r>
                      <a:endParaRPr sz="1400" b="1" u="sng" dirty="0">
                        <a:solidFill>
                          <a:schemeClr val="dk1"/>
                        </a:solidFill>
                        <a:latin typeface="Cabin"/>
                        <a:ea typeface="Cabin"/>
                        <a:cs typeface="Cabin"/>
                        <a:sym typeface="Cabin"/>
                      </a:endParaRPr>
                    </a:p>
                  </a:txBody>
                  <a:tcPr marL="91425" marR="91425" marT="0" marB="0" anchor="ctr">
                    <a:solidFill>
                      <a:schemeClr val="accent2"/>
                    </a:solidFill>
                  </a:tcPr>
                </a:tc>
                <a:tc>
                  <a:txBody>
                    <a:bodyPr/>
                    <a:lstStyle/>
                    <a:p>
                      <a:pPr marL="0" lvl="0" indent="0" algn="l" rtl="0">
                        <a:spcBef>
                          <a:spcPts val="0"/>
                        </a:spcBef>
                        <a:spcAft>
                          <a:spcPts val="1600"/>
                        </a:spcAft>
                        <a:buNone/>
                      </a:pPr>
                      <a:r>
                        <a:rPr lang="ru-RU" sz="1400" b="1" u="sng" dirty="0" smtClean="0">
                          <a:sym typeface="Cabin"/>
                        </a:rPr>
                        <a:t>Виды</a:t>
                      </a:r>
                      <a:r>
                        <a:rPr lang="ru-RU" sz="1400" b="1" u="sng" baseline="0" dirty="0" smtClean="0">
                          <a:sym typeface="Cabin"/>
                        </a:rPr>
                        <a:t> правовых норм</a:t>
                      </a:r>
                      <a:endParaRPr sz="1400" b="1" u="sng" dirty="0">
                        <a:solidFill>
                          <a:schemeClr val="dk1"/>
                        </a:solidFill>
                        <a:latin typeface="Cabin"/>
                        <a:ea typeface="Cabin"/>
                        <a:cs typeface="Cabin"/>
                        <a:sym typeface="Cabin"/>
                      </a:endParaRPr>
                    </a:p>
                  </a:txBody>
                  <a:tcPr marL="91425" marR="91425" marT="0" marB="0" anchor="ctr">
                    <a:solidFill>
                      <a:schemeClr val="accent2"/>
                    </a:solidFill>
                  </a:tcPr>
                </a:tc>
              </a:tr>
              <a:tr h="442284">
                <a:tc>
                  <a:txBody>
                    <a:bodyPr/>
                    <a:lstStyle/>
                    <a:p>
                      <a:pPr marL="0" lvl="0" indent="0" algn="l" rtl="0">
                        <a:spcBef>
                          <a:spcPts val="0"/>
                        </a:spcBef>
                        <a:spcAft>
                          <a:spcPts val="0"/>
                        </a:spcAft>
                        <a:buNone/>
                      </a:pPr>
                      <a:r>
                        <a:rPr lang="ru-RU" sz="1400" b="1" u="none" dirty="0" smtClean="0">
                          <a:sym typeface="Cabin"/>
                        </a:rPr>
                        <a:t>Отраслевая принадлежность</a:t>
                      </a:r>
                      <a:endParaRPr sz="1400" b="1" u="none" dirty="0">
                        <a:solidFill>
                          <a:schemeClr val="dk1"/>
                        </a:solidFill>
                        <a:latin typeface="Cabin"/>
                        <a:ea typeface="Cabin"/>
                        <a:cs typeface="Cabin"/>
                        <a:sym typeface="Cabin"/>
                      </a:endParaRPr>
                    </a:p>
                  </a:txBody>
                  <a:tcPr marL="91425" marR="91425" marT="0" marB="0" anchor="ctr"/>
                </a:tc>
                <a:tc>
                  <a:txBody>
                    <a:bodyPr/>
                    <a:lstStyle/>
                    <a:p>
                      <a:pPr marL="0" marR="0" lvl="0" indent="0" algn="l" rtl="0">
                        <a:lnSpc>
                          <a:spcPct val="100000"/>
                        </a:lnSpc>
                        <a:spcBef>
                          <a:spcPts val="0"/>
                        </a:spcBef>
                        <a:spcAft>
                          <a:spcPts val="1600"/>
                        </a:spcAft>
                        <a:buNone/>
                      </a:pPr>
                      <a:r>
                        <a:rPr lang="ru-RU" sz="1400" b="1" u="none" dirty="0" smtClean="0">
                          <a:sym typeface="Cabin"/>
                        </a:rPr>
                        <a:t>нормы конституционного, уголовного, трудового, гражданского, семейного права</a:t>
                      </a:r>
                      <a:r>
                        <a:rPr lang="ru-RU" sz="1400" b="1" u="none" baseline="0" dirty="0" smtClean="0">
                          <a:sym typeface="Cabin"/>
                        </a:rPr>
                        <a:t> и т.д.</a:t>
                      </a:r>
                      <a:endParaRPr sz="1400" b="1" u="none" dirty="0">
                        <a:solidFill>
                          <a:schemeClr val="dk1"/>
                        </a:solidFill>
                        <a:latin typeface="Cabin"/>
                        <a:ea typeface="Cabin"/>
                        <a:cs typeface="Cabin"/>
                        <a:sym typeface="Cabin"/>
                      </a:endParaRPr>
                    </a:p>
                  </a:txBody>
                  <a:tcPr marL="91425" marR="91425" marT="0" marB="0" anchor="ctr"/>
                </a:tc>
              </a:tr>
              <a:tr h="663426">
                <a:tc>
                  <a:txBody>
                    <a:bodyPr/>
                    <a:lstStyle/>
                    <a:p>
                      <a:pPr marL="0" lvl="0" indent="0" algn="l" rtl="0">
                        <a:spcBef>
                          <a:spcPts val="0"/>
                        </a:spcBef>
                        <a:spcAft>
                          <a:spcPts val="0"/>
                        </a:spcAft>
                        <a:buNone/>
                      </a:pPr>
                      <a:r>
                        <a:rPr lang="ru-RU" sz="1400" b="1" u="none" dirty="0" smtClean="0">
                          <a:sym typeface="Cabin"/>
                        </a:rPr>
                        <a:t>Степень общности содержания (по</a:t>
                      </a:r>
                      <a:r>
                        <a:rPr lang="ru-RU" sz="1400" b="1" u="none" baseline="0" dirty="0" smtClean="0">
                          <a:sym typeface="Cabin"/>
                        </a:rPr>
                        <a:t> объёму регулирующего действия)</a:t>
                      </a:r>
                      <a:endParaRPr sz="1400" b="1" u="none" dirty="0">
                        <a:solidFill>
                          <a:schemeClr val="dk1"/>
                        </a:solidFill>
                        <a:latin typeface="Cabin"/>
                        <a:ea typeface="Cabin"/>
                        <a:cs typeface="Cabin"/>
                        <a:sym typeface="Cabin"/>
                      </a:endParaRPr>
                    </a:p>
                  </a:txBody>
                  <a:tcPr marL="91425" marR="91425" marT="0" marB="0" anchor="ctr"/>
                </a:tc>
                <a:tc>
                  <a:txBody>
                    <a:bodyPr/>
                    <a:lstStyle/>
                    <a:p>
                      <a:pPr marL="0" lvl="0" indent="0" algn="l" rtl="0">
                        <a:spcBef>
                          <a:spcPts val="0"/>
                        </a:spcBef>
                        <a:spcAft>
                          <a:spcPts val="1600"/>
                        </a:spcAft>
                        <a:buNone/>
                      </a:pPr>
                      <a:r>
                        <a:rPr lang="ru-RU" sz="1400" b="1" u="none" dirty="0" smtClean="0">
                          <a:sym typeface="Cabin"/>
                        </a:rPr>
                        <a:t>общие, специальные (нормы-принципы) и исключительные (конкретные).</a:t>
                      </a:r>
                      <a:endParaRPr sz="1400" b="1" u="none" dirty="0">
                        <a:solidFill>
                          <a:schemeClr val="dk1"/>
                        </a:solidFill>
                        <a:latin typeface="Cabin"/>
                        <a:ea typeface="Cabin"/>
                        <a:cs typeface="Cabin"/>
                        <a:sym typeface="Cabin"/>
                      </a:endParaRPr>
                    </a:p>
                  </a:txBody>
                  <a:tcPr marL="91425" marR="91425" marT="0" marB="0" anchor="ctr"/>
                </a:tc>
              </a:tr>
              <a:tr h="374711">
                <a:tc>
                  <a:txBody>
                    <a:bodyPr/>
                    <a:lstStyle/>
                    <a:p>
                      <a:pPr marL="0" lvl="0" indent="0" algn="l" rtl="0">
                        <a:spcBef>
                          <a:spcPts val="0"/>
                        </a:spcBef>
                        <a:spcAft>
                          <a:spcPts val="0"/>
                        </a:spcAft>
                        <a:buNone/>
                      </a:pPr>
                      <a:r>
                        <a:rPr lang="ru-RU" sz="1400" b="1" u="none" dirty="0" smtClean="0">
                          <a:sym typeface="Cabin"/>
                        </a:rPr>
                        <a:t>По характеру (или составу) предписываемых правил поведения </a:t>
                      </a:r>
                      <a:endParaRPr sz="1400" b="1" u="none" dirty="0">
                        <a:solidFill>
                          <a:schemeClr val="dk1"/>
                        </a:solidFill>
                        <a:latin typeface="Cabin"/>
                        <a:ea typeface="Cabin"/>
                        <a:cs typeface="Cabin"/>
                        <a:sym typeface="Cabin"/>
                      </a:endParaRPr>
                    </a:p>
                  </a:txBody>
                  <a:tcPr marL="91425" marR="91425" marT="0" marB="0" anchor="ctr"/>
                </a:tc>
                <a:tc>
                  <a:txBody>
                    <a:bodyPr/>
                    <a:lstStyle/>
                    <a:p>
                      <a:pPr marL="0" lvl="0" indent="0" algn="l" rtl="0">
                        <a:spcBef>
                          <a:spcPts val="0"/>
                        </a:spcBef>
                        <a:spcAft>
                          <a:spcPts val="1600"/>
                        </a:spcAft>
                        <a:buNone/>
                      </a:pPr>
                      <a:r>
                        <a:rPr lang="ru-RU" sz="1400" b="1" u="none" dirty="0" smtClean="0">
                          <a:sym typeface="Cabin"/>
                        </a:rPr>
                        <a:t>обязывающие (предписывают совершение содержащихся в норме действий), </a:t>
                      </a:r>
                      <a:r>
                        <a:rPr lang="ru-RU" sz="1400" b="1" u="none" dirty="0" err="1" smtClean="0">
                          <a:sym typeface="Cabin"/>
                        </a:rPr>
                        <a:t>управомочивающие</a:t>
                      </a:r>
                      <a:r>
                        <a:rPr lang="ru-RU" sz="1400" b="1" u="none" dirty="0" smtClean="0">
                          <a:sym typeface="Cabin"/>
                        </a:rPr>
                        <a:t> (дозволяют или разрешают совершение содержащихся в норме действий), запрещающие</a:t>
                      </a:r>
                      <a:r>
                        <a:rPr lang="ru-RU" sz="1400" b="1" u="none" baseline="0" dirty="0" smtClean="0">
                          <a:sym typeface="Cabin"/>
                        </a:rPr>
                        <a:t> </a:t>
                      </a:r>
                      <a:r>
                        <a:rPr lang="ru-RU" sz="1400" b="1" u="none" dirty="0" smtClean="0">
                          <a:sym typeface="Cabin"/>
                        </a:rPr>
                        <a:t>(предписывают воздержание от содержащихся в норме действий). </a:t>
                      </a:r>
                      <a:endParaRPr sz="1400" b="1" u="none" dirty="0">
                        <a:solidFill>
                          <a:schemeClr val="dk1"/>
                        </a:solidFill>
                        <a:latin typeface="Cabin"/>
                        <a:ea typeface="Cabin"/>
                        <a:cs typeface="Cabin"/>
                        <a:sym typeface="Cabin"/>
                      </a:endParaRPr>
                    </a:p>
                  </a:txBody>
                  <a:tcPr marL="91425" marR="91425" marT="0" marB="0" anchor="ctr"/>
                </a:tc>
              </a:tr>
              <a:tr h="442284">
                <a:tc>
                  <a:txBody>
                    <a:bodyPr/>
                    <a:lstStyle/>
                    <a:p>
                      <a:pPr marL="0" lvl="0" indent="0" algn="l" rtl="0">
                        <a:spcBef>
                          <a:spcPts val="0"/>
                        </a:spcBef>
                        <a:spcAft>
                          <a:spcPts val="0"/>
                        </a:spcAft>
                        <a:buNone/>
                      </a:pPr>
                      <a:r>
                        <a:rPr lang="ru-RU" sz="1400" b="1" u="none" dirty="0" smtClean="0">
                          <a:sym typeface="Cabin"/>
                        </a:rPr>
                        <a:t>По способам установления правил поведения</a:t>
                      </a:r>
                      <a:endParaRPr sz="1400" b="1" u="none" dirty="0">
                        <a:solidFill>
                          <a:schemeClr val="dk1"/>
                        </a:solidFill>
                        <a:latin typeface="Cabin"/>
                        <a:ea typeface="Cabin"/>
                        <a:cs typeface="Cabin"/>
                        <a:sym typeface="Cabin"/>
                      </a:endParaRPr>
                    </a:p>
                  </a:txBody>
                  <a:tcPr marL="91425" marR="91425" marT="0" marB="0" anchor="ctr"/>
                </a:tc>
                <a:tc>
                  <a:txBody>
                    <a:bodyPr/>
                    <a:lstStyle/>
                    <a:p>
                      <a:pPr marL="0" lvl="0" indent="0" algn="l" rtl="0">
                        <a:spcBef>
                          <a:spcPts val="0"/>
                        </a:spcBef>
                        <a:spcAft>
                          <a:spcPts val="0"/>
                        </a:spcAft>
                        <a:buNone/>
                      </a:pPr>
                      <a:r>
                        <a:rPr lang="ru-RU" sz="1400" b="1" u="none" dirty="0" smtClean="0">
                          <a:sym typeface="Cabin"/>
                        </a:rPr>
                        <a:t>диспозитивные и императивные (категорические).</a:t>
                      </a:r>
                      <a:endParaRPr sz="1400" b="1" u="none" dirty="0">
                        <a:solidFill>
                          <a:schemeClr val="dk1"/>
                        </a:solidFill>
                        <a:latin typeface="Cabin"/>
                        <a:ea typeface="Cabin"/>
                        <a:cs typeface="Cabin"/>
                        <a:sym typeface="Cabin"/>
                      </a:endParaRPr>
                    </a:p>
                  </a:txBody>
                  <a:tcPr marL="91425" marR="91425" marT="0" marB="0" anchor="ctr"/>
                </a:tc>
              </a:tr>
              <a:tr h="374711">
                <a:tc>
                  <a:txBody>
                    <a:bodyPr/>
                    <a:lstStyle/>
                    <a:p>
                      <a:pPr marL="0" lvl="0" indent="0" algn="l" rtl="0">
                        <a:spcBef>
                          <a:spcPts val="0"/>
                        </a:spcBef>
                        <a:spcAft>
                          <a:spcPts val="0"/>
                        </a:spcAft>
                        <a:buNone/>
                      </a:pPr>
                      <a:r>
                        <a:rPr lang="ru-RU" sz="1400" b="1" u="none" dirty="0" smtClean="0">
                          <a:sym typeface="Cabin"/>
                        </a:rPr>
                        <a:t>По разграничению роли норм права в регулировании общественных отношений</a:t>
                      </a:r>
                      <a:endParaRPr sz="1400" b="1" u="none" dirty="0">
                        <a:solidFill>
                          <a:schemeClr val="dk1"/>
                        </a:solidFill>
                        <a:latin typeface="Cabin"/>
                        <a:ea typeface="Cabin"/>
                        <a:cs typeface="Cabin"/>
                        <a:sym typeface="Cabin"/>
                      </a:endParaRPr>
                    </a:p>
                  </a:txBody>
                  <a:tcPr marL="91425" marR="91425" marT="0" marB="0" anchor="ctr"/>
                </a:tc>
                <a:tc>
                  <a:txBody>
                    <a:bodyPr/>
                    <a:lstStyle/>
                    <a:p>
                      <a:pPr marL="0" lvl="0" indent="0" algn="l" rtl="0">
                        <a:spcBef>
                          <a:spcPts val="0"/>
                        </a:spcBef>
                        <a:spcAft>
                          <a:spcPts val="1600"/>
                        </a:spcAft>
                        <a:buNone/>
                      </a:pPr>
                      <a:r>
                        <a:rPr lang="ru-RU" sz="1400" b="1" u="none" dirty="0" smtClean="0">
                          <a:sym typeface="Cabin"/>
                        </a:rPr>
                        <a:t>регулятивные, правоохранительные и специализированные</a:t>
                      </a:r>
                      <a:endParaRPr sz="1400" b="1" u="none" dirty="0">
                        <a:solidFill>
                          <a:schemeClr val="dk1"/>
                        </a:solidFill>
                        <a:latin typeface="Cabin"/>
                        <a:ea typeface="Cabin"/>
                        <a:cs typeface="Cabin"/>
                        <a:sym typeface="Cabin"/>
                      </a:endParaRPr>
                    </a:p>
                  </a:txBody>
                  <a:tcPr marL="91425" marR="91425" marT="0" marB="0" anchor="ctr"/>
                </a:tc>
              </a:tr>
            </a:tbl>
          </a:graphicData>
        </a:graphic>
      </p:graphicFrame>
      <p:grpSp>
        <p:nvGrpSpPr>
          <p:cNvPr id="4" name="Группа 3"/>
          <p:cNvGrpSpPr/>
          <p:nvPr/>
        </p:nvGrpSpPr>
        <p:grpSpPr>
          <a:xfrm>
            <a:off x="8140199" y="2346"/>
            <a:ext cx="1003801" cy="336960"/>
            <a:chOff x="0" y="0"/>
            <a:chExt cx="1003801" cy="336960"/>
          </a:xfrm>
        </p:grpSpPr>
        <p:sp>
          <p:nvSpPr>
            <p:cNvPr id="5" name="Скругленный прямоугольник 4"/>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6"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23</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2997752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ru-RU" sz="2400" dirty="0" smtClean="0"/>
              <a:t>Классификация правовых норм (2)</a:t>
            </a:r>
            <a:endParaRPr sz="2400" dirty="0"/>
          </a:p>
        </p:txBody>
      </p:sp>
      <p:graphicFrame>
        <p:nvGraphicFramePr>
          <p:cNvPr id="2" name="Таблица 1"/>
          <p:cNvGraphicFramePr>
            <a:graphicFrameLocks noGrp="1"/>
          </p:cNvGraphicFramePr>
          <p:nvPr>
            <p:extLst>
              <p:ext uri="{D42A27DB-BD31-4B8C-83A1-F6EECF244321}">
                <p14:modId xmlns:p14="http://schemas.microsoft.com/office/powerpoint/2010/main" val="1180456747"/>
              </p:ext>
            </p:extLst>
          </p:nvPr>
        </p:nvGraphicFramePr>
        <p:xfrm>
          <a:off x="259882" y="1152525"/>
          <a:ext cx="8156906" cy="3333088"/>
        </p:xfrm>
        <a:graphic>
          <a:graphicData uri="http://schemas.openxmlformats.org/drawingml/2006/table">
            <a:tbl>
              <a:tblPr>
                <a:tableStyleId>{3C2FFA5D-87B4-456A-9821-1D502468CF0F}</a:tableStyleId>
              </a:tblPr>
              <a:tblGrid>
                <a:gridCol w="2773893"/>
                <a:gridCol w="5383013"/>
              </a:tblGrid>
              <a:tr h="374711">
                <a:tc>
                  <a:txBody>
                    <a:bodyPr/>
                    <a:lstStyle/>
                    <a:p>
                      <a:pPr marL="0" lvl="0" indent="0" algn="l" rtl="0">
                        <a:spcBef>
                          <a:spcPts val="0"/>
                        </a:spcBef>
                        <a:spcAft>
                          <a:spcPts val="0"/>
                        </a:spcAft>
                        <a:buNone/>
                      </a:pPr>
                      <a:r>
                        <a:rPr lang="ru-RU" sz="1400" b="1" u="sng" dirty="0" smtClean="0">
                          <a:sym typeface="Cabin"/>
                        </a:rPr>
                        <a:t>Критерий</a:t>
                      </a:r>
                      <a:r>
                        <a:rPr lang="ru-RU" sz="1400" b="1" u="sng" baseline="0" dirty="0" smtClean="0">
                          <a:sym typeface="Cabin"/>
                        </a:rPr>
                        <a:t> классификации</a:t>
                      </a:r>
                      <a:endParaRPr sz="1400" b="1" u="sng" dirty="0">
                        <a:solidFill>
                          <a:schemeClr val="dk1"/>
                        </a:solidFill>
                        <a:latin typeface="Cabin"/>
                        <a:ea typeface="Cabin"/>
                        <a:cs typeface="Cabin"/>
                        <a:sym typeface="Cabin"/>
                      </a:endParaRPr>
                    </a:p>
                  </a:txBody>
                  <a:tcPr marL="91425" marR="91425" marT="0" marB="0" anchor="ctr">
                    <a:solidFill>
                      <a:schemeClr val="accent2"/>
                    </a:solidFill>
                  </a:tcPr>
                </a:tc>
                <a:tc>
                  <a:txBody>
                    <a:bodyPr/>
                    <a:lstStyle/>
                    <a:p>
                      <a:pPr marL="0" lvl="0" indent="0" algn="l" rtl="0">
                        <a:spcBef>
                          <a:spcPts val="0"/>
                        </a:spcBef>
                        <a:spcAft>
                          <a:spcPts val="1600"/>
                        </a:spcAft>
                        <a:buNone/>
                      </a:pPr>
                      <a:r>
                        <a:rPr lang="ru-RU" sz="1400" b="1" u="sng" dirty="0" smtClean="0">
                          <a:sym typeface="Cabin"/>
                        </a:rPr>
                        <a:t>Виды</a:t>
                      </a:r>
                      <a:r>
                        <a:rPr lang="ru-RU" sz="1400" b="1" u="sng" baseline="0" dirty="0" smtClean="0">
                          <a:sym typeface="Cabin"/>
                        </a:rPr>
                        <a:t> правовых норм</a:t>
                      </a:r>
                      <a:endParaRPr sz="1400" b="1" u="sng" dirty="0">
                        <a:solidFill>
                          <a:schemeClr val="dk1"/>
                        </a:solidFill>
                        <a:latin typeface="Cabin"/>
                        <a:ea typeface="Cabin"/>
                        <a:cs typeface="Cabin"/>
                        <a:sym typeface="Cabin"/>
                      </a:endParaRPr>
                    </a:p>
                  </a:txBody>
                  <a:tcPr marL="91425" marR="91425" marT="0" marB="0" anchor="ctr">
                    <a:solidFill>
                      <a:schemeClr val="accent2"/>
                    </a:solidFill>
                  </a:tcPr>
                </a:tc>
              </a:tr>
              <a:tr h="442284">
                <a:tc>
                  <a:txBody>
                    <a:bodyPr/>
                    <a:lstStyle/>
                    <a:p>
                      <a:pPr marL="0" lvl="0" indent="0" algn="l" rtl="0">
                        <a:spcBef>
                          <a:spcPts val="0"/>
                        </a:spcBef>
                        <a:spcAft>
                          <a:spcPts val="0"/>
                        </a:spcAft>
                        <a:buNone/>
                      </a:pPr>
                      <a:r>
                        <a:rPr lang="ru-RU" sz="1400" b="1" u="none" dirty="0" smtClean="0">
                          <a:sym typeface="Cabin"/>
                        </a:rPr>
                        <a:t>Юридическая сила</a:t>
                      </a:r>
                      <a:endParaRPr sz="1400" b="1" u="none" dirty="0">
                        <a:solidFill>
                          <a:schemeClr val="dk1"/>
                        </a:solidFill>
                        <a:latin typeface="Cabin"/>
                        <a:ea typeface="Cabin"/>
                        <a:cs typeface="Cabin"/>
                        <a:sym typeface="Cabin"/>
                      </a:endParaRPr>
                    </a:p>
                  </a:txBody>
                  <a:tcPr marL="91425" marR="91425" marT="0" marB="0" anchor="ctr"/>
                </a:tc>
                <a:tc>
                  <a:txBody>
                    <a:bodyPr/>
                    <a:lstStyle/>
                    <a:p>
                      <a:pPr marL="0" marR="0" lvl="0" indent="0" algn="l" rtl="0">
                        <a:lnSpc>
                          <a:spcPct val="100000"/>
                        </a:lnSpc>
                        <a:spcBef>
                          <a:spcPts val="0"/>
                        </a:spcBef>
                        <a:spcAft>
                          <a:spcPts val="1600"/>
                        </a:spcAft>
                        <a:buNone/>
                      </a:pPr>
                      <a:r>
                        <a:rPr lang="ru-RU" sz="1400" b="1" u="none" dirty="0" smtClean="0">
                          <a:sym typeface="Cabin"/>
                        </a:rPr>
                        <a:t>законы, подзаконные акты; п</a:t>
                      </a:r>
                      <a:r>
                        <a:rPr lang="ru-RU" sz="1400" b="1" u="none" baseline="0" dirty="0" smtClean="0">
                          <a:sym typeface="Cabin"/>
                        </a:rPr>
                        <a:t>о степени обобщения они делятся на конституционные, кодифицированные и отдельные.</a:t>
                      </a:r>
                      <a:endParaRPr sz="1400" b="1" u="none" dirty="0">
                        <a:solidFill>
                          <a:schemeClr val="dk1"/>
                        </a:solidFill>
                        <a:latin typeface="Cabin"/>
                        <a:ea typeface="Cabin"/>
                        <a:cs typeface="Cabin"/>
                        <a:sym typeface="Cabin"/>
                      </a:endParaRPr>
                    </a:p>
                  </a:txBody>
                  <a:tcPr marL="91425" marR="91425" marT="0" marB="0" anchor="ctr"/>
                </a:tc>
              </a:tr>
              <a:tr h="663426">
                <a:tc>
                  <a:txBody>
                    <a:bodyPr/>
                    <a:lstStyle/>
                    <a:p>
                      <a:pPr marL="0" lvl="0" indent="0" algn="l" rtl="0">
                        <a:spcBef>
                          <a:spcPts val="0"/>
                        </a:spcBef>
                        <a:spcAft>
                          <a:spcPts val="0"/>
                        </a:spcAft>
                        <a:buNone/>
                      </a:pPr>
                      <a:r>
                        <a:rPr lang="ru-RU" sz="1400" b="1" u="none" dirty="0" smtClean="0">
                          <a:sym typeface="Cabin"/>
                        </a:rPr>
                        <a:t>Предмет воздействия</a:t>
                      </a:r>
                      <a:endParaRPr sz="1400" b="1" u="none" dirty="0">
                        <a:solidFill>
                          <a:schemeClr val="dk1"/>
                        </a:solidFill>
                        <a:latin typeface="Cabin"/>
                        <a:ea typeface="Cabin"/>
                        <a:cs typeface="Cabin"/>
                        <a:sym typeface="Cabin"/>
                      </a:endParaRPr>
                    </a:p>
                  </a:txBody>
                  <a:tcPr marL="91425" marR="91425" marT="0" marB="0" anchor="ctr"/>
                </a:tc>
                <a:tc>
                  <a:txBody>
                    <a:bodyPr/>
                    <a:lstStyle/>
                    <a:p>
                      <a:pPr marL="0" lvl="0" indent="0" algn="l" rtl="0">
                        <a:spcBef>
                          <a:spcPts val="0"/>
                        </a:spcBef>
                        <a:spcAft>
                          <a:spcPts val="1600"/>
                        </a:spcAft>
                        <a:buNone/>
                      </a:pPr>
                      <a:r>
                        <a:rPr lang="ru-RU" sz="1400" b="1" u="none" dirty="0" smtClean="0">
                          <a:sym typeface="Cabin"/>
                        </a:rPr>
                        <a:t>социальные и социально-технические.</a:t>
                      </a:r>
                      <a:endParaRPr sz="1400" b="1" u="none" dirty="0">
                        <a:solidFill>
                          <a:schemeClr val="dk1"/>
                        </a:solidFill>
                        <a:latin typeface="Cabin"/>
                        <a:ea typeface="Cabin"/>
                        <a:cs typeface="Cabin"/>
                        <a:sym typeface="Cabin"/>
                      </a:endParaRPr>
                    </a:p>
                  </a:txBody>
                  <a:tcPr marL="91425" marR="91425" marT="0" marB="0" anchor="ctr"/>
                </a:tc>
              </a:tr>
              <a:tr h="374711">
                <a:tc>
                  <a:txBody>
                    <a:bodyPr/>
                    <a:lstStyle/>
                    <a:p>
                      <a:pPr marL="0" lvl="0" indent="0" algn="l" rtl="0">
                        <a:spcBef>
                          <a:spcPts val="0"/>
                        </a:spcBef>
                        <a:spcAft>
                          <a:spcPts val="0"/>
                        </a:spcAft>
                        <a:buNone/>
                      </a:pPr>
                      <a:r>
                        <a:rPr lang="ru-RU" sz="1400" b="1" u="none" dirty="0" smtClean="0">
                          <a:sym typeface="Cabin"/>
                        </a:rPr>
                        <a:t>Степень активизации социально-полезной деятельности</a:t>
                      </a:r>
                      <a:endParaRPr sz="1400" b="1" u="none" dirty="0">
                        <a:solidFill>
                          <a:schemeClr val="dk1"/>
                        </a:solidFill>
                        <a:latin typeface="Cabin"/>
                        <a:ea typeface="Cabin"/>
                        <a:cs typeface="Cabin"/>
                        <a:sym typeface="Cabin"/>
                      </a:endParaRPr>
                    </a:p>
                  </a:txBody>
                  <a:tcPr marL="91425" marR="91425" marT="0" marB="0" anchor="ctr"/>
                </a:tc>
                <a:tc>
                  <a:txBody>
                    <a:bodyPr/>
                    <a:lstStyle/>
                    <a:p>
                      <a:pPr marL="0" lvl="0" indent="0" algn="l" rtl="0">
                        <a:spcBef>
                          <a:spcPts val="0"/>
                        </a:spcBef>
                        <a:spcAft>
                          <a:spcPts val="1600"/>
                        </a:spcAft>
                        <a:buNone/>
                      </a:pPr>
                      <a:r>
                        <a:rPr lang="ru-RU" sz="1400" b="1" u="none" dirty="0" smtClean="0">
                          <a:sym typeface="Cabin"/>
                        </a:rPr>
                        <a:t>обычные и поощрительные.</a:t>
                      </a:r>
                      <a:endParaRPr sz="1400" b="1" u="none" dirty="0">
                        <a:solidFill>
                          <a:schemeClr val="dk1"/>
                        </a:solidFill>
                        <a:latin typeface="Cabin"/>
                        <a:ea typeface="Cabin"/>
                        <a:cs typeface="Cabin"/>
                        <a:sym typeface="Cabin"/>
                      </a:endParaRPr>
                    </a:p>
                  </a:txBody>
                  <a:tcPr marL="91425" marR="91425" marT="0" marB="0" anchor="ctr"/>
                </a:tc>
              </a:tr>
              <a:tr h="442284">
                <a:tc>
                  <a:txBody>
                    <a:bodyPr/>
                    <a:lstStyle/>
                    <a:p>
                      <a:pPr marL="0" lvl="0" indent="0" algn="l" rtl="0">
                        <a:spcBef>
                          <a:spcPts val="0"/>
                        </a:spcBef>
                        <a:spcAft>
                          <a:spcPts val="0"/>
                        </a:spcAft>
                        <a:buNone/>
                      </a:pPr>
                      <a:r>
                        <a:rPr lang="ru-RU" sz="1400" b="1" u="none" dirty="0" smtClean="0">
                          <a:sym typeface="Cabin"/>
                        </a:rPr>
                        <a:t>Технические приёмы установления правил поведения</a:t>
                      </a:r>
                      <a:endParaRPr sz="1400" b="1" u="none" dirty="0">
                        <a:solidFill>
                          <a:schemeClr val="dk1"/>
                        </a:solidFill>
                        <a:latin typeface="Cabin"/>
                        <a:ea typeface="Cabin"/>
                        <a:cs typeface="Cabin"/>
                        <a:sym typeface="Cabin"/>
                      </a:endParaRPr>
                    </a:p>
                  </a:txBody>
                  <a:tcPr marL="91425" marR="91425" marT="0" marB="0" anchor="ctr"/>
                </a:tc>
                <a:tc>
                  <a:txBody>
                    <a:bodyPr/>
                    <a:lstStyle/>
                    <a:p>
                      <a:pPr marL="0" lvl="0" indent="0" algn="l" rtl="0">
                        <a:spcBef>
                          <a:spcPts val="0"/>
                        </a:spcBef>
                        <a:spcAft>
                          <a:spcPts val="0"/>
                        </a:spcAft>
                        <a:buNone/>
                      </a:pPr>
                      <a:r>
                        <a:rPr lang="ru-RU" sz="1400" b="1" u="none" dirty="0" smtClean="0">
                          <a:sym typeface="Cabin"/>
                        </a:rPr>
                        <a:t>определённые, бланкетные, отсылочные.</a:t>
                      </a:r>
                      <a:endParaRPr sz="1400" b="1" u="none" dirty="0">
                        <a:solidFill>
                          <a:schemeClr val="dk1"/>
                        </a:solidFill>
                        <a:latin typeface="Cabin"/>
                        <a:ea typeface="Cabin"/>
                        <a:cs typeface="Cabin"/>
                        <a:sym typeface="Cabin"/>
                      </a:endParaRPr>
                    </a:p>
                  </a:txBody>
                  <a:tcPr marL="91425" marR="91425" marT="0" marB="0" anchor="ctr"/>
                </a:tc>
              </a:tr>
              <a:tr h="374711">
                <a:tc>
                  <a:txBody>
                    <a:bodyPr/>
                    <a:lstStyle/>
                    <a:p>
                      <a:pPr marL="0" lvl="0" indent="0" algn="l" rtl="0">
                        <a:spcBef>
                          <a:spcPts val="0"/>
                        </a:spcBef>
                        <a:spcAft>
                          <a:spcPts val="0"/>
                        </a:spcAft>
                        <a:buNone/>
                      </a:pPr>
                      <a:r>
                        <a:rPr lang="ru-RU" sz="1400" b="1" u="none" dirty="0" smtClean="0">
                          <a:sym typeface="Cabin"/>
                        </a:rPr>
                        <a:t> </a:t>
                      </a:r>
                      <a:r>
                        <a:rPr lang="ru-RU" sz="1400" b="1" u="none" dirty="0" smtClean="0">
                          <a:sym typeface="Cabin"/>
                        </a:rPr>
                        <a:t>и др.</a:t>
                      </a:r>
                      <a:endParaRPr sz="1400" b="1" u="none" dirty="0">
                        <a:solidFill>
                          <a:schemeClr val="dk1"/>
                        </a:solidFill>
                        <a:latin typeface="Cabin"/>
                        <a:ea typeface="Cabin"/>
                        <a:cs typeface="Cabin"/>
                        <a:sym typeface="Cabin"/>
                      </a:endParaRPr>
                    </a:p>
                  </a:txBody>
                  <a:tcPr marL="91425" marR="91425" marT="0" marB="0" anchor="ctr"/>
                </a:tc>
                <a:tc>
                  <a:txBody>
                    <a:bodyPr/>
                    <a:lstStyle/>
                    <a:p>
                      <a:pPr marL="0" lvl="0" indent="0" algn="l" rtl="0">
                        <a:spcBef>
                          <a:spcPts val="0"/>
                        </a:spcBef>
                        <a:spcAft>
                          <a:spcPts val="1600"/>
                        </a:spcAft>
                        <a:buNone/>
                      </a:pPr>
                      <a:r>
                        <a:rPr lang="ru-RU" sz="1400" b="1" u="none" dirty="0" smtClean="0">
                          <a:solidFill>
                            <a:schemeClr val="dk1"/>
                          </a:solidFill>
                          <a:latin typeface="Cabin"/>
                          <a:ea typeface="Cabin"/>
                          <a:cs typeface="Cabin"/>
                          <a:sym typeface="Cabin"/>
                        </a:rPr>
                        <a:t>…</a:t>
                      </a:r>
                      <a:endParaRPr sz="1400" b="1" u="none" dirty="0">
                        <a:solidFill>
                          <a:schemeClr val="dk1"/>
                        </a:solidFill>
                        <a:latin typeface="Cabin"/>
                        <a:ea typeface="Cabin"/>
                        <a:cs typeface="Cabin"/>
                        <a:sym typeface="Cabin"/>
                      </a:endParaRPr>
                    </a:p>
                  </a:txBody>
                  <a:tcPr marL="91425" marR="91425" marT="0" marB="0" anchor="ctr"/>
                </a:tc>
              </a:tr>
            </a:tbl>
          </a:graphicData>
        </a:graphic>
      </p:graphicFrame>
      <p:grpSp>
        <p:nvGrpSpPr>
          <p:cNvPr id="4" name="Группа 3"/>
          <p:cNvGrpSpPr/>
          <p:nvPr/>
        </p:nvGrpSpPr>
        <p:grpSpPr>
          <a:xfrm>
            <a:off x="8140199" y="2346"/>
            <a:ext cx="1003801" cy="336960"/>
            <a:chOff x="0" y="0"/>
            <a:chExt cx="1003801" cy="336960"/>
          </a:xfrm>
        </p:grpSpPr>
        <p:sp>
          <p:nvSpPr>
            <p:cNvPr id="5" name="Скругленный прямоугольник 4"/>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6"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24</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305025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325364" y="0"/>
            <a:ext cx="7704000" cy="572700"/>
          </a:xfrm>
          <a:prstGeom prst="rect">
            <a:avLst/>
          </a:prstGeom>
        </p:spPr>
        <p:txBody>
          <a:bodyPr spcFirstLastPara="1" wrap="square" lIns="91425" tIns="91425" rIns="91425" bIns="91425" anchor="t" anchorCtr="0">
            <a:noAutofit/>
          </a:bodyPr>
          <a:lstStyle/>
          <a:p>
            <a:pPr lvl="0"/>
            <a:r>
              <a:rPr lang="ru-RU" sz="2400" dirty="0" smtClean="0"/>
              <a:t>Классификация правовых норм: примеры (1)</a:t>
            </a:r>
            <a:endParaRPr lang="ru-RU" sz="2400" dirty="0"/>
          </a:p>
        </p:txBody>
      </p:sp>
      <p:sp>
        <p:nvSpPr>
          <p:cNvPr id="7" name="Google Shape;433;p31"/>
          <p:cNvSpPr txBox="1">
            <a:spLocks noGrp="1"/>
          </p:cNvSpPr>
          <p:nvPr>
            <p:ph type="subTitle" idx="1"/>
          </p:nvPr>
        </p:nvSpPr>
        <p:spPr>
          <a:xfrm>
            <a:off x="317636" y="481264"/>
            <a:ext cx="8075593" cy="4032985"/>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indent="0"/>
            <a:r>
              <a:rPr lang="ru-RU" sz="1600" dirty="0">
                <a:solidFill>
                  <a:schemeClr val="tx1"/>
                </a:solidFill>
              </a:rPr>
              <a:t>Правовые нормы не всегда что-то запрещают, к чему-то обязывают или дают на что-то право. Есть нормы, в которых нет никаких правил поведения. Например, существуют </a:t>
            </a:r>
            <a:r>
              <a:rPr lang="ru-RU" sz="1600" dirty="0">
                <a:solidFill>
                  <a:srgbClr val="7030A0"/>
                </a:solidFill>
              </a:rPr>
              <a:t>нормы-дефиниции</a:t>
            </a:r>
            <a:r>
              <a:rPr lang="ru-RU" sz="1600" dirty="0">
                <a:solidFill>
                  <a:schemeClr val="tx1"/>
                </a:solidFill>
              </a:rPr>
              <a:t> (дают определение тем или иным понятиям), </a:t>
            </a:r>
            <a:r>
              <a:rPr lang="ru-RU" sz="1600" dirty="0">
                <a:solidFill>
                  <a:srgbClr val="7030A0"/>
                </a:solidFill>
              </a:rPr>
              <a:t>нормы-декларации</a:t>
            </a:r>
            <a:r>
              <a:rPr lang="ru-RU" sz="1600" dirty="0">
                <a:solidFill>
                  <a:schemeClr val="tx1"/>
                </a:solidFill>
              </a:rPr>
              <a:t> (говорят, какие задачи преследует закон), </a:t>
            </a:r>
            <a:r>
              <a:rPr lang="ru-RU" sz="1600" dirty="0">
                <a:solidFill>
                  <a:srgbClr val="7030A0"/>
                </a:solidFill>
              </a:rPr>
              <a:t>нормы-принципы</a:t>
            </a:r>
            <a:r>
              <a:rPr lang="ru-RU" sz="1600" dirty="0">
                <a:solidFill>
                  <a:schemeClr val="tx1"/>
                </a:solidFill>
              </a:rPr>
              <a:t> и т. д. Такие нормы тоже очень важны, особенно нормы-дефиниции, потому что по ним мы можем судить о других нормах – что подразумевается под тем или иным термином.</a:t>
            </a:r>
          </a:p>
          <a:p>
            <a:pPr marL="0" indent="0"/>
            <a:endParaRPr lang="ru-RU" sz="1600" dirty="0">
              <a:solidFill>
                <a:schemeClr val="tx1"/>
              </a:solidFill>
            </a:endParaRPr>
          </a:p>
          <a:p>
            <a:pPr marL="0" indent="0"/>
            <a:r>
              <a:rPr lang="ru-RU" sz="1600" u="sng" dirty="0" smtClean="0">
                <a:solidFill>
                  <a:schemeClr val="tx1"/>
                </a:solidFill>
              </a:rPr>
              <a:t>Примеры </a:t>
            </a:r>
            <a:r>
              <a:rPr lang="ru-RU" sz="1600" u="sng" dirty="0">
                <a:solidFill>
                  <a:schemeClr val="tx1"/>
                </a:solidFill>
              </a:rPr>
              <a:t>норм-дефиниций</a:t>
            </a:r>
            <a:r>
              <a:rPr lang="ru-RU" sz="1600" dirty="0">
                <a:solidFill>
                  <a:schemeClr val="tx1"/>
                </a:solidFill>
              </a:rPr>
              <a:t>: «автором произведения науки, литературы или искусства признается гражданин, творческим трудом которого оно создано» (ст. 1257 ГК РФ) или «потребитель - гражданин, имеющий намерение заказать или приобрести либо заказывающий, приобретающий или использующий товары (работы, услуги) исключительно для личных, семейных, домашних и иных нужд, не связанных с осуществлением предпринимательской деятельности» (преамбула закона РФ «О защите прав потребителей»).</a:t>
            </a:r>
          </a:p>
          <a:p>
            <a:pPr marL="0" indent="0"/>
            <a:endParaRPr lang="ru-RU" sz="1600" dirty="0" smtClean="0">
              <a:solidFill>
                <a:srgbClr val="002060"/>
              </a:solidFill>
            </a:endParaRPr>
          </a:p>
        </p:txBody>
      </p:sp>
      <p:grpSp>
        <p:nvGrpSpPr>
          <p:cNvPr id="4" name="Группа 3"/>
          <p:cNvGrpSpPr/>
          <p:nvPr/>
        </p:nvGrpSpPr>
        <p:grpSpPr>
          <a:xfrm>
            <a:off x="8140199" y="2346"/>
            <a:ext cx="1003801" cy="336960"/>
            <a:chOff x="0" y="0"/>
            <a:chExt cx="1003801" cy="336960"/>
          </a:xfrm>
        </p:grpSpPr>
        <p:sp>
          <p:nvSpPr>
            <p:cNvPr id="5" name="Скругленный прямоугольник 4"/>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6"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25</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280534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325364" y="0"/>
            <a:ext cx="7704000" cy="572700"/>
          </a:xfrm>
          <a:prstGeom prst="rect">
            <a:avLst/>
          </a:prstGeom>
        </p:spPr>
        <p:txBody>
          <a:bodyPr spcFirstLastPara="1" wrap="square" lIns="91425" tIns="91425" rIns="91425" bIns="91425" anchor="t" anchorCtr="0">
            <a:noAutofit/>
          </a:bodyPr>
          <a:lstStyle/>
          <a:p>
            <a:pPr lvl="0"/>
            <a:r>
              <a:rPr lang="ru-RU" sz="2400" dirty="0" smtClean="0"/>
              <a:t>Классификация правовых норм: примеры (2)</a:t>
            </a:r>
            <a:endParaRPr lang="ru-RU" sz="2400" dirty="0"/>
          </a:p>
        </p:txBody>
      </p:sp>
      <p:sp>
        <p:nvSpPr>
          <p:cNvPr id="7" name="Google Shape;433;p31"/>
          <p:cNvSpPr txBox="1">
            <a:spLocks noGrp="1"/>
          </p:cNvSpPr>
          <p:nvPr>
            <p:ph type="subTitle" idx="1"/>
          </p:nvPr>
        </p:nvSpPr>
        <p:spPr>
          <a:xfrm>
            <a:off x="298385" y="635268"/>
            <a:ext cx="8162220" cy="3888606"/>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indent="0"/>
            <a:r>
              <a:rPr lang="ru-RU" sz="1500" dirty="0">
                <a:solidFill>
                  <a:srgbClr val="7030A0"/>
                </a:solidFill>
              </a:rPr>
              <a:t>Нормы-принципы</a:t>
            </a:r>
            <a:r>
              <a:rPr lang="ru-RU" sz="1500" dirty="0">
                <a:solidFill>
                  <a:schemeClr val="tx1"/>
                </a:solidFill>
              </a:rPr>
              <a:t> не содержат явно выраженных элементов норм права, они являются результатом нормативных обобщений, выражают социальное содержание всех норм права данной группы. Например, принципы гражданского права являются непосредственным основанием для применения аналогии права.</a:t>
            </a:r>
          </a:p>
          <a:p>
            <a:pPr marL="0" indent="0"/>
            <a:r>
              <a:rPr lang="ru-RU" sz="1500" dirty="0" smtClean="0">
                <a:solidFill>
                  <a:srgbClr val="7030A0"/>
                </a:solidFill>
              </a:rPr>
              <a:t>Общие </a:t>
            </a:r>
            <a:r>
              <a:rPr lang="ru-RU" sz="1500" dirty="0">
                <a:solidFill>
                  <a:srgbClr val="7030A0"/>
                </a:solidFill>
              </a:rPr>
              <a:t>нормы </a:t>
            </a:r>
            <a:r>
              <a:rPr lang="ru-RU" sz="1500" dirty="0">
                <a:solidFill>
                  <a:schemeClr val="tx1"/>
                </a:solidFill>
              </a:rPr>
              <a:t>– это общие правила, конкретизирующиеся в других нормах. Так, положение ч. I ст. 307 ГК РФ, содержащей понятие обязательства и основания его возникновения, является общей диспозицией по многим другим нормам, регулирующим различные виды обязательств, служит как бы их общей частью, а ч. 2  этой же статьи, устанавливающая, что обязательства возникают из договора вследствие причинения вреда и из иных оснований, указанных в настоящем Кодексе, является общей нормой для многих последующих. Среди общих норм ведущая роль принадлежит конституционным нормам</a:t>
            </a:r>
            <a:r>
              <a:rPr lang="ru-RU" sz="1500" dirty="0" smtClean="0">
                <a:solidFill>
                  <a:schemeClr val="tx1"/>
                </a:solidFill>
              </a:rPr>
              <a:t>.</a:t>
            </a:r>
          </a:p>
          <a:p>
            <a:pPr marL="0" indent="0"/>
            <a:r>
              <a:rPr lang="ru-RU" sz="1500" dirty="0">
                <a:solidFill>
                  <a:srgbClr val="7030A0"/>
                </a:solidFill>
              </a:rPr>
              <a:t>Коллизионные нормы </a:t>
            </a:r>
            <a:r>
              <a:rPr lang="ru-RU" sz="1500" dirty="0">
                <a:solidFill>
                  <a:schemeClr val="tx1"/>
                </a:solidFill>
              </a:rPr>
              <a:t>– они прямо не указывают на правило поведения, но говорят о том, какое из нескольких правил нужно применять. Например, ч. 1 ст. 1224 ГК РФ: «Наследование недвижимого имущества определяется по праву страны, где находится это имущество, а наследование недвижимого имущества, которое внесено в государственный реестр в РФ, – по российскому праву</a:t>
            </a:r>
            <a:r>
              <a:rPr lang="ru-RU" sz="1500" dirty="0" smtClean="0">
                <a:solidFill>
                  <a:schemeClr val="tx1"/>
                </a:solidFill>
              </a:rPr>
              <a:t>».</a:t>
            </a:r>
            <a:endParaRPr lang="ru-RU" sz="1600" dirty="0" smtClean="0">
              <a:solidFill>
                <a:srgbClr val="002060"/>
              </a:solidFill>
            </a:endParaRPr>
          </a:p>
        </p:txBody>
      </p:sp>
      <p:grpSp>
        <p:nvGrpSpPr>
          <p:cNvPr id="4" name="Группа 3"/>
          <p:cNvGrpSpPr/>
          <p:nvPr/>
        </p:nvGrpSpPr>
        <p:grpSpPr>
          <a:xfrm>
            <a:off x="8140199" y="2346"/>
            <a:ext cx="1003801" cy="336960"/>
            <a:chOff x="0" y="0"/>
            <a:chExt cx="1003801" cy="336960"/>
          </a:xfrm>
        </p:grpSpPr>
        <p:sp>
          <p:nvSpPr>
            <p:cNvPr id="5" name="Скругленный прямоугольник 4"/>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6"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26</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84820319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325364" y="0"/>
            <a:ext cx="7704000" cy="572700"/>
          </a:xfrm>
          <a:prstGeom prst="rect">
            <a:avLst/>
          </a:prstGeom>
        </p:spPr>
        <p:txBody>
          <a:bodyPr spcFirstLastPara="1" wrap="square" lIns="91425" tIns="91425" rIns="91425" bIns="91425" anchor="t" anchorCtr="0">
            <a:noAutofit/>
          </a:bodyPr>
          <a:lstStyle/>
          <a:p>
            <a:pPr lvl="0"/>
            <a:r>
              <a:rPr lang="ru-RU" sz="2400" dirty="0" smtClean="0"/>
              <a:t>Классификация правовых норм: примеры (3)</a:t>
            </a:r>
            <a:endParaRPr lang="ru-RU" sz="2400" dirty="0"/>
          </a:p>
        </p:txBody>
      </p:sp>
      <p:sp>
        <p:nvSpPr>
          <p:cNvPr id="7" name="Google Shape;433;p31"/>
          <p:cNvSpPr txBox="1">
            <a:spLocks noGrp="1"/>
          </p:cNvSpPr>
          <p:nvPr>
            <p:ph type="subTitle" idx="1"/>
          </p:nvPr>
        </p:nvSpPr>
        <p:spPr>
          <a:xfrm>
            <a:off x="192507" y="664142"/>
            <a:ext cx="8162220" cy="4065471"/>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indent="0"/>
            <a:r>
              <a:rPr lang="ru-RU" sz="1600" dirty="0" smtClean="0">
                <a:solidFill>
                  <a:srgbClr val="7030A0"/>
                </a:solidFill>
              </a:rPr>
              <a:t>Диспозитивная </a:t>
            </a:r>
            <a:r>
              <a:rPr lang="ru-RU" sz="1600" dirty="0">
                <a:solidFill>
                  <a:srgbClr val="7030A0"/>
                </a:solidFill>
              </a:rPr>
              <a:t>норма </a:t>
            </a:r>
            <a:r>
              <a:rPr lang="ru-RU" sz="1600" dirty="0">
                <a:solidFill>
                  <a:schemeClr val="tx1"/>
                </a:solidFill>
              </a:rPr>
              <a:t>не требует от людей чёткого следования правилам и даёт им возможность определить свои права и обязанности самостоятельно. Действовать она начинает, только если люди не договорятся. Чаще всего диспозитивные нормы встречаются в гражданском праве. Ключевая фраза – «если иное не установлено договором» или «если иное не установлено соглашением между ними».</a:t>
            </a:r>
          </a:p>
          <a:p>
            <a:pPr marL="0" indent="0"/>
            <a:endParaRPr lang="ru-RU" sz="1600" dirty="0">
              <a:solidFill>
                <a:schemeClr val="tx1"/>
              </a:solidFill>
            </a:endParaRPr>
          </a:p>
          <a:p>
            <a:pPr marL="0" indent="0"/>
            <a:r>
              <a:rPr lang="ru-RU" sz="1600" dirty="0">
                <a:solidFill>
                  <a:schemeClr val="tx1"/>
                </a:solidFill>
              </a:rPr>
              <a:t>Пример – «когда цена установлена в зависимости от веса товара, она определяется по весу нетто, если иное не предусмотрено договором купли-продажи» (ч. 2 ст. 485 ГК РФ). Представим, что молочный завод и сеть супермаркетов заключили договор: завод поставляет сети масло по цене 100 руб. за килограмм. Они могут сами определить, что использовать – вес нетто (т.е. вес масла без учёта упаковки) или вес брутто (т.е. с учётом упаковки). Но если они этого не сделали, то суд в случае спора применит норму из ГК РФ и посчитает всё, исходя из веса нетто.</a:t>
            </a:r>
          </a:p>
          <a:p>
            <a:pPr marL="0" indent="0"/>
            <a:endParaRPr lang="ru-RU" sz="1600" dirty="0" smtClean="0">
              <a:solidFill>
                <a:schemeClr val="tx1"/>
              </a:solidFill>
            </a:endParaRPr>
          </a:p>
          <a:p>
            <a:pPr marL="0" indent="0"/>
            <a:endParaRPr lang="ru-RU" sz="1600" dirty="0">
              <a:solidFill>
                <a:schemeClr val="tx1"/>
              </a:solidFill>
            </a:endParaRPr>
          </a:p>
          <a:p>
            <a:pPr marL="0" indent="0"/>
            <a:endParaRPr lang="ru-RU" sz="1600" dirty="0" smtClean="0">
              <a:solidFill>
                <a:srgbClr val="002060"/>
              </a:solidFill>
            </a:endParaRPr>
          </a:p>
        </p:txBody>
      </p:sp>
      <p:grpSp>
        <p:nvGrpSpPr>
          <p:cNvPr id="4" name="Группа 3"/>
          <p:cNvGrpSpPr/>
          <p:nvPr/>
        </p:nvGrpSpPr>
        <p:grpSpPr>
          <a:xfrm>
            <a:off x="8140199" y="2346"/>
            <a:ext cx="1003801" cy="336960"/>
            <a:chOff x="0" y="0"/>
            <a:chExt cx="1003801" cy="336960"/>
          </a:xfrm>
        </p:grpSpPr>
        <p:sp>
          <p:nvSpPr>
            <p:cNvPr id="5" name="Скругленный прямоугольник 4"/>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6"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27</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0954539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325364" y="0"/>
            <a:ext cx="7704000" cy="572700"/>
          </a:xfrm>
          <a:prstGeom prst="rect">
            <a:avLst/>
          </a:prstGeom>
        </p:spPr>
        <p:txBody>
          <a:bodyPr spcFirstLastPara="1" wrap="square" lIns="91425" tIns="91425" rIns="91425" bIns="91425" anchor="t" anchorCtr="0">
            <a:noAutofit/>
          </a:bodyPr>
          <a:lstStyle/>
          <a:p>
            <a:pPr lvl="0"/>
            <a:r>
              <a:rPr lang="ru-RU" sz="2400" dirty="0" smtClean="0"/>
              <a:t>Классификация правовых норм: примеры (4)</a:t>
            </a:r>
            <a:endParaRPr lang="ru-RU" sz="2400" dirty="0"/>
          </a:p>
        </p:txBody>
      </p:sp>
      <p:sp>
        <p:nvSpPr>
          <p:cNvPr id="7" name="Google Shape;433;p31"/>
          <p:cNvSpPr txBox="1">
            <a:spLocks noGrp="1"/>
          </p:cNvSpPr>
          <p:nvPr>
            <p:ph type="subTitle" idx="1"/>
          </p:nvPr>
        </p:nvSpPr>
        <p:spPr>
          <a:xfrm>
            <a:off x="240634" y="702644"/>
            <a:ext cx="8162220" cy="3256948"/>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indent="0"/>
            <a:r>
              <a:rPr lang="ru-RU" sz="1600" dirty="0" smtClean="0">
                <a:solidFill>
                  <a:srgbClr val="7030A0"/>
                </a:solidFill>
              </a:rPr>
              <a:t>Императивная </a:t>
            </a:r>
            <a:r>
              <a:rPr lang="ru-RU" sz="1600" dirty="0">
                <a:solidFill>
                  <a:srgbClr val="7030A0"/>
                </a:solidFill>
              </a:rPr>
              <a:t>норма</a:t>
            </a:r>
            <a:r>
              <a:rPr lang="ru-RU" sz="1600" dirty="0">
                <a:solidFill>
                  <a:schemeClr val="tx1"/>
                </a:solidFill>
              </a:rPr>
              <a:t>, в отличие от диспозитивной, даёт прямое и чёткое правило поведения в какой-то ситуации. Например – «выезд на перекресток или пересечение проезжей части дороги в случае образовавшегося затора, который вынудил водителя остановиться, создав препятствие для движения транспортных средств в поперечном направлении, влечет наложение административного штрафа в размере одной тысячи рублей» (ч. 1 ст. 12.13 КоАП РФ). Тут сразу видно: водителю запрещено делать описанную вещь, иначе его ждёт штраф в тысячу рублей. Никаких других договорённостей здесь быть не должно – по крайней мере, официально. А если сотрудник ДПС и водитель договариваются как-то иначе (ну, скажем, что водитель платит триста рублей и едет дальше без оформления протокола), то это будет нарушением закона.</a:t>
            </a:r>
          </a:p>
          <a:p>
            <a:pPr marL="0" indent="0"/>
            <a:endParaRPr lang="ru-RU" sz="1600" dirty="0" smtClean="0">
              <a:solidFill>
                <a:srgbClr val="002060"/>
              </a:solidFill>
            </a:endParaRPr>
          </a:p>
        </p:txBody>
      </p:sp>
      <p:grpSp>
        <p:nvGrpSpPr>
          <p:cNvPr id="4" name="Группа 3"/>
          <p:cNvGrpSpPr/>
          <p:nvPr/>
        </p:nvGrpSpPr>
        <p:grpSpPr>
          <a:xfrm>
            <a:off x="8140199" y="2346"/>
            <a:ext cx="1003801" cy="336960"/>
            <a:chOff x="0" y="0"/>
            <a:chExt cx="1003801" cy="336960"/>
          </a:xfrm>
        </p:grpSpPr>
        <p:sp>
          <p:nvSpPr>
            <p:cNvPr id="5" name="Скругленный прямоугольник 4"/>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6"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28</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54642102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31"/>
          <p:cNvSpPr txBox="1">
            <a:spLocks noGrp="1"/>
          </p:cNvSpPr>
          <p:nvPr>
            <p:ph type="title"/>
          </p:nvPr>
        </p:nvSpPr>
        <p:spPr>
          <a:xfrm>
            <a:off x="325364" y="0"/>
            <a:ext cx="7704000" cy="572700"/>
          </a:xfrm>
          <a:prstGeom prst="rect">
            <a:avLst/>
          </a:prstGeom>
        </p:spPr>
        <p:txBody>
          <a:bodyPr spcFirstLastPara="1" wrap="square" lIns="91425" tIns="91425" rIns="91425" bIns="91425" anchor="t" anchorCtr="0">
            <a:noAutofit/>
          </a:bodyPr>
          <a:lstStyle/>
          <a:p>
            <a:pPr lvl="0"/>
            <a:r>
              <a:rPr lang="ru-RU" sz="2400" dirty="0" smtClean="0"/>
              <a:t>Классификация правовых норм: примеры (5)</a:t>
            </a:r>
            <a:endParaRPr lang="ru-RU" sz="2400" dirty="0"/>
          </a:p>
        </p:txBody>
      </p:sp>
      <p:sp>
        <p:nvSpPr>
          <p:cNvPr id="7" name="Google Shape;433;p31"/>
          <p:cNvSpPr txBox="1">
            <a:spLocks noGrp="1"/>
          </p:cNvSpPr>
          <p:nvPr>
            <p:ph type="subTitle" idx="1"/>
          </p:nvPr>
        </p:nvSpPr>
        <p:spPr>
          <a:xfrm>
            <a:off x="231008" y="635267"/>
            <a:ext cx="8162220" cy="3362826"/>
          </a:xfrm>
          <a:prstGeom prst="rect">
            <a:avLst/>
          </a:prstGeom>
        </p:spPr>
        <p:style>
          <a:lnRef idx="3">
            <a:schemeClr val="lt1"/>
          </a:lnRef>
          <a:fillRef idx="1">
            <a:schemeClr val="accent2"/>
          </a:fillRef>
          <a:effectRef idx="1">
            <a:schemeClr val="accent2"/>
          </a:effectRef>
          <a:fontRef idx="minor">
            <a:schemeClr val="lt1"/>
          </a:fontRef>
        </p:style>
        <p:txBody>
          <a:bodyPr spcFirstLastPara="1" wrap="square" lIns="91425" tIns="91425" rIns="91425" bIns="91425" anchor="b" anchorCtr="0">
            <a:noAutofit/>
          </a:bodyPr>
          <a:lstStyle/>
          <a:p>
            <a:pPr marL="0" indent="0"/>
            <a:r>
              <a:rPr lang="ru-RU" sz="1600" dirty="0" smtClean="0">
                <a:solidFill>
                  <a:srgbClr val="7030A0"/>
                </a:solidFill>
              </a:rPr>
              <a:t>Императивная </a:t>
            </a:r>
            <a:r>
              <a:rPr lang="ru-RU" sz="1600" dirty="0">
                <a:solidFill>
                  <a:srgbClr val="7030A0"/>
                </a:solidFill>
              </a:rPr>
              <a:t>норма</a:t>
            </a:r>
            <a:r>
              <a:rPr lang="ru-RU" sz="1600" dirty="0">
                <a:solidFill>
                  <a:schemeClr val="tx1"/>
                </a:solidFill>
              </a:rPr>
              <a:t>, в отличие от диспозитивной, даёт прямое и чёткое правило поведения в какой-то ситуации. Например – «выезд на перекресток или пересечение проезжей части дороги в случае образовавшегося затора, который вынудил водителя остановиться, создав препятствие для движения транспортных средств в поперечном направлении, влечет наложение административного штрафа в размере одной тысячи рублей» (ч. 1 ст. 12.13 КоАП РФ). Тут сразу видно: водителю запрещено делать описанную вещь, иначе его ждёт штраф в тысячу рублей. Никаких других договорённостей здесь быть не должно – по крайней мере, официально. А если сотрудник ДПС и водитель договариваются как-то иначе (ну, скажем, что водитель платит триста рублей и едет дальше без оформления протокола), то это будет нарушением закона.</a:t>
            </a:r>
          </a:p>
          <a:p>
            <a:pPr marL="0" indent="0"/>
            <a:endParaRPr lang="ru-RU" sz="1600" dirty="0" smtClean="0">
              <a:solidFill>
                <a:srgbClr val="002060"/>
              </a:solidFill>
            </a:endParaRPr>
          </a:p>
        </p:txBody>
      </p:sp>
      <p:grpSp>
        <p:nvGrpSpPr>
          <p:cNvPr id="4" name="Группа 3"/>
          <p:cNvGrpSpPr/>
          <p:nvPr/>
        </p:nvGrpSpPr>
        <p:grpSpPr>
          <a:xfrm>
            <a:off x="8140199" y="2346"/>
            <a:ext cx="1003801" cy="336960"/>
            <a:chOff x="0" y="0"/>
            <a:chExt cx="1003801" cy="336960"/>
          </a:xfrm>
        </p:grpSpPr>
        <p:sp>
          <p:nvSpPr>
            <p:cNvPr id="5" name="Скругленный прямоугольник 4"/>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6"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29</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0780531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 name="Прямоугольник 3"/>
          <p:cNvSpPr/>
          <p:nvPr/>
        </p:nvSpPr>
        <p:spPr>
          <a:xfrm>
            <a:off x="298383" y="874537"/>
            <a:ext cx="8075596" cy="353943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marL="342900" indent="-342900" algn="just" fontAlgn="t">
              <a:buAutoNum type="arabicPeriod"/>
            </a:pPr>
            <a:r>
              <a:rPr lang="ru-RU" b="1" dirty="0" smtClean="0">
                <a:solidFill>
                  <a:srgbClr val="002060"/>
                </a:solidFill>
              </a:rPr>
              <a:t>Россия </a:t>
            </a:r>
            <a:r>
              <a:rPr lang="ru-RU" b="1" dirty="0">
                <a:solidFill>
                  <a:srgbClr val="002060"/>
                </a:solidFill>
              </a:rPr>
              <a:t>- это уникальное государственное образование, на развитие которого оказывали и оказывают влияние различные цивилизационные потоки, исходящие и из Европы, и из Азии. И наша евразийская цивилизация, имея </a:t>
            </a:r>
            <a:r>
              <a:rPr lang="ru-RU" b="1" dirty="0" smtClean="0">
                <a:solidFill>
                  <a:srgbClr val="002060"/>
                </a:solidFill>
              </a:rPr>
              <a:t>формально юридическое </a:t>
            </a:r>
            <a:r>
              <a:rPr lang="ru-RU" b="1" dirty="0">
                <a:solidFill>
                  <a:srgbClr val="002060"/>
                </a:solidFill>
              </a:rPr>
              <a:t>сходство с романо-германской правовой семьей, в сущностном отношении резко отличается от нее</a:t>
            </a:r>
            <a:r>
              <a:rPr lang="ru-RU" b="1" dirty="0" smtClean="0">
                <a:solidFill>
                  <a:srgbClr val="002060"/>
                </a:solidFill>
              </a:rPr>
              <a:t>.</a:t>
            </a:r>
          </a:p>
          <a:p>
            <a:pPr marL="342900" indent="-342900" algn="just" fontAlgn="t">
              <a:buAutoNum type="arabicPeriod"/>
            </a:pPr>
            <a:r>
              <a:rPr lang="ru-RU" b="1" dirty="0">
                <a:solidFill>
                  <a:srgbClr val="002060"/>
                </a:solidFill>
              </a:rPr>
              <a:t>Правовая система Российской Федерации — сложнейший комплекс элементов, структур, норм, правосознания, традиций, образов национально-исторической, технико-юридической, социально-психологической природы</a:t>
            </a:r>
            <a:r>
              <a:rPr lang="ru-RU" b="1" dirty="0" smtClean="0">
                <a:solidFill>
                  <a:srgbClr val="002060"/>
                </a:solidFill>
              </a:rPr>
              <a:t>.</a:t>
            </a:r>
          </a:p>
          <a:p>
            <a:pPr marL="342900" indent="-342900" algn="just" fontAlgn="t">
              <a:buFont typeface="Arial"/>
              <a:buAutoNum type="arabicPeriod"/>
            </a:pPr>
            <a:r>
              <a:rPr lang="ru-RU" b="1" dirty="0">
                <a:solidFill>
                  <a:srgbClr val="002060"/>
                </a:solidFill>
              </a:rPr>
              <a:t>Российская правовая система имеет следующие характерные черты: важнейшим источником права является нормативно-правовой акт; право, как систему норм, формировал и формирует законодатель; деление на отрасли права; деление на частное и публичное право; </a:t>
            </a:r>
            <a:r>
              <a:rPr lang="ru-RU" b="1" dirty="0" err="1">
                <a:solidFill>
                  <a:srgbClr val="002060"/>
                </a:solidFill>
              </a:rPr>
              <a:t>кодифицированность</a:t>
            </a:r>
            <a:r>
              <a:rPr lang="ru-RU" b="1" dirty="0">
                <a:solidFill>
                  <a:srgbClr val="002060"/>
                </a:solidFill>
              </a:rPr>
              <a:t> права; заимствование (рецепция) положений римского </a:t>
            </a:r>
            <a:r>
              <a:rPr lang="ru-RU" b="1" dirty="0" smtClean="0">
                <a:solidFill>
                  <a:srgbClr val="002060"/>
                </a:solidFill>
              </a:rPr>
              <a:t>права. Однако </a:t>
            </a:r>
            <a:r>
              <a:rPr lang="ru-RU" b="1" dirty="0">
                <a:solidFill>
                  <a:srgbClr val="002060"/>
                </a:solidFill>
              </a:rPr>
              <a:t>каждая из перечисленных черт в России имеет свои специфические особенности, которые подчеркивают уникальность российской цивилизации</a:t>
            </a:r>
            <a:r>
              <a:rPr lang="ru-RU" b="1" dirty="0" smtClean="0">
                <a:solidFill>
                  <a:srgbClr val="002060"/>
                </a:solidFill>
              </a:rPr>
              <a:t>.</a:t>
            </a:r>
          </a:p>
          <a:p>
            <a:pPr marL="342900" indent="-342900" fontAlgn="t">
              <a:buFont typeface="Arial"/>
              <a:buAutoNum type="arabicPeriod"/>
            </a:pPr>
            <a:r>
              <a:rPr lang="ru-RU" b="1" dirty="0" smtClean="0">
                <a:solidFill>
                  <a:srgbClr val="002060"/>
                </a:solidFill>
              </a:rPr>
              <a:t>(см. далее)</a:t>
            </a:r>
            <a:endParaRPr lang="ru-RU" b="1" dirty="0">
              <a:solidFill>
                <a:srgbClr val="002060"/>
              </a:solidFill>
            </a:endParaRPr>
          </a:p>
        </p:txBody>
      </p:sp>
      <p:sp>
        <p:nvSpPr>
          <p:cNvPr id="6" name="Google Shape;421;p31"/>
          <p:cNvSpPr txBox="1">
            <a:spLocks noGrp="1"/>
          </p:cNvSpPr>
          <p:nvPr>
            <p:ph type="title"/>
          </p:nvPr>
        </p:nvSpPr>
        <p:spPr>
          <a:xfrm>
            <a:off x="2728761" y="131463"/>
            <a:ext cx="3214839" cy="572700"/>
          </a:xfrm>
          <a:prstGeom prst="rect">
            <a:avLst/>
          </a:prstGeom>
          <a:solidFill>
            <a:srgbClr val="6E537D"/>
          </a:solidFill>
        </p:spPr>
        <p:style>
          <a:lnRef idx="2">
            <a:schemeClr val="accent1">
              <a:shade val="50000"/>
            </a:schemeClr>
          </a:lnRef>
          <a:fillRef idx="1">
            <a:schemeClr val="accent1"/>
          </a:fillRef>
          <a:effectRef idx="0">
            <a:schemeClr val="accent1"/>
          </a:effectRef>
          <a:fontRef idx="minor">
            <a:schemeClr val="lt1"/>
          </a:fontRef>
        </p:style>
        <p:txBody>
          <a:bodyPr spcFirstLastPara="1" wrap="square" lIns="91425" tIns="91425" rIns="91425" bIns="91425" anchor="t" anchorCtr="0">
            <a:noAutofit/>
          </a:bodyPr>
          <a:lstStyle/>
          <a:p>
            <a:pPr lvl="0"/>
            <a:r>
              <a:rPr lang="ru-RU" sz="2400" dirty="0">
                <a:solidFill>
                  <a:schemeClr val="bg1"/>
                </a:solidFill>
              </a:rPr>
              <a:t>Заключение (1) </a:t>
            </a:r>
          </a:p>
        </p:txBody>
      </p:sp>
      <p:grpSp>
        <p:nvGrpSpPr>
          <p:cNvPr id="5" name="Группа 4"/>
          <p:cNvGrpSpPr/>
          <p:nvPr/>
        </p:nvGrpSpPr>
        <p:grpSpPr>
          <a:xfrm>
            <a:off x="8140199" y="2346"/>
            <a:ext cx="1003801" cy="336960"/>
            <a:chOff x="0" y="0"/>
            <a:chExt cx="1003801" cy="336960"/>
          </a:xfrm>
        </p:grpSpPr>
        <p:sp>
          <p:nvSpPr>
            <p:cNvPr id="7" name="Скругленный прямоугольник 6"/>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8"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30</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5814209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 name="Прямоугольник 3"/>
          <p:cNvSpPr/>
          <p:nvPr/>
        </p:nvSpPr>
        <p:spPr>
          <a:xfrm>
            <a:off x="308008" y="739784"/>
            <a:ext cx="8046720" cy="3754874"/>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marL="342900" indent="-342900" algn="just" fontAlgn="t">
              <a:buFont typeface="+mj-lt"/>
              <a:buAutoNum type="arabicPeriod" startAt="4"/>
            </a:pPr>
            <a:r>
              <a:rPr lang="ru-RU" b="1" u="sng" dirty="0" smtClean="0">
                <a:solidFill>
                  <a:srgbClr val="002060"/>
                </a:solidFill>
              </a:rPr>
              <a:t>Система </a:t>
            </a:r>
            <a:r>
              <a:rPr lang="ru-RU" b="1" u="sng" dirty="0">
                <a:solidFill>
                  <a:srgbClr val="002060"/>
                </a:solidFill>
              </a:rPr>
              <a:t>права</a:t>
            </a:r>
            <a:r>
              <a:rPr lang="ru-RU" b="1" dirty="0">
                <a:solidFill>
                  <a:srgbClr val="002060"/>
                </a:solidFill>
              </a:rPr>
              <a:t> – это исторически сложившаяся внутренняя структура </a:t>
            </a:r>
            <a:r>
              <a:rPr lang="ru-RU" b="1" dirty="0" smtClean="0">
                <a:solidFill>
                  <a:srgbClr val="002060"/>
                </a:solidFill>
              </a:rPr>
              <a:t>права,  состоящая </a:t>
            </a:r>
            <a:r>
              <a:rPr lang="ru-RU" b="1" u="sng" dirty="0">
                <a:solidFill>
                  <a:srgbClr val="002060"/>
                </a:solidFill>
              </a:rPr>
              <a:t>из отраслей права</a:t>
            </a:r>
            <a:r>
              <a:rPr lang="ru-RU" b="1" dirty="0">
                <a:solidFill>
                  <a:srgbClr val="002060"/>
                </a:solidFill>
              </a:rPr>
              <a:t>, каждая из которых </a:t>
            </a:r>
            <a:r>
              <a:rPr lang="ru-RU" b="1" dirty="0" smtClean="0">
                <a:solidFill>
                  <a:srgbClr val="002060"/>
                </a:solidFill>
              </a:rPr>
              <a:t>регулирует </a:t>
            </a:r>
            <a:r>
              <a:rPr lang="ru-RU" b="1" dirty="0">
                <a:solidFill>
                  <a:srgbClr val="002060"/>
                </a:solidFill>
              </a:rPr>
              <a:t>какую-то сферу жизни общества (конституционное право, гражданское право, уголовное право и т. д.). Отрасли права состоят </a:t>
            </a:r>
            <a:r>
              <a:rPr lang="ru-RU" b="1" u="sng" dirty="0">
                <a:solidFill>
                  <a:srgbClr val="002060"/>
                </a:solidFill>
              </a:rPr>
              <a:t>из правовых институтов</a:t>
            </a:r>
            <a:r>
              <a:rPr lang="ru-RU" b="1" dirty="0">
                <a:solidFill>
                  <a:srgbClr val="002060"/>
                </a:solidFill>
              </a:rPr>
              <a:t>, каждый из которых регулирует определённую ситуацию или явление (институт референдума, институт гражданства, институт договора, институт собственности). Правовые институты, в свою очередь, состоят </a:t>
            </a:r>
            <a:r>
              <a:rPr lang="ru-RU" b="1" u="sng" dirty="0">
                <a:solidFill>
                  <a:srgbClr val="002060"/>
                </a:solidFill>
              </a:rPr>
              <a:t>из норм права</a:t>
            </a:r>
            <a:r>
              <a:rPr lang="ru-RU" b="1" dirty="0">
                <a:solidFill>
                  <a:srgbClr val="002060"/>
                </a:solidFill>
              </a:rPr>
              <a:t> – правил поведения, установленных государством</a:t>
            </a:r>
            <a:r>
              <a:rPr lang="ru-RU" b="1" dirty="0" smtClean="0">
                <a:solidFill>
                  <a:srgbClr val="002060"/>
                </a:solidFill>
              </a:rPr>
              <a:t>.</a:t>
            </a:r>
          </a:p>
          <a:p>
            <a:pPr marL="342900" indent="-342900" algn="just" fontAlgn="t">
              <a:buFont typeface="+mj-lt"/>
              <a:buAutoNum type="arabicPeriod" startAt="4"/>
            </a:pPr>
            <a:r>
              <a:rPr lang="ru-RU" b="1" dirty="0" smtClean="0">
                <a:solidFill>
                  <a:srgbClr val="002060"/>
                </a:solidFill>
              </a:rPr>
              <a:t>В </a:t>
            </a:r>
            <a:r>
              <a:rPr lang="ru-RU" b="1" dirty="0">
                <a:solidFill>
                  <a:srgbClr val="002060"/>
                </a:solidFill>
              </a:rPr>
              <a:t>науке принято делить </a:t>
            </a:r>
            <a:r>
              <a:rPr lang="ru-RU" b="1" u="sng" dirty="0">
                <a:solidFill>
                  <a:srgbClr val="002060"/>
                </a:solidFill>
              </a:rPr>
              <a:t>норму права на три элемента – гипотезу, диспозицию и санкцию</a:t>
            </a:r>
            <a:r>
              <a:rPr lang="ru-RU" b="1" dirty="0">
                <a:solidFill>
                  <a:srgbClr val="002060"/>
                </a:solidFill>
              </a:rPr>
              <a:t>. </a:t>
            </a:r>
            <a:r>
              <a:rPr lang="ru-RU" b="1" u="sng" dirty="0">
                <a:solidFill>
                  <a:srgbClr val="002060"/>
                </a:solidFill>
              </a:rPr>
              <a:t>Гипотеза </a:t>
            </a:r>
            <a:r>
              <a:rPr lang="ru-RU" b="1" dirty="0">
                <a:solidFill>
                  <a:srgbClr val="002060"/>
                </a:solidFill>
              </a:rPr>
              <a:t>– это условие, при которых нужно соблюдать определённое правило, </a:t>
            </a:r>
            <a:r>
              <a:rPr lang="ru-RU" b="1" u="sng" dirty="0">
                <a:solidFill>
                  <a:srgbClr val="002060"/>
                </a:solidFill>
              </a:rPr>
              <a:t>диспозиция</a:t>
            </a:r>
            <a:r>
              <a:rPr lang="ru-RU" b="1" dirty="0">
                <a:solidFill>
                  <a:srgbClr val="002060"/>
                </a:solidFill>
              </a:rPr>
              <a:t> – это, собственно, само правило, а </a:t>
            </a:r>
            <a:r>
              <a:rPr lang="ru-RU" b="1" u="sng" dirty="0">
                <a:solidFill>
                  <a:srgbClr val="002060"/>
                </a:solidFill>
              </a:rPr>
              <a:t>санкция</a:t>
            </a:r>
            <a:r>
              <a:rPr lang="ru-RU" b="1" dirty="0">
                <a:solidFill>
                  <a:srgbClr val="002060"/>
                </a:solidFill>
              </a:rPr>
              <a:t> – это последствия нарушения этого правила</a:t>
            </a:r>
            <a:r>
              <a:rPr lang="ru-RU" b="1" dirty="0" smtClean="0">
                <a:solidFill>
                  <a:srgbClr val="002060"/>
                </a:solidFill>
              </a:rPr>
              <a:t>.</a:t>
            </a:r>
          </a:p>
          <a:p>
            <a:pPr marL="342900" indent="-342900" algn="just" fontAlgn="t">
              <a:buFont typeface="+mj-lt"/>
              <a:buAutoNum type="arabicPeriod" startAt="4"/>
            </a:pPr>
            <a:r>
              <a:rPr lang="ru-RU" b="1" dirty="0">
                <a:solidFill>
                  <a:srgbClr val="002060"/>
                </a:solidFill>
              </a:rPr>
              <a:t>К настоящему времени юридической наукой сформированы различные подходы к вопросу классификации норм права. </a:t>
            </a:r>
            <a:r>
              <a:rPr lang="ru-RU" b="1" dirty="0">
                <a:solidFill>
                  <a:srgbClr val="002060"/>
                </a:solidFill>
              </a:rPr>
              <a:t>Классификация норм права преследует несколько целей: выявление их различных регулятивных свойств; определение места различных норм в механизме правового регулирования; установление системных свойств норм и их взаимосвязи</a:t>
            </a:r>
            <a:r>
              <a:rPr lang="ru-RU" b="1" dirty="0" smtClean="0">
                <a:solidFill>
                  <a:srgbClr val="002060"/>
                </a:solidFill>
              </a:rPr>
              <a:t>.</a:t>
            </a:r>
            <a:endParaRPr lang="ru-RU" b="1" dirty="0" smtClean="0">
              <a:solidFill>
                <a:srgbClr val="002060"/>
              </a:solidFill>
            </a:endParaRPr>
          </a:p>
        </p:txBody>
      </p:sp>
      <p:sp>
        <p:nvSpPr>
          <p:cNvPr id="5" name="Google Shape;421;p31"/>
          <p:cNvSpPr txBox="1">
            <a:spLocks noGrp="1"/>
          </p:cNvSpPr>
          <p:nvPr>
            <p:ph type="title"/>
          </p:nvPr>
        </p:nvSpPr>
        <p:spPr>
          <a:xfrm>
            <a:off x="2723948" y="73711"/>
            <a:ext cx="3214839" cy="572700"/>
          </a:xfrm>
          <a:prstGeom prst="rect">
            <a:avLst/>
          </a:prstGeom>
          <a:solidFill>
            <a:srgbClr val="6E537D"/>
          </a:solidFill>
        </p:spPr>
        <p:style>
          <a:lnRef idx="2">
            <a:schemeClr val="accent1">
              <a:shade val="50000"/>
            </a:schemeClr>
          </a:lnRef>
          <a:fillRef idx="1">
            <a:schemeClr val="accent1"/>
          </a:fillRef>
          <a:effectRef idx="0">
            <a:schemeClr val="accent1"/>
          </a:effectRef>
          <a:fontRef idx="minor">
            <a:schemeClr val="lt1"/>
          </a:fontRef>
        </p:style>
        <p:txBody>
          <a:bodyPr spcFirstLastPara="1" wrap="square" lIns="91425" tIns="91425" rIns="91425" bIns="91425" anchor="t" anchorCtr="0">
            <a:noAutofit/>
          </a:bodyPr>
          <a:lstStyle/>
          <a:p>
            <a:pPr lvl="0"/>
            <a:r>
              <a:rPr lang="ru-RU" sz="2400" dirty="0">
                <a:solidFill>
                  <a:schemeClr val="bg1"/>
                </a:solidFill>
              </a:rPr>
              <a:t>Заключение </a:t>
            </a:r>
            <a:r>
              <a:rPr lang="ru-RU" sz="2400" dirty="0" smtClean="0">
                <a:solidFill>
                  <a:schemeClr val="bg1"/>
                </a:solidFill>
              </a:rPr>
              <a:t>(2) </a:t>
            </a:r>
            <a:endParaRPr lang="ru-RU" sz="2400" dirty="0">
              <a:solidFill>
                <a:schemeClr val="bg1"/>
              </a:solidFill>
            </a:endParaRPr>
          </a:p>
        </p:txBody>
      </p:sp>
      <p:grpSp>
        <p:nvGrpSpPr>
          <p:cNvPr id="6" name="Группа 5"/>
          <p:cNvGrpSpPr/>
          <p:nvPr/>
        </p:nvGrpSpPr>
        <p:grpSpPr>
          <a:xfrm>
            <a:off x="8140199" y="2346"/>
            <a:ext cx="1003801" cy="336960"/>
            <a:chOff x="0" y="0"/>
            <a:chExt cx="1003801" cy="336960"/>
          </a:xfrm>
        </p:grpSpPr>
        <p:sp>
          <p:nvSpPr>
            <p:cNvPr id="7" name="Скругленный прямоугольник 6"/>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8"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31</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18204804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50"/>
          <p:cNvSpPr txBox="1">
            <a:spLocks noGrp="1"/>
          </p:cNvSpPr>
          <p:nvPr>
            <p:ph type="body" idx="1"/>
          </p:nvPr>
        </p:nvSpPr>
        <p:spPr>
          <a:xfrm>
            <a:off x="729625" y="907742"/>
            <a:ext cx="7704000" cy="3606505"/>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p>
            <a:pPr marL="266700" indent="-228600">
              <a:spcBef>
                <a:spcPts val="300"/>
              </a:spcBef>
              <a:buFont typeface="+mj-lt"/>
              <a:buAutoNum type="arabicPeriod"/>
            </a:pPr>
            <a:r>
              <a:rPr lang="ru-RU" sz="1400" b="1" dirty="0" smtClean="0"/>
              <a:t>Конституция Российской Федерации  (с </a:t>
            </a:r>
            <a:r>
              <a:rPr lang="ru-RU" sz="1400" b="1" dirty="0"/>
              <a:t>изменениями на 4 октября 2022 года</a:t>
            </a:r>
            <a:r>
              <a:rPr lang="ru-RU" sz="1400" b="1" dirty="0" smtClean="0"/>
              <a:t>)</a:t>
            </a:r>
            <a:r>
              <a:rPr lang="ru-RU" sz="1400" b="1" dirty="0"/>
              <a:t> [Электронный ресурс</a:t>
            </a:r>
            <a:r>
              <a:rPr lang="en-US" sz="1400" b="1" dirty="0"/>
              <a:t>]. –  URL: </a:t>
            </a:r>
            <a:r>
              <a:rPr lang="en-US" sz="1400" b="1" dirty="0">
                <a:hlinkClick r:id="rId3"/>
              </a:rPr>
              <a:t>https://</a:t>
            </a:r>
            <a:r>
              <a:rPr lang="en-US" sz="1400" b="1" dirty="0" smtClean="0">
                <a:hlinkClick r:id="rId3"/>
              </a:rPr>
              <a:t>docs.cntd.ru/document/9004937</a:t>
            </a:r>
            <a:endParaRPr lang="ru-RU" sz="1400" b="1" dirty="0" smtClean="0"/>
          </a:p>
          <a:p>
            <a:pPr marL="266700" indent="-228600">
              <a:spcBef>
                <a:spcPts val="300"/>
              </a:spcBef>
              <a:buFont typeface="+mj-lt"/>
              <a:buAutoNum type="arabicPeriod"/>
            </a:pPr>
            <a:r>
              <a:rPr lang="ru-RU" sz="1400" b="1" dirty="0"/>
              <a:t>Гражданский кодекс Российской Федерации (ГК РФ) [Электронный ресурс</a:t>
            </a:r>
            <a:r>
              <a:rPr lang="en-US" sz="1400" b="1" dirty="0"/>
              <a:t>]. –  URL: </a:t>
            </a:r>
            <a:r>
              <a:rPr lang="en-US" sz="1400" b="1" dirty="0">
                <a:hlinkClick r:id="rId4"/>
              </a:rPr>
              <a:t>https://docs.cntd.ru/document/9027690</a:t>
            </a:r>
            <a:endParaRPr lang="ru-RU" sz="1400" b="1" dirty="0"/>
          </a:p>
          <a:p>
            <a:pPr marL="266700" indent="-228600">
              <a:spcBef>
                <a:spcPts val="300"/>
              </a:spcBef>
              <a:buFont typeface="+mj-lt"/>
              <a:buAutoNum type="arabicPeriod"/>
            </a:pPr>
            <a:r>
              <a:rPr lang="ru-RU" sz="1400" b="1" dirty="0"/>
              <a:t>К</a:t>
            </a:r>
            <a:r>
              <a:rPr lang="ru-RU" sz="1400" b="1" dirty="0" smtClean="0"/>
              <a:t>одекс </a:t>
            </a:r>
            <a:r>
              <a:rPr lang="ru-RU" sz="1400" b="1" dirty="0"/>
              <a:t>Р</a:t>
            </a:r>
            <a:r>
              <a:rPr lang="ru-RU" sz="1400" b="1" dirty="0" smtClean="0"/>
              <a:t>оссийской </a:t>
            </a:r>
            <a:r>
              <a:rPr lang="ru-RU" sz="1400" b="1" dirty="0"/>
              <a:t>Ф</a:t>
            </a:r>
            <a:r>
              <a:rPr lang="ru-RU" sz="1400" b="1" dirty="0" smtClean="0"/>
              <a:t>едерации об административных правонарушениях (с </a:t>
            </a:r>
            <a:r>
              <a:rPr lang="ru-RU" sz="1400" b="1" dirty="0"/>
              <a:t>изменениями на 27 ноября 2023 года</a:t>
            </a:r>
            <a:r>
              <a:rPr lang="ru-RU" sz="1400" b="1" dirty="0" smtClean="0"/>
              <a:t>)</a:t>
            </a:r>
            <a:r>
              <a:rPr lang="ru-RU" sz="1400" b="1" dirty="0"/>
              <a:t> [Электронный ресурс</a:t>
            </a:r>
            <a:r>
              <a:rPr lang="en-US" sz="1400" b="1" dirty="0"/>
              <a:t>]. –  URL: </a:t>
            </a:r>
            <a:r>
              <a:rPr lang="en-US" sz="1400" b="1" dirty="0">
                <a:hlinkClick r:id="rId5"/>
              </a:rPr>
              <a:t>https://</a:t>
            </a:r>
            <a:r>
              <a:rPr lang="en-US" sz="1400" b="1" dirty="0" smtClean="0">
                <a:hlinkClick r:id="rId5"/>
              </a:rPr>
              <a:t>docs.cntd.ru/document/901807667</a:t>
            </a:r>
            <a:endParaRPr lang="ru-RU" sz="1400" b="1" dirty="0" smtClean="0"/>
          </a:p>
          <a:p>
            <a:pPr marL="266700" indent="-228600">
              <a:spcBef>
                <a:spcPts val="300"/>
              </a:spcBef>
              <a:buFont typeface="+mj-lt"/>
              <a:buAutoNum type="arabicPeriod"/>
            </a:pPr>
            <a:r>
              <a:rPr lang="ru-RU" sz="1400" b="1" dirty="0" smtClean="0"/>
              <a:t>Трудовой кодекс Российской Федерации (с </a:t>
            </a:r>
            <a:r>
              <a:rPr lang="ru-RU" sz="1400" b="1" dirty="0"/>
              <a:t>изменениями на 24 октября 2023 года</a:t>
            </a:r>
            <a:r>
              <a:rPr lang="ru-RU" sz="1400" b="1" dirty="0" smtClean="0"/>
              <a:t>)</a:t>
            </a:r>
            <a:r>
              <a:rPr lang="ru-RU" sz="1400" b="1" dirty="0"/>
              <a:t> ) [Электронный ресурс</a:t>
            </a:r>
            <a:r>
              <a:rPr lang="en-US" sz="1400" b="1" dirty="0"/>
              <a:t>]. –  URL: </a:t>
            </a:r>
            <a:r>
              <a:rPr lang="en-US" sz="1400" b="1" dirty="0">
                <a:hlinkClick r:id="rId6"/>
              </a:rPr>
              <a:t>https://</a:t>
            </a:r>
            <a:r>
              <a:rPr lang="en-US" sz="1400" b="1" dirty="0" smtClean="0">
                <a:hlinkClick r:id="rId6"/>
              </a:rPr>
              <a:t>docs.cntd.ru/document/901807664</a:t>
            </a:r>
            <a:endParaRPr lang="ru-RU" sz="1400" b="1" dirty="0" smtClean="0"/>
          </a:p>
          <a:p>
            <a:pPr marL="266700" indent="-228600">
              <a:spcBef>
                <a:spcPts val="300"/>
              </a:spcBef>
              <a:buFont typeface="+mj-lt"/>
              <a:buAutoNum type="arabicPeriod"/>
            </a:pPr>
            <a:r>
              <a:rPr lang="ru-RU" sz="1400" b="1" dirty="0" smtClean="0"/>
              <a:t>Основы </a:t>
            </a:r>
            <a:r>
              <a:rPr lang="ru-RU" sz="1400" b="1" dirty="0"/>
              <a:t>правового </a:t>
            </a:r>
            <a:r>
              <a:rPr lang="ru-RU" sz="1400" b="1" dirty="0" smtClean="0"/>
              <a:t>государства: </a:t>
            </a:r>
            <a:r>
              <a:rPr lang="ru-RU" sz="1400" b="1" dirty="0"/>
              <a:t>учебное пособие / Е. Г. </a:t>
            </a:r>
            <a:r>
              <a:rPr lang="ru-RU" sz="1400" b="1" dirty="0" err="1"/>
              <a:t>Шаблова</a:t>
            </a:r>
            <a:r>
              <a:rPr lang="ru-RU" sz="1400" b="1" dirty="0"/>
              <a:t>, С. В. </a:t>
            </a:r>
            <a:r>
              <a:rPr lang="ru-RU" sz="1400" b="1" dirty="0" err="1"/>
              <a:t>Бендюрина</a:t>
            </a:r>
            <a:r>
              <a:rPr lang="ru-RU" sz="1400" b="1" dirty="0"/>
              <a:t>, О. В. </a:t>
            </a:r>
            <a:r>
              <a:rPr lang="ru-RU" sz="1400" b="1" dirty="0" err="1"/>
              <a:t>Жевняк</a:t>
            </a:r>
            <a:r>
              <a:rPr lang="ru-RU" sz="1400" b="1" dirty="0"/>
              <a:t>, Н. А. </a:t>
            </a:r>
            <a:r>
              <a:rPr lang="ru-RU" sz="1400" b="1" dirty="0" err="1"/>
              <a:t>Жумаканова</a:t>
            </a:r>
            <a:r>
              <a:rPr lang="ru-RU" sz="1400" b="1" dirty="0"/>
              <a:t>, Л. И. </a:t>
            </a:r>
            <a:r>
              <a:rPr lang="ru-RU" sz="1400" b="1" dirty="0" err="1"/>
              <a:t>Филющенко</a:t>
            </a:r>
            <a:r>
              <a:rPr lang="ru-RU" sz="1400" b="1" dirty="0"/>
              <a:t> ; под общ. ред. Е. Г. </a:t>
            </a:r>
            <a:r>
              <a:rPr lang="ru-RU" sz="1400" b="1" dirty="0" err="1"/>
              <a:t>Шабловой</a:t>
            </a:r>
            <a:r>
              <a:rPr lang="ru-RU" sz="1400" b="1" dirty="0"/>
              <a:t> ; Министерство науки и высшего образования Российской Федерации, Уральский федеральный университет. – Екатеринбург : Изд-во Урал. ун-та, 2022. – 383 с</a:t>
            </a:r>
            <a:r>
              <a:rPr lang="ru-RU" sz="1400" b="1" dirty="0" smtClean="0"/>
              <a:t>.</a:t>
            </a:r>
          </a:p>
          <a:p>
            <a:pPr marL="266700" indent="-228600">
              <a:spcBef>
                <a:spcPts val="300"/>
              </a:spcBef>
              <a:buFont typeface="+mj-lt"/>
              <a:buAutoNum type="arabicPeriod"/>
            </a:pPr>
            <a:r>
              <a:rPr lang="ru-RU" sz="1400" b="1" dirty="0" smtClean="0"/>
              <a:t>(см. далее)</a:t>
            </a:r>
            <a:endParaRPr lang="ru-RU" sz="1400" b="1" dirty="0" smtClean="0"/>
          </a:p>
          <a:p>
            <a:pPr marL="266700" indent="-228600">
              <a:spcBef>
                <a:spcPts val="300"/>
              </a:spcBef>
              <a:buFont typeface="+mj-lt"/>
              <a:buAutoNum type="arabicPeriod"/>
            </a:pPr>
            <a:endParaRPr lang="ru-RU" sz="1400" b="1" dirty="0" smtClean="0"/>
          </a:p>
          <a:p>
            <a:pPr marL="266700" indent="-228600">
              <a:spcBef>
                <a:spcPts val="300"/>
              </a:spcBef>
              <a:buFont typeface="+mj-lt"/>
              <a:buAutoNum type="arabicPeriod"/>
            </a:pPr>
            <a:endParaRPr lang="ru-RU" sz="1400" b="1" dirty="0"/>
          </a:p>
          <a:p>
            <a:pPr marL="266700" indent="-228600">
              <a:spcBef>
                <a:spcPts val="300"/>
              </a:spcBef>
              <a:buFont typeface="+mj-lt"/>
              <a:buAutoNum type="arabicPeriod"/>
            </a:pPr>
            <a:endParaRPr lang="ru-RU" sz="1400" b="1" dirty="0"/>
          </a:p>
          <a:p>
            <a:pPr marL="266700" indent="-228600">
              <a:spcBef>
                <a:spcPts val="300"/>
              </a:spcBef>
              <a:buFont typeface="+mj-lt"/>
              <a:buAutoNum type="arabicPeriod"/>
            </a:pPr>
            <a:endParaRPr lang="ru-RU" sz="1400" b="1" dirty="0"/>
          </a:p>
          <a:p>
            <a:pPr marL="266700" indent="-228600">
              <a:spcBef>
                <a:spcPts val="300"/>
              </a:spcBef>
              <a:buFont typeface="+mj-lt"/>
              <a:buAutoNum type="arabicPeriod"/>
            </a:pPr>
            <a:endParaRPr lang="ru-RU" sz="1400" b="1" dirty="0"/>
          </a:p>
        </p:txBody>
      </p:sp>
      <p:sp>
        <p:nvSpPr>
          <p:cNvPr id="4" name="Google Shape;421;p31"/>
          <p:cNvSpPr txBox="1">
            <a:spLocks/>
          </p:cNvSpPr>
          <p:nvPr/>
        </p:nvSpPr>
        <p:spPr>
          <a:xfrm>
            <a:off x="1472665" y="218090"/>
            <a:ext cx="6006164" cy="572700"/>
          </a:xfrm>
          <a:prstGeom prst="rect">
            <a:avLst/>
          </a:prstGeom>
          <a:solidFill>
            <a:srgbClr val="6E537D"/>
          </a:solidFill>
        </p:spPr>
        <p:style>
          <a:lnRef idx="2">
            <a:schemeClr val="accent1">
              <a:shade val="50000"/>
            </a:schemeClr>
          </a:lnRef>
          <a:fillRef idx="1">
            <a:schemeClr val="accent1"/>
          </a:fillRef>
          <a:effectRef idx="0">
            <a:schemeClr val="accent1"/>
          </a:effectRef>
          <a:fontRef idx="minor">
            <a:schemeClr val="lt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1pPr>
            <a:lvl2pPr marR="0" lvl="1"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2pPr>
            <a:lvl3pPr marR="0" lvl="2"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3pPr>
            <a:lvl4pPr marR="0" lvl="3"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4pPr>
            <a:lvl5pPr marR="0" lvl="4"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5pPr>
            <a:lvl6pPr marR="0" lvl="5"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6pPr>
            <a:lvl7pPr marR="0" lvl="6"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7pPr>
            <a:lvl8pPr marR="0" lvl="7"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8pPr>
            <a:lvl9pPr marR="0" lvl="8"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9pPr>
          </a:lstStyle>
          <a:p>
            <a:r>
              <a:rPr lang="ru-RU" sz="2400" dirty="0">
                <a:solidFill>
                  <a:schemeClr val="bg1"/>
                </a:solidFill>
              </a:rPr>
              <a:t>Библиографический </a:t>
            </a:r>
            <a:r>
              <a:rPr lang="ru-RU" sz="2400" dirty="0" smtClean="0">
                <a:solidFill>
                  <a:schemeClr val="bg1"/>
                </a:solidFill>
              </a:rPr>
              <a:t>список (1)</a:t>
            </a:r>
            <a:endParaRPr lang="ru-RU" sz="2400" dirty="0">
              <a:solidFill>
                <a:schemeClr val="bg1"/>
              </a:solidFill>
            </a:endParaRPr>
          </a:p>
        </p:txBody>
      </p:sp>
      <p:grpSp>
        <p:nvGrpSpPr>
          <p:cNvPr id="5" name="Группа 4"/>
          <p:cNvGrpSpPr/>
          <p:nvPr/>
        </p:nvGrpSpPr>
        <p:grpSpPr>
          <a:xfrm>
            <a:off x="8140199" y="2346"/>
            <a:ext cx="1003801" cy="336960"/>
            <a:chOff x="0" y="0"/>
            <a:chExt cx="1003801" cy="336960"/>
          </a:xfrm>
        </p:grpSpPr>
        <p:sp>
          <p:nvSpPr>
            <p:cNvPr id="6" name="Скругленный прямоугольник 5"/>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7"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32</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77694893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50"/>
          <p:cNvSpPr txBox="1">
            <a:spLocks noGrp="1"/>
          </p:cNvSpPr>
          <p:nvPr>
            <p:ph type="body" idx="1"/>
          </p:nvPr>
        </p:nvSpPr>
        <p:spPr>
          <a:xfrm>
            <a:off x="720000" y="984745"/>
            <a:ext cx="7704000" cy="3606505"/>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p>
            <a:pPr marL="381000" indent="-342900">
              <a:spcBef>
                <a:spcPts val="300"/>
              </a:spcBef>
              <a:buFont typeface="+mj-lt"/>
              <a:buAutoNum type="arabicPeriod" startAt="6"/>
            </a:pPr>
            <a:r>
              <a:rPr lang="ru-RU" sz="1400" b="1" dirty="0"/>
              <a:t>Рассказов Л. П. Сходство и различие российской правовой системы и романо-германской правовой семьи [Электронный ресурс</a:t>
            </a:r>
            <a:r>
              <a:rPr lang="en-US" sz="1400" b="1" dirty="0"/>
              <a:t>]. –  URL: </a:t>
            </a:r>
            <a:r>
              <a:rPr lang="en-US" sz="1400" b="1" dirty="0">
                <a:hlinkClick r:id="rId3"/>
              </a:rPr>
              <a:t>https://cyberleninka.ru/article/n/shodstvo-i-razlichie-rossiyskoy-pravovoy-sistemy-i-romano-germanskoy-pravovoy-semi</a:t>
            </a:r>
            <a:endParaRPr lang="ru-RU" sz="1400" b="1" dirty="0"/>
          </a:p>
          <a:p>
            <a:pPr marL="381000" indent="-342900">
              <a:spcBef>
                <a:spcPts val="300"/>
              </a:spcBef>
              <a:buFont typeface="+mj-lt"/>
              <a:buAutoNum type="arabicPeriod" startAt="6"/>
            </a:pPr>
            <a:r>
              <a:rPr lang="ru-RU" sz="1400" b="1" dirty="0"/>
              <a:t>Мартынова С.В. Нормы права: структура и классификации / Журнал «Современная наука: актуальные проблемы теории и практики» Серия: Экономика и Право №8 август 2021 г. С.130-133</a:t>
            </a:r>
            <a:r>
              <a:rPr lang="ru-RU" sz="1400" b="1" dirty="0" smtClean="0"/>
              <a:t>.</a:t>
            </a:r>
          </a:p>
          <a:p>
            <a:pPr marL="381000" indent="-342900">
              <a:spcBef>
                <a:spcPts val="300"/>
              </a:spcBef>
              <a:buFont typeface="+mj-lt"/>
              <a:buAutoNum type="arabicPeriod" startAt="6"/>
            </a:pPr>
            <a:r>
              <a:rPr lang="ru-RU" sz="1400" b="1" dirty="0" smtClean="0"/>
              <a:t>Марченко М.Н. Сравнительное правоведение: учебник. – 2-е изд., </a:t>
            </a:r>
            <a:r>
              <a:rPr lang="ru-RU" sz="1400" b="1" dirty="0" err="1" smtClean="0"/>
              <a:t>перераб</a:t>
            </a:r>
            <a:r>
              <a:rPr lang="ru-RU" sz="1400" b="1" dirty="0" smtClean="0"/>
              <a:t>. и доп. – Москва: Проспект, 2015. – 784 с.</a:t>
            </a:r>
            <a:endParaRPr lang="ru-RU" sz="1400" b="1" dirty="0"/>
          </a:p>
          <a:p>
            <a:pPr marL="381000" indent="-342900">
              <a:spcBef>
                <a:spcPts val="300"/>
              </a:spcBef>
              <a:buFont typeface="+mj-lt"/>
              <a:buAutoNum type="arabicPeriod" startAt="6"/>
            </a:pPr>
            <a:r>
              <a:rPr lang="ru-RU" sz="1400" b="1" dirty="0" smtClean="0"/>
              <a:t>Классификация </a:t>
            </a:r>
            <a:r>
              <a:rPr lang="ru-RU" sz="1400" b="1" dirty="0"/>
              <a:t>норм права [Электронный ресурс]. –  URL: </a:t>
            </a:r>
            <a:r>
              <a:rPr lang="ru-RU" sz="1400" b="1" dirty="0">
                <a:hlinkClick r:id="rId4"/>
              </a:rPr>
              <a:t>https://</a:t>
            </a:r>
            <a:r>
              <a:rPr lang="ru-RU" sz="1400" b="1" dirty="0" smtClean="0">
                <a:hlinkClick r:id="rId4"/>
              </a:rPr>
              <a:t>studme.org/127956/pravo/klassifikatsiya_norm_prava</a:t>
            </a:r>
            <a:endParaRPr lang="ru-RU" sz="1400" b="1" dirty="0" smtClean="0"/>
          </a:p>
          <a:p>
            <a:pPr marL="381000" indent="-342900">
              <a:spcBef>
                <a:spcPts val="300"/>
              </a:spcBef>
              <a:buFont typeface="+mj-lt"/>
              <a:buAutoNum type="arabicPeriod" startAt="6"/>
            </a:pPr>
            <a:r>
              <a:rPr lang="ru-RU" sz="1400" b="1" dirty="0"/>
              <a:t>Баранов А.В. </a:t>
            </a:r>
            <a:r>
              <a:rPr lang="ru-RU" sz="1400" b="1" dirty="0" err="1"/>
              <a:t>Системоопределяющие</a:t>
            </a:r>
            <a:r>
              <a:rPr lang="ru-RU" sz="1400" b="1" dirty="0"/>
              <a:t> специализированные нормы современного российского права // Вестник Омского университета. Серия «Право</a:t>
            </a:r>
            <a:r>
              <a:rPr lang="ru-RU" sz="1400" b="1" dirty="0" smtClean="0"/>
              <a:t>». 2017</a:t>
            </a:r>
            <a:r>
              <a:rPr lang="ru-RU" sz="1400" b="1" dirty="0"/>
              <a:t>. № . 4 (53). С. 13–19</a:t>
            </a:r>
            <a:r>
              <a:rPr lang="ru-RU" sz="1400" b="1" dirty="0" smtClean="0"/>
              <a:t>.</a:t>
            </a:r>
            <a:endParaRPr lang="ru-RU" sz="1400" b="1" dirty="0"/>
          </a:p>
        </p:txBody>
      </p:sp>
      <p:sp>
        <p:nvSpPr>
          <p:cNvPr id="5" name="Google Shape;421;p31"/>
          <p:cNvSpPr txBox="1">
            <a:spLocks/>
          </p:cNvSpPr>
          <p:nvPr/>
        </p:nvSpPr>
        <p:spPr>
          <a:xfrm>
            <a:off x="1472665" y="218090"/>
            <a:ext cx="6006164" cy="572700"/>
          </a:xfrm>
          <a:prstGeom prst="rect">
            <a:avLst/>
          </a:prstGeom>
          <a:solidFill>
            <a:srgbClr val="6E537D"/>
          </a:solidFill>
        </p:spPr>
        <p:style>
          <a:lnRef idx="2">
            <a:schemeClr val="accent1">
              <a:shade val="50000"/>
            </a:schemeClr>
          </a:lnRef>
          <a:fillRef idx="1">
            <a:schemeClr val="accent1"/>
          </a:fillRef>
          <a:effectRef idx="0">
            <a:schemeClr val="accent1"/>
          </a:effectRef>
          <a:fontRef idx="minor">
            <a:schemeClr val="lt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1pPr>
            <a:lvl2pPr marR="0" lvl="1"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2pPr>
            <a:lvl3pPr marR="0" lvl="2"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3pPr>
            <a:lvl4pPr marR="0" lvl="3"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4pPr>
            <a:lvl5pPr marR="0" lvl="4"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5pPr>
            <a:lvl6pPr marR="0" lvl="5"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6pPr>
            <a:lvl7pPr marR="0" lvl="6"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7pPr>
            <a:lvl8pPr marR="0" lvl="7"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8pPr>
            <a:lvl9pPr marR="0" lvl="8" algn="l" rtl="0">
              <a:lnSpc>
                <a:spcPct val="100000"/>
              </a:lnSpc>
              <a:spcBef>
                <a:spcPts val="0"/>
              </a:spcBef>
              <a:spcAft>
                <a:spcPts val="0"/>
              </a:spcAft>
              <a:buClr>
                <a:schemeClr val="dk1"/>
              </a:buClr>
              <a:buSzPts val="3000"/>
              <a:buFont typeface="Cabin"/>
              <a:buNone/>
              <a:defRPr sz="3000" b="1" i="0" u="none" strike="noStrike" cap="none">
                <a:solidFill>
                  <a:schemeClr val="dk1"/>
                </a:solidFill>
                <a:latin typeface="Cabin"/>
                <a:ea typeface="Cabin"/>
                <a:cs typeface="Cabin"/>
                <a:sym typeface="Cabin"/>
              </a:defRPr>
            </a:lvl9pPr>
          </a:lstStyle>
          <a:p>
            <a:r>
              <a:rPr lang="ru-RU" sz="2400" dirty="0">
                <a:solidFill>
                  <a:schemeClr val="bg1"/>
                </a:solidFill>
              </a:rPr>
              <a:t>Библиографический </a:t>
            </a:r>
            <a:r>
              <a:rPr lang="ru-RU" sz="2400" dirty="0" smtClean="0">
                <a:solidFill>
                  <a:schemeClr val="bg1"/>
                </a:solidFill>
              </a:rPr>
              <a:t>список (2)</a:t>
            </a:r>
            <a:endParaRPr lang="ru-RU" sz="2400" dirty="0">
              <a:solidFill>
                <a:schemeClr val="bg1"/>
              </a:solidFill>
            </a:endParaRPr>
          </a:p>
        </p:txBody>
      </p:sp>
      <p:grpSp>
        <p:nvGrpSpPr>
          <p:cNvPr id="4" name="Группа 3"/>
          <p:cNvGrpSpPr/>
          <p:nvPr/>
        </p:nvGrpSpPr>
        <p:grpSpPr>
          <a:xfrm>
            <a:off x="8140199" y="2346"/>
            <a:ext cx="1003801" cy="336960"/>
            <a:chOff x="0" y="0"/>
            <a:chExt cx="1003801" cy="336960"/>
          </a:xfrm>
        </p:grpSpPr>
        <p:sp>
          <p:nvSpPr>
            <p:cNvPr id="6" name="Скругленный прямоугольник 5"/>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7"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33</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73471542"/>
      </p:ext>
    </p:extLst>
  </p:cSld>
  <p:clrMapOvr>
    <a:masterClrMapping/>
  </p:clrMapOvr>
  <p:timing>
    <p:tnLst>
      <p:par>
        <p:cTn id="1" dur="indefinite" restart="never" nodeType="tmRoot"/>
      </p:par>
    </p:tnLst>
  </p:timing>
</p:sld>
</file>

<file path=ppt/theme/theme1.xml><?xml version="1.0" encoding="utf-8"?>
<a:theme xmlns:a="http://schemas.openxmlformats.org/drawingml/2006/main" name="Personnel Supervision Plan Project Proposal by Slidesgo">
  <a:themeElements>
    <a:clrScheme name="Simple Light">
      <a:dk1>
        <a:srgbClr val="3D3D3D"/>
      </a:dk1>
      <a:lt1>
        <a:srgbClr val="E9E6E5"/>
      </a:lt1>
      <a:dk2>
        <a:srgbClr val="8E8684"/>
      </a:dk2>
      <a:lt2>
        <a:srgbClr val="A29B99"/>
      </a:lt2>
      <a:accent1>
        <a:srgbClr val="C2BCBA"/>
      </a:accent1>
      <a:accent2>
        <a:srgbClr val="CFC9C7"/>
      </a:accent2>
      <a:accent3>
        <a:srgbClr val="FFFFFF"/>
      </a:accent3>
      <a:accent4>
        <a:srgbClr val="FFFFFF"/>
      </a:accent4>
      <a:accent5>
        <a:srgbClr val="FFFFFF"/>
      </a:accent5>
      <a:accent6>
        <a:srgbClr val="FFFFFF"/>
      </a:accent6>
      <a:hlink>
        <a:srgbClr val="3D3D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1041</TotalTime>
  <Words>3310</Words>
  <Application>Microsoft Office PowerPoint</Application>
  <PresentationFormat>Экран (16:9)</PresentationFormat>
  <Paragraphs>239</Paragraphs>
  <Slides>33</Slides>
  <Notes>33</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33</vt:i4>
      </vt:variant>
    </vt:vector>
  </HeadingPairs>
  <TitlesOfParts>
    <vt:vector size="41" baseType="lpstr">
      <vt:lpstr>Arial</vt:lpstr>
      <vt:lpstr>Anaheim</vt:lpstr>
      <vt:lpstr>Nunito Light</vt:lpstr>
      <vt:lpstr>Open Sans</vt:lpstr>
      <vt:lpstr>Cabin</vt:lpstr>
      <vt:lpstr>Wingdings</vt:lpstr>
      <vt:lpstr>Raleway</vt:lpstr>
      <vt:lpstr>Personnel Supervision Plan Project Proposal by Slidesgo</vt:lpstr>
      <vt:lpstr>Особенности российской правовой системы. Классификация и структура правовых норм.</vt:lpstr>
      <vt:lpstr>Оглавление</vt:lpstr>
      <vt:lpstr>Понятие о правовой системе</vt:lpstr>
      <vt:lpstr>Территория  Российской Федерации</vt:lpstr>
      <vt:lpstr>1. Правовая система Российской Федерации</vt:lpstr>
      <vt:lpstr>Конституция Российской Федерации – высший нормативный правовой акт</vt:lpstr>
      <vt:lpstr>Система законодательства (структура нормативно-правовых актов) Российской Федерации </vt:lpstr>
      <vt:lpstr>Основные черты российской правовой системы</vt:lpstr>
      <vt:lpstr>Особенности российской правовой системы (1)</vt:lpstr>
      <vt:lpstr>Особенности российской правовой системы (2)</vt:lpstr>
      <vt:lpstr>Нормативные правовые акты в РФ</vt:lpstr>
      <vt:lpstr>Федеральное собрание Российской Федерации</vt:lpstr>
      <vt:lpstr>Государственная Дума</vt:lpstr>
      <vt:lpstr>Совет Федерации</vt:lpstr>
      <vt:lpstr>Структура правовой системы Российской Федерации</vt:lpstr>
      <vt:lpstr>Структура правовой системы Российской Федерации</vt:lpstr>
      <vt:lpstr>Понятие «норма права» (1)</vt:lpstr>
      <vt:lpstr>Понятие «норма права» (2)</vt:lpstr>
      <vt:lpstr>2. Структура правовой нормы</vt:lpstr>
      <vt:lpstr>Примеры взаимосвязи структурных элементов правовой нормы (1)</vt:lpstr>
      <vt:lpstr>Примеры взаимосвязи структурных элементов правовой нормы (2)</vt:lpstr>
      <vt:lpstr>3. Классификация правовых норм</vt:lpstr>
      <vt:lpstr>Классификация правовых норм (1)</vt:lpstr>
      <vt:lpstr>Классификация правовых норм (2)</vt:lpstr>
      <vt:lpstr>Классификация правовых норм: примеры (1)</vt:lpstr>
      <vt:lpstr>Классификация правовых норм: примеры (2)</vt:lpstr>
      <vt:lpstr>Классификация правовых норм: примеры (3)</vt:lpstr>
      <vt:lpstr>Классификация правовых норм: примеры (4)</vt:lpstr>
      <vt:lpstr>Классификация правовых норм: примеры (5)</vt:lpstr>
      <vt:lpstr>Заключение (1) </vt:lpstr>
      <vt:lpstr>Заключение (2) </vt:lpstr>
      <vt:lpstr>Презентация PowerPoint</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Особенности российской правовой системы. Классификация и структура правовых норм.</dc:title>
  <cp:lastModifiedBy>Лидия</cp:lastModifiedBy>
  <cp:revision>96</cp:revision>
  <dcterms:modified xsi:type="dcterms:W3CDTF">2023-12-06T17:01:32Z</dcterms:modified>
</cp:coreProperties>
</file>