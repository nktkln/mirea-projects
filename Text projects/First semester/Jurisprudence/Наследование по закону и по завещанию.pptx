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25"/>
  </p:notesMasterIdLst>
  <p:sldIdLst>
    <p:sldId id="332" r:id="rId2"/>
    <p:sldId id="335" r:id="rId3"/>
    <p:sldId id="337" r:id="rId4"/>
    <p:sldId id="349" r:id="rId5"/>
    <p:sldId id="338" r:id="rId6"/>
    <p:sldId id="354" r:id="rId7"/>
    <p:sldId id="355" r:id="rId8"/>
    <p:sldId id="352" r:id="rId9"/>
    <p:sldId id="365" r:id="rId10"/>
    <p:sldId id="348" r:id="rId11"/>
    <p:sldId id="351" r:id="rId12"/>
    <p:sldId id="357" r:id="rId13"/>
    <p:sldId id="358" r:id="rId14"/>
    <p:sldId id="359" r:id="rId15"/>
    <p:sldId id="360" r:id="rId16"/>
    <p:sldId id="361" r:id="rId17"/>
    <p:sldId id="362" r:id="rId18"/>
    <p:sldId id="370" r:id="rId19"/>
    <p:sldId id="366" r:id="rId20"/>
    <p:sldId id="356" r:id="rId21"/>
    <p:sldId id="367" r:id="rId22"/>
    <p:sldId id="369" r:id="rId23"/>
    <p:sldId id="364" r:id="rId24"/>
  </p:sldIdLst>
  <p:sldSz cx="9144000" cy="5143500" type="screen16x9"/>
  <p:notesSz cx="6858000" cy="9144000"/>
  <p:embeddedFontLst>
    <p:embeddedFont>
      <p:font typeface="Montserrat" panose="020B0604020202020204" charset="-52"/>
      <p:regular r:id="rId26"/>
      <p:bold r:id="rId27"/>
      <p:italic r:id="rId28"/>
      <p:boldItalic r:id="rId29"/>
    </p:embeddedFont>
    <p:embeddedFont>
      <p:font typeface="Vidaloka" panose="020B0604020202020204" charset="0"/>
      <p:regular r:id="rId30"/>
    </p:embeddedFont>
    <p:embeddedFont>
      <p:font typeface="Crimson Text"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pos="3704">
          <p15:clr>
            <a:srgbClr val="9AA0A6"/>
          </p15:clr>
        </p15:guide>
        <p15:guide id="2" pos="43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244D9B5-D4C6-4592-A1EC-BB042E783D42}">
  <a:tblStyle styleId="{E244D9B5-D4C6-4592-A1EC-BB042E783D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0" d="100"/>
          <a:sy n="90" d="100"/>
        </p:scale>
        <p:origin x="-489" y="22"/>
      </p:cViewPr>
      <p:guideLst>
        <p:guide orient="horz" pos="1620"/>
        <p:guide pos="3704"/>
        <p:guide pos="439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9D2F69-3E42-4F91-8D60-DAA5810B772F}" type="doc">
      <dgm:prSet loTypeId="urn:microsoft.com/office/officeart/2005/8/layout/radial6" loCatId="relationship" qsTypeId="urn:microsoft.com/office/officeart/2005/8/quickstyle/simple1" qsCatId="simple" csTypeId="urn:microsoft.com/office/officeart/2005/8/colors/accent0_1" csCatId="mainScheme" phldr="1"/>
      <dgm:spPr/>
      <dgm:t>
        <a:bodyPr/>
        <a:lstStyle/>
        <a:p>
          <a:endParaRPr lang="ru-RU"/>
        </a:p>
      </dgm:t>
    </dgm:pt>
    <dgm:pt modelId="{E2018E3B-C310-4C3C-9B2E-0780973F43BD}">
      <dgm:prSet phldrT="[Текст]" custT="1">
        <dgm:style>
          <a:lnRef idx="1">
            <a:schemeClr val="dk1"/>
          </a:lnRef>
          <a:fillRef idx="2">
            <a:schemeClr val="dk1"/>
          </a:fillRef>
          <a:effectRef idx="1">
            <a:schemeClr val="dk1"/>
          </a:effectRef>
          <a:fontRef idx="minor">
            <a:schemeClr val="dk1"/>
          </a:fontRef>
        </dgm:style>
      </dgm:prSet>
      <dgm:spPr/>
      <dgm:t>
        <a:bodyPr/>
        <a:lstStyle/>
        <a:p>
          <a:r>
            <a:rPr lang="ru-RU" sz="1100" b="1" dirty="0" smtClean="0">
              <a:solidFill>
                <a:schemeClr val="tx1"/>
              </a:solidFill>
            </a:rPr>
            <a:t>ЗАКРЫТОЕ ЗАВЕЩАНИЕ - </a:t>
          </a:r>
          <a:r>
            <a:rPr lang="ru-RU" sz="900" b="1" dirty="0" smtClean="0">
              <a:solidFill>
                <a:schemeClr val="tx1"/>
              </a:solidFill>
              <a:uFill>
                <a:noFill/>
              </a:uFill>
              <a:latin typeface="+mn-lt"/>
            </a:rPr>
            <a:t>такое завещание, с содержанием которого никто, включая нотариуса, не может быть ознакомлен до его вскрытия после смерти завещателя.</a:t>
          </a:r>
          <a:r>
            <a:rPr lang="ru-RU" sz="900" b="1" dirty="0" smtClean="0">
              <a:solidFill>
                <a:schemeClr val="tx1"/>
              </a:solidFill>
            </a:rPr>
            <a:t> </a:t>
          </a:r>
          <a:endParaRPr lang="ru-RU" sz="900" dirty="0"/>
        </a:p>
      </dgm:t>
    </dgm:pt>
    <dgm:pt modelId="{5E9EFFAE-9634-49D9-8B5E-05B0A2A7E90A}" type="parTrans" cxnId="{38D3862B-4CDC-4E66-9B61-7724E2227641}">
      <dgm:prSet/>
      <dgm:spPr/>
      <dgm:t>
        <a:bodyPr/>
        <a:lstStyle/>
        <a:p>
          <a:endParaRPr lang="ru-RU" sz="800"/>
        </a:p>
      </dgm:t>
    </dgm:pt>
    <dgm:pt modelId="{49EA9D64-64C3-452A-9D9F-17929DD38251}" type="sibTrans" cxnId="{38D3862B-4CDC-4E66-9B61-7724E2227641}">
      <dgm:prSet/>
      <dgm:spPr/>
      <dgm:t>
        <a:bodyPr/>
        <a:lstStyle/>
        <a:p>
          <a:endParaRPr lang="ru-RU" sz="800"/>
        </a:p>
      </dgm:t>
    </dgm:pt>
    <dgm:pt modelId="{585F188E-AD4B-48E3-A88D-5D54335171C7}">
      <dgm:prSet phldrT="[Текст]" custT="1"/>
      <dgm:spPr/>
      <dgm:t>
        <a:bodyPr/>
        <a:lstStyle/>
        <a:p>
          <a:r>
            <a:rPr lang="ru-RU" sz="800" b="1" dirty="0" smtClean="0">
              <a:solidFill>
                <a:schemeClr val="tx1"/>
              </a:solidFill>
              <a:uFill>
                <a:noFill/>
              </a:uFill>
              <a:latin typeface="+mn-lt"/>
            </a:rPr>
            <a:t>Передается нотариусу лично завещателем в заклеенном конверте</a:t>
          </a:r>
          <a:endParaRPr lang="ru-RU" sz="800" dirty="0"/>
        </a:p>
      </dgm:t>
    </dgm:pt>
    <dgm:pt modelId="{97A8C124-1C67-4528-9FD7-0254FDE56128}" type="parTrans" cxnId="{8B4EDABB-5607-4177-B42B-6BBDA76177B2}">
      <dgm:prSet/>
      <dgm:spPr/>
      <dgm:t>
        <a:bodyPr/>
        <a:lstStyle/>
        <a:p>
          <a:endParaRPr lang="ru-RU" sz="800"/>
        </a:p>
      </dgm:t>
    </dgm:pt>
    <dgm:pt modelId="{8A2A6599-D211-4039-A681-45879EA05E32}" type="sibTrans" cxnId="{8B4EDABB-5607-4177-B42B-6BBDA76177B2}">
      <dgm:prSet/>
      <dgm:spPr/>
      <dgm:t>
        <a:bodyPr/>
        <a:lstStyle/>
        <a:p>
          <a:endParaRPr lang="ru-RU" sz="800"/>
        </a:p>
      </dgm:t>
    </dgm:pt>
    <dgm:pt modelId="{51FDC6D1-0A3B-409E-823F-DCEBB123441B}">
      <dgm:prSet phldrT="[Текст]" custT="1"/>
      <dgm:spPr/>
      <dgm:t>
        <a:bodyPr/>
        <a:lstStyle/>
        <a:p>
          <a:r>
            <a:rPr lang="ru-RU" sz="800" b="1" dirty="0" smtClean="0">
              <a:solidFill>
                <a:schemeClr val="tx1"/>
              </a:solidFill>
              <a:uFill>
                <a:noFill/>
              </a:uFill>
              <a:latin typeface="+mn-lt"/>
            </a:rPr>
            <a:t>Вскрытие конверта с закрытым завещанием происходит в присутствии не менее чем двух свидетелей. </a:t>
          </a:r>
        </a:p>
        <a:p>
          <a:endParaRPr lang="ru-RU" sz="800" dirty="0"/>
        </a:p>
      </dgm:t>
    </dgm:pt>
    <dgm:pt modelId="{44DBC847-17A7-48ED-A887-58D2E85B89AE}" type="parTrans" cxnId="{E9FA5D5B-FA62-4BF8-94CD-49371D71A085}">
      <dgm:prSet/>
      <dgm:spPr/>
      <dgm:t>
        <a:bodyPr/>
        <a:lstStyle/>
        <a:p>
          <a:endParaRPr lang="ru-RU" sz="800"/>
        </a:p>
      </dgm:t>
    </dgm:pt>
    <dgm:pt modelId="{BDAF6B8A-2D81-4836-B5F3-DA2FF7403EE3}" type="sibTrans" cxnId="{E9FA5D5B-FA62-4BF8-94CD-49371D71A085}">
      <dgm:prSet/>
      <dgm:spPr/>
      <dgm:t>
        <a:bodyPr/>
        <a:lstStyle/>
        <a:p>
          <a:endParaRPr lang="ru-RU" sz="800"/>
        </a:p>
      </dgm:t>
    </dgm:pt>
    <dgm:pt modelId="{93498BF6-4752-4447-AF8F-DA5C2B9A8E38}">
      <dgm:prSet phldrT="[Текст]" custT="1"/>
      <dgm:spPr/>
      <dgm:t>
        <a:bodyPr/>
        <a:lstStyle/>
        <a:p>
          <a:r>
            <a:rPr lang="ru-RU" sz="900" b="1" dirty="0" smtClean="0">
              <a:solidFill>
                <a:schemeClr val="tx1"/>
              </a:solidFill>
              <a:uFill>
                <a:noFill/>
              </a:uFill>
              <a:latin typeface="+mn-lt"/>
            </a:rPr>
            <a:t>Конверт с закрытым завещанием может быть вскрыт только после смерти завещателя.</a:t>
          </a:r>
          <a:endParaRPr lang="ru-RU" sz="900" dirty="0"/>
        </a:p>
      </dgm:t>
    </dgm:pt>
    <dgm:pt modelId="{CFD631CF-A1A4-4AC6-8201-05A1DE586CE3}" type="parTrans" cxnId="{3442EF94-A918-4145-B7E8-4CFB0EE9D764}">
      <dgm:prSet/>
      <dgm:spPr/>
      <dgm:t>
        <a:bodyPr/>
        <a:lstStyle/>
        <a:p>
          <a:endParaRPr lang="ru-RU" sz="800"/>
        </a:p>
      </dgm:t>
    </dgm:pt>
    <dgm:pt modelId="{39E4C5F0-4974-4684-9D35-D165A7B6E31A}" type="sibTrans" cxnId="{3442EF94-A918-4145-B7E8-4CFB0EE9D764}">
      <dgm:prSet/>
      <dgm:spPr/>
      <dgm:t>
        <a:bodyPr/>
        <a:lstStyle/>
        <a:p>
          <a:endParaRPr lang="ru-RU" sz="800"/>
        </a:p>
      </dgm:t>
    </dgm:pt>
    <dgm:pt modelId="{A6835AAB-C513-4D27-B59C-9D7776117F75}">
      <dgm:prSet custT="1"/>
      <dgm:spPr/>
      <dgm:t>
        <a:bodyPr/>
        <a:lstStyle/>
        <a:p>
          <a:r>
            <a:rPr lang="ru-RU" sz="800" b="1" dirty="0" smtClean="0">
              <a:solidFill>
                <a:schemeClr val="tx1"/>
              </a:solidFill>
              <a:uFill>
                <a:noFill/>
              </a:uFill>
              <a:latin typeface="+mn-lt"/>
            </a:rPr>
            <a:t>Принимается нотариусом от завещателя в обязательном присутствии двух свидетелей</a:t>
          </a:r>
          <a:endParaRPr lang="ru-RU" sz="800" dirty="0"/>
        </a:p>
      </dgm:t>
    </dgm:pt>
    <dgm:pt modelId="{ADAA517D-107C-4BA1-9F05-14D3B763D537}" type="parTrans" cxnId="{630C5C90-80DC-435D-9D80-4D96559EE215}">
      <dgm:prSet/>
      <dgm:spPr/>
      <dgm:t>
        <a:bodyPr/>
        <a:lstStyle/>
        <a:p>
          <a:endParaRPr lang="ru-RU" sz="800"/>
        </a:p>
      </dgm:t>
    </dgm:pt>
    <dgm:pt modelId="{F5C34BA2-2B88-4736-8098-E29F5ACF292D}" type="sibTrans" cxnId="{630C5C90-80DC-435D-9D80-4D96559EE215}">
      <dgm:prSet/>
      <dgm:spPr/>
      <dgm:t>
        <a:bodyPr/>
        <a:lstStyle/>
        <a:p>
          <a:endParaRPr lang="ru-RU" sz="800"/>
        </a:p>
      </dgm:t>
    </dgm:pt>
    <dgm:pt modelId="{7F5DD4A9-191D-47CA-8CBA-7A576D344542}">
      <dgm:prSet custT="1"/>
      <dgm:spPr/>
      <dgm:t>
        <a:bodyPr/>
        <a:lstStyle/>
        <a:p>
          <a:r>
            <a:rPr lang="ru-RU" sz="800" b="1" dirty="0" smtClean="0">
              <a:solidFill>
                <a:schemeClr val="tx1"/>
              </a:solidFill>
              <a:uFill>
                <a:noFill/>
              </a:uFill>
              <a:latin typeface="+mn-lt"/>
            </a:rPr>
            <a:t>Конверт с закрытым завещанием запечатывается нотариусом в конверт хранения, на котором совершается удостоверительную надпись</a:t>
          </a:r>
          <a:endParaRPr lang="ru-RU" sz="800" b="1" dirty="0"/>
        </a:p>
      </dgm:t>
    </dgm:pt>
    <dgm:pt modelId="{E5CC2931-A9BF-40FC-99BA-D23471C39814}" type="parTrans" cxnId="{7960F591-A29D-4C6C-8EA4-1C0AB08160B5}">
      <dgm:prSet/>
      <dgm:spPr/>
      <dgm:t>
        <a:bodyPr/>
        <a:lstStyle/>
        <a:p>
          <a:endParaRPr lang="ru-RU" sz="800"/>
        </a:p>
      </dgm:t>
    </dgm:pt>
    <dgm:pt modelId="{DB8447CE-566F-4F4E-878B-C04C5B63F99D}" type="sibTrans" cxnId="{7960F591-A29D-4C6C-8EA4-1C0AB08160B5}">
      <dgm:prSet/>
      <dgm:spPr/>
      <dgm:t>
        <a:bodyPr/>
        <a:lstStyle/>
        <a:p>
          <a:endParaRPr lang="ru-RU" sz="800"/>
        </a:p>
      </dgm:t>
    </dgm:pt>
    <dgm:pt modelId="{D0098CD8-225A-491A-9F6A-F21B6A09C618}">
      <dgm:prSet custT="1"/>
      <dgm:spPr/>
      <dgm:t>
        <a:bodyPr/>
        <a:lstStyle/>
        <a:p>
          <a:r>
            <a:rPr lang="ru-RU" sz="800" b="1" dirty="0" smtClean="0">
              <a:solidFill>
                <a:schemeClr val="tx1"/>
              </a:solidFill>
              <a:uFill>
                <a:noFill/>
              </a:uFill>
              <a:latin typeface="+mn-lt"/>
            </a:rPr>
            <a:t>Нотариус обязан вскрыть конверт с завещанием не позднее чем через 15 дней со дня представления свидетельства о смерти завещателя. </a:t>
          </a:r>
          <a:endParaRPr lang="ru-RU" sz="800" b="1" dirty="0">
            <a:solidFill>
              <a:schemeClr val="tx1"/>
            </a:solidFill>
            <a:uFill>
              <a:noFill/>
            </a:uFill>
            <a:latin typeface="+mn-lt"/>
          </a:endParaRPr>
        </a:p>
      </dgm:t>
    </dgm:pt>
    <dgm:pt modelId="{299E0B4A-8F36-4A40-A96B-0E3A07DE3806}" type="parTrans" cxnId="{AE2DB877-6418-439E-8818-7118B2847010}">
      <dgm:prSet/>
      <dgm:spPr/>
      <dgm:t>
        <a:bodyPr/>
        <a:lstStyle/>
        <a:p>
          <a:endParaRPr lang="ru-RU" sz="800"/>
        </a:p>
      </dgm:t>
    </dgm:pt>
    <dgm:pt modelId="{CCF5B11F-5CF6-4052-A2F4-79AB84FF43DE}" type="sibTrans" cxnId="{AE2DB877-6418-439E-8818-7118B2847010}">
      <dgm:prSet/>
      <dgm:spPr/>
      <dgm:t>
        <a:bodyPr/>
        <a:lstStyle/>
        <a:p>
          <a:endParaRPr lang="ru-RU" sz="800"/>
        </a:p>
      </dgm:t>
    </dgm:pt>
    <dgm:pt modelId="{832511AA-B710-4B94-AA4A-95E5BBA4672B}">
      <dgm:prSet custT="1"/>
      <dgm:spPr/>
      <dgm:t>
        <a:bodyPr/>
        <a:lstStyle/>
        <a:p>
          <a:r>
            <a:rPr lang="ru-RU" sz="800" b="1" dirty="0" smtClean="0">
              <a:solidFill>
                <a:schemeClr val="tx1"/>
              </a:solidFill>
              <a:uFill>
                <a:noFill/>
              </a:uFill>
              <a:latin typeface="+mn-lt"/>
            </a:rPr>
            <a:t>После оглашения завещания нотариус составляет протокол, удостоверяющий факт вскрытия и оглашения завещания и содержащий полный текст завещания</a:t>
          </a:r>
          <a:endParaRPr lang="ru-RU" sz="800" b="1" dirty="0">
            <a:solidFill>
              <a:schemeClr val="tx1"/>
            </a:solidFill>
            <a:uFill>
              <a:noFill/>
            </a:uFill>
            <a:latin typeface="+mn-lt"/>
          </a:endParaRPr>
        </a:p>
      </dgm:t>
    </dgm:pt>
    <dgm:pt modelId="{EB6398FE-9D04-4DCF-BC98-F937D7C71C83}" type="parTrans" cxnId="{95103C20-3D69-4637-9438-4F720D71FD67}">
      <dgm:prSet/>
      <dgm:spPr/>
      <dgm:t>
        <a:bodyPr/>
        <a:lstStyle/>
        <a:p>
          <a:endParaRPr lang="ru-RU" sz="800"/>
        </a:p>
      </dgm:t>
    </dgm:pt>
    <dgm:pt modelId="{2E5A6F88-B265-4677-8A3C-2A2D345D8099}" type="sibTrans" cxnId="{95103C20-3D69-4637-9438-4F720D71FD67}">
      <dgm:prSet/>
      <dgm:spPr/>
      <dgm:t>
        <a:bodyPr/>
        <a:lstStyle/>
        <a:p>
          <a:endParaRPr lang="ru-RU" sz="800"/>
        </a:p>
      </dgm:t>
    </dgm:pt>
    <dgm:pt modelId="{5BEB6DBC-DC0C-4452-8CB3-1098B47A2480}" type="pres">
      <dgm:prSet presAssocID="{149D2F69-3E42-4F91-8D60-DAA5810B772F}" presName="Name0" presStyleCnt="0">
        <dgm:presLayoutVars>
          <dgm:chMax val="1"/>
          <dgm:dir/>
          <dgm:animLvl val="ctr"/>
          <dgm:resizeHandles val="exact"/>
        </dgm:presLayoutVars>
      </dgm:prSet>
      <dgm:spPr/>
      <dgm:t>
        <a:bodyPr/>
        <a:lstStyle/>
        <a:p>
          <a:endParaRPr lang="ru-RU"/>
        </a:p>
      </dgm:t>
    </dgm:pt>
    <dgm:pt modelId="{2A12DAC6-35E5-4D94-935D-156271A200E4}" type="pres">
      <dgm:prSet presAssocID="{E2018E3B-C310-4C3C-9B2E-0780973F43BD}" presName="centerShape" presStyleLbl="node0" presStyleIdx="0" presStyleCnt="1" custScaleX="137876" custScaleY="133855"/>
      <dgm:spPr/>
      <dgm:t>
        <a:bodyPr/>
        <a:lstStyle/>
        <a:p>
          <a:endParaRPr lang="ru-RU"/>
        </a:p>
      </dgm:t>
    </dgm:pt>
    <dgm:pt modelId="{57BEA373-836D-4162-89C5-3174913C952D}" type="pres">
      <dgm:prSet presAssocID="{585F188E-AD4B-48E3-A88D-5D54335171C7}" presName="node" presStyleLbl="node1" presStyleIdx="0" presStyleCnt="7" custScaleX="150237" custScaleY="142078">
        <dgm:presLayoutVars>
          <dgm:bulletEnabled val="1"/>
        </dgm:presLayoutVars>
      </dgm:prSet>
      <dgm:spPr/>
      <dgm:t>
        <a:bodyPr/>
        <a:lstStyle/>
        <a:p>
          <a:endParaRPr lang="ru-RU"/>
        </a:p>
      </dgm:t>
    </dgm:pt>
    <dgm:pt modelId="{CFE8A8E2-0F98-44D1-B722-54351FCAD55F}" type="pres">
      <dgm:prSet presAssocID="{585F188E-AD4B-48E3-A88D-5D54335171C7}" presName="dummy" presStyleCnt="0"/>
      <dgm:spPr/>
    </dgm:pt>
    <dgm:pt modelId="{D61F2FCD-B682-4C1B-BA96-8732A548DB79}" type="pres">
      <dgm:prSet presAssocID="{8A2A6599-D211-4039-A681-45879EA05E32}" presName="sibTrans" presStyleLbl="sibTrans2D1" presStyleIdx="0" presStyleCnt="7"/>
      <dgm:spPr/>
      <dgm:t>
        <a:bodyPr/>
        <a:lstStyle/>
        <a:p>
          <a:endParaRPr lang="ru-RU"/>
        </a:p>
      </dgm:t>
    </dgm:pt>
    <dgm:pt modelId="{6BFCA508-3470-4B03-8D03-58429B49317F}" type="pres">
      <dgm:prSet presAssocID="{51FDC6D1-0A3B-409E-823F-DCEBB123441B}" presName="node" presStyleLbl="node1" presStyleIdx="1" presStyleCnt="7" custScaleX="160436" custScaleY="153403">
        <dgm:presLayoutVars>
          <dgm:bulletEnabled val="1"/>
        </dgm:presLayoutVars>
      </dgm:prSet>
      <dgm:spPr/>
      <dgm:t>
        <a:bodyPr/>
        <a:lstStyle/>
        <a:p>
          <a:endParaRPr lang="ru-RU"/>
        </a:p>
      </dgm:t>
    </dgm:pt>
    <dgm:pt modelId="{E683B27D-8C7F-4E79-8B9C-5ACA3CDF8B6A}" type="pres">
      <dgm:prSet presAssocID="{51FDC6D1-0A3B-409E-823F-DCEBB123441B}" presName="dummy" presStyleCnt="0"/>
      <dgm:spPr/>
    </dgm:pt>
    <dgm:pt modelId="{2CA0520B-7424-4964-854E-AA548111717F}" type="pres">
      <dgm:prSet presAssocID="{BDAF6B8A-2D81-4836-B5F3-DA2FF7403EE3}" presName="sibTrans" presStyleLbl="sibTrans2D1" presStyleIdx="1" presStyleCnt="7"/>
      <dgm:spPr/>
      <dgm:t>
        <a:bodyPr/>
        <a:lstStyle/>
        <a:p>
          <a:endParaRPr lang="ru-RU"/>
        </a:p>
      </dgm:t>
    </dgm:pt>
    <dgm:pt modelId="{91DA82CC-B478-4EC5-989A-06785C5FCDCE}" type="pres">
      <dgm:prSet presAssocID="{D0098CD8-225A-491A-9F6A-F21B6A09C618}" presName="node" presStyleLbl="node1" presStyleIdx="2" presStyleCnt="7" custScaleX="159981" custScaleY="162939">
        <dgm:presLayoutVars>
          <dgm:bulletEnabled val="1"/>
        </dgm:presLayoutVars>
      </dgm:prSet>
      <dgm:spPr/>
      <dgm:t>
        <a:bodyPr/>
        <a:lstStyle/>
        <a:p>
          <a:endParaRPr lang="ru-RU"/>
        </a:p>
      </dgm:t>
    </dgm:pt>
    <dgm:pt modelId="{CDE7135D-8978-456A-8BA5-84C6768B753E}" type="pres">
      <dgm:prSet presAssocID="{D0098CD8-225A-491A-9F6A-F21B6A09C618}" presName="dummy" presStyleCnt="0"/>
      <dgm:spPr/>
    </dgm:pt>
    <dgm:pt modelId="{8FF8F898-C7A8-4D7D-AC14-85A40EA9EE5B}" type="pres">
      <dgm:prSet presAssocID="{CCF5B11F-5CF6-4052-A2F4-79AB84FF43DE}" presName="sibTrans" presStyleLbl="sibTrans2D1" presStyleIdx="2" presStyleCnt="7"/>
      <dgm:spPr/>
      <dgm:t>
        <a:bodyPr/>
        <a:lstStyle/>
        <a:p>
          <a:endParaRPr lang="ru-RU"/>
        </a:p>
      </dgm:t>
    </dgm:pt>
    <dgm:pt modelId="{348C5C36-E9F6-419A-B9D9-83BC8615B85E}" type="pres">
      <dgm:prSet presAssocID="{832511AA-B710-4B94-AA4A-95E5BBA4672B}" presName="node" presStyleLbl="node1" presStyleIdx="3" presStyleCnt="7" custScaleX="165265" custScaleY="159677">
        <dgm:presLayoutVars>
          <dgm:bulletEnabled val="1"/>
        </dgm:presLayoutVars>
      </dgm:prSet>
      <dgm:spPr/>
      <dgm:t>
        <a:bodyPr/>
        <a:lstStyle/>
        <a:p>
          <a:endParaRPr lang="ru-RU"/>
        </a:p>
      </dgm:t>
    </dgm:pt>
    <dgm:pt modelId="{CAB75267-7A7B-4AA2-9C95-3CC37F9757FD}" type="pres">
      <dgm:prSet presAssocID="{832511AA-B710-4B94-AA4A-95E5BBA4672B}" presName="dummy" presStyleCnt="0"/>
      <dgm:spPr/>
    </dgm:pt>
    <dgm:pt modelId="{F31CB62D-9462-4E8B-A6EE-AAE4CC04BA05}" type="pres">
      <dgm:prSet presAssocID="{2E5A6F88-B265-4677-8A3C-2A2D345D8099}" presName="sibTrans" presStyleLbl="sibTrans2D1" presStyleIdx="3" presStyleCnt="7"/>
      <dgm:spPr/>
      <dgm:t>
        <a:bodyPr/>
        <a:lstStyle/>
        <a:p>
          <a:endParaRPr lang="ru-RU"/>
        </a:p>
      </dgm:t>
    </dgm:pt>
    <dgm:pt modelId="{2F925526-4CED-4B9D-B645-9301DCD91B53}" type="pres">
      <dgm:prSet presAssocID="{93498BF6-4752-4447-AF8F-DA5C2B9A8E38}" presName="node" presStyleLbl="node1" presStyleIdx="4" presStyleCnt="7" custScaleX="151949" custScaleY="156002">
        <dgm:presLayoutVars>
          <dgm:bulletEnabled val="1"/>
        </dgm:presLayoutVars>
      </dgm:prSet>
      <dgm:spPr/>
      <dgm:t>
        <a:bodyPr/>
        <a:lstStyle/>
        <a:p>
          <a:endParaRPr lang="ru-RU"/>
        </a:p>
      </dgm:t>
    </dgm:pt>
    <dgm:pt modelId="{E60FF805-FD1C-4566-A9CF-6BC12F1D6100}" type="pres">
      <dgm:prSet presAssocID="{93498BF6-4752-4447-AF8F-DA5C2B9A8E38}" presName="dummy" presStyleCnt="0"/>
      <dgm:spPr/>
    </dgm:pt>
    <dgm:pt modelId="{A367459D-6966-454C-B8CC-09B7D6467452}" type="pres">
      <dgm:prSet presAssocID="{39E4C5F0-4974-4684-9D35-D165A7B6E31A}" presName="sibTrans" presStyleLbl="sibTrans2D1" presStyleIdx="4" presStyleCnt="7"/>
      <dgm:spPr/>
      <dgm:t>
        <a:bodyPr/>
        <a:lstStyle/>
        <a:p>
          <a:endParaRPr lang="ru-RU"/>
        </a:p>
      </dgm:t>
    </dgm:pt>
    <dgm:pt modelId="{161291B6-FFEE-4365-9999-1ED8FDFB7DEF}" type="pres">
      <dgm:prSet presAssocID="{7F5DD4A9-191D-47CA-8CBA-7A576D344542}" presName="node" presStyleLbl="node1" presStyleIdx="5" presStyleCnt="7" custScaleX="157501" custScaleY="146441">
        <dgm:presLayoutVars>
          <dgm:bulletEnabled val="1"/>
        </dgm:presLayoutVars>
      </dgm:prSet>
      <dgm:spPr/>
      <dgm:t>
        <a:bodyPr/>
        <a:lstStyle/>
        <a:p>
          <a:endParaRPr lang="ru-RU"/>
        </a:p>
      </dgm:t>
    </dgm:pt>
    <dgm:pt modelId="{91A97D11-283D-448D-A7D3-8D8F7B0CF348}" type="pres">
      <dgm:prSet presAssocID="{7F5DD4A9-191D-47CA-8CBA-7A576D344542}" presName="dummy" presStyleCnt="0"/>
      <dgm:spPr/>
    </dgm:pt>
    <dgm:pt modelId="{5ED6A531-FF8B-44CD-BC9C-ADC51E7FE0AC}" type="pres">
      <dgm:prSet presAssocID="{DB8447CE-566F-4F4E-878B-C04C5B63F99D}" presName="sibTrans" presStyleLbl="sibTrans2D1" presStyleIdx="5" presStyleCnt="7"/>
      <dgm:spPr/>
      <dgm:t>
        <a:bodyPr/>
        <a:lstStyle/>
        <a:p>
          <a:endParaRPr lang="ru-RU"/>
        </a:p>
      </dgm:t>
    </dgm:pt>
    <dgm:pt modelId="{2CB30D07-2251-4DBA-A79A-A1B3346AD722}" type="pres">
      <dgm:prSet presAssocID="{A6835AAB-C513-4D27-B59C-9D7776117F75}" presName="node" presStyleLbl="node1" presStyleIdx="6" presStyleCnt="7" custScaleX="156853" custScaleY="150276">
        <dgm:presLayoutVars>
          <dgm:bulletEnabled val="1"/>
        </dgm:presLayoutVars>
      </dgm:prSet>
      <dgm:spPr/>
      <dgm:t>
        <a:bodyPr/>
        <a:lstStyle/>
        <a:p>
          <a:endParaRPr lang="ru-RU"/>
        </a:p>
      </dgm:t>
    </dgm:pt>
    <dgm:pt modelId="{2A79D60E-D811-47E3-AB44-BA2E7EB444B1}" type="pres">
      <dgm:prSet presAssocID="{A6835AAB-C513-4D27-B59C-9D7776117F75}" presName="dummy" presStyleCnt="0"/>
      <dgm:spPr/>
    </dgm:pt>
    <dgm:pt modelId="{B3386AC4-2CAB-4EBC-A375-056599F76DB4}" type="pres">
      <dgm:prSet presAssocID="{F5C34BA2-2B88-4736-8098-E29F5ACF292D}" presName="sibTrans" presStyleLbl="sibTrans2D1" presStyleIdx="6" presStyleCnt="7"/>
      <dgm:spPr/>
      <dgm:t>
        <a:bodyPr/>
        <a:lstStyle/>
        <a:p>
          <a:endParaRPr lang="ru-RU"/>
        </a:p>
      </dgm:t>
    </dgm:pt>
  </dgm:ptLst>
  <dgm:cxnLst>
    <dgm:cxn modelId="{7960F591-A29D-4C6C-8EA4-1C0AB08160B5}" srcId="{E2018E3B-C310-4C3C-9B2E-0780973F43BD}" destId="{7F5DD4A9-191D-47CA-8CBA-7A576D344542}" srcOrd="5" destOrd="0" parTransId="{E5CC2931-A9BF-40FC-99BA-D23471C39814}" sibTransId="{DB8447CE-566F-4F4E-878B-C04C5B63F99D}"/>
    <dgm:cxn modelId="{38D3862B-4CDC-4E66-9B61-7724E2227641}" srcId="{149D2F69-3E42-4F91-8D60-DAA5810B772F}" destId="{E2018E3B-C310-4C3C-9B2E-0780973F43BD}" srcOrd="0" destOrd="0" parTransId="{5E9EFFAE-9634-49D9-8B5E-05B0A2A7E90A}" sibTransId="{49EA9D64-64C3-452A-9D9F-17929DD38251}"/>
    <dgm:cxn modelId="{A2027702-E4E1-4FCB-805D-6C280040CE34}" type="presOf" srcId="{DB8447CE-566F-4F4E-878B-C04C5B63F99D}" destId="{5ED6A531-FF8B-44CD-BC9C-ADC51E7FE0AC}" srcOrd="0" destOrd="0" presId="urn:microsoft.com/office/officeart/2005/8/layout/radial6"/>
    <dgm:cxn modelId="{B8F9DC51-77FA-4AA3-8BCA-E1A0BCE8EFBF}" type="presOf" srcId="{D0098CD8-225A-491A-9F6A-F21B6A09C618}" destId="{91DA82CC-B478-4EC5-989A-06785C5FCDCE}" srcOrd="0" destOrd="0" presId="urn:microsoft.com/office/officeart/2005/8/layout/radial6"/>
    <dgm:cxn modelId="{630C5C90-80DC-435D-9D80-4D96559EE215}" srcId="{E2018E3B-C310-4C3C-9B2E-0780973F43BD}" destId="{A6835AAB-C513-4D27-B59C-9D7776117F75}" srcOrd="6" destOrd="0" parTransId="{ADAA517D-107C-4BA1-9F05-14D3B763D537}" sibTransId="{F5C34BA2-2B88-4736-8098-E29F5ACF292D}"/>
    <dgm:cxn modelId="{F24B874F-A9BF-4BF6-86C8-8A5CB3D46F77}" type="presOf" srcId="{A6835AAB-C513-4D27-B59C-9D7776117F75}" destId="{2CB30D07-2251-4DBA-A79A-A1B3346AD722}" srcOrd="0" destOrd="0" presId="urn:microsoft.com/office/officeart/2005/8/layout/radial6"/>
    <dgm:cxn modelId="{238C94BC-EDF7-4478-9034-67AEA0F68D7F}" type="presOf" srcId="{39E4C5F0-4974-4684-9D35-D165A7B6E31A}" destId="{A367459D-6966-454C-B8CC-09B7D6467452}" srcOrd="0" destOrd="0" presId="urn:microsoft.com/office/officeart/2005/8/layout/radial6"/>
    <dgm:cxn modelId="{95103C20-3D69-4637-9438-4F720D71FD67}" srcId="{E2018E3B-C310-4C3C-9B2E-0780973F43BD}" destId="{832511AA-B710-4B94-AA4A-95E5BBA4672B}" srcOrd="3" destOrd="0" parTransId="{EB6398FE-9D04-4DCF-BC98-F937D7C71C83}" sibTransId="{2E5A6F88-B265-4677-8A3C-2A2D345D8099}"/>
    <dgm:cxn modelId="{AE2DB877-6418-439E-8818-7118B2847010}" srcId="{E2018E3B-C310-4C3C-9B2E-0780973F43BD}" destId="{D0098CD8-225A-491A-9F6A-F21B6A09C618}" srcOrd="2" destOrd="0" parTransId="{299E0B4A-8F36-4A40-A96B-0E3A07DE3806}" sibTransId="{CCF5B11F-5CF6-4052-A2F4-79AB84FF43DE}"/>
    <dgm:cxn modelId="{D51AA5DF-7BF5-4A47-A49E-2FA69EB43643}" type="presOf" srcId="{E2018E3B-C310-4C3C-9B2E-0780973F43BD}" destId="{2A12DAC6-35E5-4D94-935D-156271A200E4}" srcOrd="0" destOrd="0" presId="urn:microsoft.com/office/officeart/2005/8/layout/radial6"/>
    <dgm:cxn modelId="{619268CE-88ED-4857-B203-CD32DEF6B609}" type="presOf" srcId="{51FDC6D1-0A3B-409E-823F-DCEBB123441B}" destId="{6BFCA508-3470-4B03-8D03-58429B49317F}" srcOrd="0" destOrd="0" presId="urn:microsoft.com/office/officeart/2005/8/layout/radial6"/>
    <dgm:cxn modelId="{0F3BA285-2BF4-46B3-ADA8-4A695964852F}" type="presOf" srcId="{CCF5B11F-5CF6-4052-A2F4-79AB84FF43DE}" destId="{8FF8F898-C7A8-4D7D-AC14-85A40EA9EE5B}" srcOrd="0" destOrd="0" presId="urn:microsoft.com/office/officeart/2005/8/layout/radial6"/>
    <dgm:cxn modelId="{8B4EDABB-5607-4177-B42B-6BBDA76177B2}" srcId="{E2018E3B-C310-4C3C-9B2E-0780973F43BD}" destId="{585F188E-AD4B-48E3-A88D-5D54335171C7}" srcOrd="0" destOrd="0" parTransId="{97A8C124-1C67-4528-9FD7-0254FDE56128}" sibTransId="{8A2A6599-D211-4039-A681-45879EA05E32}"/>
    <dgm:cxn modelId="{2A9BC430-B6E9-4021-8F04-0657B2FA8ADF}" type="presOf" srcId="{93498BF6-4752-4447-AF8F-DA5C2B9A8E38}" destId="{2F925526-4CED-4B9D-B645-9301DCD91B53}" srcOrd="0" destOrd="0" presId="urn:microsoft.com/office/officeart/2005/8/layout/radial6"/>
    <dgm:cxn modelId="{E9FA5D5B-FA62-4BF8-94CD-49371D71A085}" srcId="{E2018E3B-C310-4C3C-9B2E-0780973F43BD}" destId="{51FDC6D1-0A3B-409E-823F-DCEBB123441B}" srcOrd="1" destOrd="0" parTransId="{44DBC847-17A7-48ED-A887-58D2E85B89AE}" sibTransId="{BDAF6B8A-2D81-4836-B5F3-DA2FF7403EE3}"/>
    <dgm:cxn modelId="{A8C25611-7CDC-41D6-9294-8D2C5138107F}" type="presOf" srcId="{2E5A6F88-B265-4677-8A3C-2A2D345D8099}" destId="{F31CB62D-9462-4E8B-A6EE-AAE4CC04BA05}" srcOrd="0" destOrd="0" presId="urn:microsoft.com/office/officeart/2005/8/layout/radial6"/>
    <dgm:cxn modelId="{8F774CE7-3125-45E9-BF1D-92F8DBD1A0E5}" type="presOf" srcId="{BDAF6B8A-2D81-4836-B5F3-DA2FF7403EE3}" destId="{2CA0520B-7424-4964-854E-AA548111717F}" srcOrd="0" destOrd="0" presId="urn:microsoft.com/office/officeart/2005/8/layout/radial6"/>
    <dgm:cxn modelId="{D1C0F3E4-1CA6-465D-A08C-05B613D0AA8C}" type="presOf" srcId="{832511AA-B710-4B94-AA4A-95E5BBA4672B}" destId="{348C5C36-E9F6-419A-B9D9-83BC8615B85E}" srcOrd="0" destOrd="0" presId="urn:microsoft.com/office/officeart/2005/8/layout/radial6"/>
    <dgm:cxn modelId="{B55ECCF8-9C4C-45A7-9ACB-3441E06810FB}" type="presOf" srcId="{149D2F69-3E42-4F91-8D60-DAA5810B772F}" destId="{5BEB6DBC-DC0C-4452-8CB3-1098B47A2480}" srcOrd="0" destOrd="0" presId="urn:microsoft.com/office/officeart/2005/8/layout/radial6"/>
    <dgm:cxn modelId="{312ED322-A7FE-4A0A-82B3-59DA0FFD48EB}" type="presOf" srcId="{8A2A6599-D211-4039-A681-45879EA05E32}" destId="{D61F2FCD-B682-4C1B-BA96-8732A548DB79}" srcOrd="0" destOrd="0" presId="urn:microsoft.com/office/officeart/2005/8/layout/radial6"/>
    <dgm:cxn modelId="{7C7CB264-FA62-48CE-88DF-A55CCF47CFB3}" type="presOf" srcId="{585F188E-AD4B-48E3-A88D-5D54335171C7}" destId="{57BEA373-836D-4162-89C5-3174913C952D}" srcOrd="0" destOrd="0" presId="urn:microsoft.com/office/officeart/2005/8/layout/radial6"/>
    <dgm:cxn modelId="{3442EF94-A918-4145-B7E8-4CFB0EE9D764}" srcId="{E2018E3B-C310-4C3C-9B2E-0780973F43BD}" destId="{93498BF6-4752-4447-AF8F-DA5C2B9A8E38}" srcOrd="4" destOrd="0" parTransId="{CFD631CF-A1A4-4AC6-8201-05A1DE586CE3}" sibTransId="{39E4C5F0-4974-4684-9D35-D165A7B6E31A}"/>
    <dgm:cxn modelId="{0945F9AB-853C-4FD7-A185-3146181DD972}" type="presOf" srcId="{7F5DD4A9-191D-47CA-8CBA-7A576D344542}" destId="{161291B6-FFEE-4365-9999-1ED8FDFB7DEF}" srcOrd="0" destOrd="0" presId="urn:microsoft.com/office/officeart/2005/8/layout/radial6"/>
    <dgm:cxn modelId="{C06D323E-7156-40B6-9265-5F34BE146DC4}" type="presOf" srcId="{F5C34BA2-2B88-4736-8098-E29F5ACF292D}" destId="{B3386AC4-2CAB-4EBC-A375-056599F76DB4}" srcOrd="0" destOrd="0" presId="urn:microsoft.com/office/officeart/2005/8/layout/radial6"/>
    <dgm:cxn modelId="{C9A65D31-0E80-470A-8F92-8BF11C027E24}" type="presParOf" srcId="{5BEB6DBC-DC0C-4452-8CB3-1098B47A2480}" destId="{2A12DAC6-35E5-4D94-935D-156271A200E4}" srcOrd="0" destOrd="0" presId="urn:microsoft.com/office/officeart/2005/8/layout/radial6"/>
    <dgm:cxn modelId="{EEFB2BF0-8DA6-4632-9D87-AC7F37176E61}" type="presParOf" srcId="{5BEB6DBC-DC0C-4452-8CB3-1098B47A2480}" destId="{57BEA373-836D-4162-89C5-3174913C952D}" srcOrd="1" destOrd="0" presId="urn:microsoft.com/office/officeart/2005/8/layout/radial6"/>
    <dgm:cxn modelId="{FD468B32-D573-4E5B-B54A-D3E6F8B5294B}" type="presParOf" srcId="{5BEB6DBC-DC0C-4452-8CB3-1098B47A2480}" destId="{CFE8A8E2-0F98-44D1-B722-54351FCAD55F}" srcOrd="2" destOrd="0" presId="urn:microsoft.com/office/officeart/2005/8/layout/radial6"/>
    <dgm:cxn modelId="{EC8FFD2E-B7CF-4DE6-8AF8-46A7EC9BB6F3}" type="presParOf" srcId="{5BEB6DBC-DC0C-4452-8CB3-1098B47A2480}" destId="{D61F2FCD-B682-4C1B-BA96-8732A548DB79}" srcOrd="3" destOrd="0" presId="urn:microsoft.com/office/officeart/2005/8/layout/radial6"/>
    <dgm:cxn modelId="{35A34F10-E2D3-4787-BBB0-F71EDB82FAA3}" type="presParOf" srcId="{5BEB6DBC-DC0C-4452-8CB3-1098B47A2480}" destId="{6BFCA508-3470-4B03-8D03-58429B49317F}" srcOrd="4" destOrd="0" presId="urn:microsoft.com/office/officeart/2005/8/layout/radial6"/>
    <dgm:cxn modelId="{6AEFFACD-A488-4785-8A63-0BFB12219BCA}" type="presParOf" srcId="{5BEB6DBC-DC0C-4452-8CB3-1098B47A2480}" destId="{E683B27D-8C7F-4E79-8B9C-5ACA3CDF8B6A}" srcOrd="5" destOrd="0" presId="urn:microsoft.com/office/officeart/2005/8/layout/radial6"/>
    <dgm:cxn modelId="{B2569A10-6253-4155-8D4A-C72C1FA28005}" type="presParOf" srcId="{5BEB6DBC-DC0C-4452-8CB3-1098B47A2480}" destId="{2CA0520B-7424-4964-854E-AA548111717F}" srcOrd="6" destOrd="0" presId="urn:microsoft.com/office/officeart/2005/8/layout/radial6"/>
    <dgm:cxn modelId="{6B202C07-0A9E-4E10-9BBB-53B4E471C1BA}" type="presParOf" srcId="{5BEB6DBC-DC0C-4452-8CB3-1098B47A2480}" destId="{91DA82CC-B478-4EC5-989A-06785C5FCDCE}" srcOrd="7" destOrd="0" presId="urn:microsoft.com/office/officeart/2005/8/layout/radial6"/>
    <dgm:cxn modelId="{F50BE738-5DFD-4999-8609-67DC28B54DDE}" type="presParOf" srcId="{5BEB6DBC-DC0C-4452-8CB3-1098B47A2480}" destId="{CDE7135D-8978-456A-8BA5-84C6768B753E}" srcOrd="8" destOrd="0" presId="urn:microsoft.com/office/officeart/2005/8/layout/radial6"/>
    <dgm:cxn modelId="{F154781D-CBDB-44EE-8F7F-FDDBEB25B5FE}" type="presParOf" srcId="{5BEB6DBC-DC0C-4452-8CB3-1098B47A2480}" destId="{8FF8F898-C7A8-4D7D-AC14-85A40EA9EE5B}" srcOrd="9" destOrd="0" presId="urn:microsoft.com/office/officeart/2005/8/layout/radial6"/>
    <dgm:cxn modelId="{31E0386C-0A2D-43E4-9827-7D70D86FFAAA}" type="presParOf" srcId="{5BEB6DBC-DC0C-4452-8CB3-1098B47A2480}" destId="{348C5C36-E9F6-419A-B9D9-83BC8615B85E}" srcOrd="10" destOrd="0" presId="urn:microsoft.com/office/officeart/2005/8/layout/radial6"/>
    <dgm:cxn modelId="{696D913C-021A-4E30-9A08-AF6A928C2584}" type="presParOf" srcId="{5BEB6DBC-DC0C-4452-8CB3-1098B47A2480}" destId="{CAB75267-7A7B-4AA2-9C95-3CC37F9757FD}" srcOrd="11" destOrd="0" presId="urn:microsoft.com/office/officeart/2005/8/layout/radial6"/>
    <dgm:cxn modelId="{ECD5E30B-469B-4819-9124-7403C52A06DA}" type="presParOf" srcId="{5BEB6DBC-DC0C-4452-8CB3-1098B47A2480}" destId="{F31CB62D-9462-4E8B-A6EE-AAE4CC04BA05}" srcOrd="12" destOrd="0" presId="urn:microsoft.com/office/officeart/2005/8/layout/radial6"/>
    <dgm:cxn modelId="{DAB16843-93D0-4977-80B2-3DCC1DDFD439}" type="presParOf" srcId="{5BEB6DBC-DC0C-4452-8CB3-1098B47A2480}" destId="{2F925526-4CED-4B9D-B645-9301DCD91B53}" srcOrd="13" destOrd="0" presId="urn:microsoft.com/office/officeart/2005/8/layout/radial6"/>
    <dgm:cxn modelId="{A528C7F2-1834-428F-AC23-4487F8B4D8C8}" type="presParOf" srcId="{5BEB6DBC-DC0C-4452-8CB3-1098B47A2480}" destId="{E60FF805-FD1C-4566-A9CF-6BC12F1D6100}" srcOrd="14" destOrd="0" presId="urn:microsoft.com/office/officeart/2005/8/layout/radial6"/>
    <dgm:cxn modelId="{A14C9AD1-1B10-48C6-9EC5-49A298647B82}" type="presParOf" srcId="{5BEB6DBC-DC0C-4452-8CB3-1098B47A2480}" destId="{A367459D-6966-454C-B8CC-09B7D6467452}" srcOrd="15" destOrd="0" presId="urn:microsoft.com/office/officeart/2005/8/layout/radial6"/>
    <dgm:cxn modelId="{49D779BA-F56A-4AC5-8054-7F4B9D879BB4}" type="presParOf" srcId="{5BEB6DBC-DC0C-4452-8CB3-1098B47A2480}" destId="{161291B6-FFEE-4365-9999-1ED8FDFB7DEF}" srcOrd="16" destOrd="0" presId="urn:microsoft.com/office/officeart/2005/8/layout/radial6"/>
    <dgm:cxn modelId="{A68175D5-2B7F-4D45-9669-0CCC751A79A2}" type="presParOf" srcId="{5BEB6DBC-DC0C-4452-8CB3-1098B47A2480}" destId="{91A97D11-283D-448D-A7D3-8D8F7B0CF348}" srcOrd="17" destOrd="0" presId="urn:microsoft.com/office/officeart/2005/8/layout/radial6"/>
    <dgm:cxn modelId="{BDFF856E-8B6D-4A97-BA8E-56B6EDB52903}" type="presParOf" srcId="{5BEB6DBC-DC0C-4452-8CB3-1098B47A2480}" destId="{5ED6A531-FF8B-44CD-BC9C-ADC51E7FE0AC}" srcOrd="18" destOrd="0" presId="urn:microsoft.com/office/officeart/2005/8/layout/radial6"/>
    <dgm:cxn modelId="{084B311D-9469-422A-B619-F01E575FF777}" type="presParOf" srcId="{5BEB6DBC-DC0C-4452-8CB3-1098B47A2480}" destId="{2CB30D07-2251-4DBA-A79A-A1B3346AD722}" srcOrd="19" destOrd="0" presId="urn:microsoft.com/office/officeart/2005/8/layout/radial6"/>
    <dgm:cxn modelId="{4C812D7E-9097-46FC-B8A4-256B97871575}" type="presParOf" srcId="{5BEB6DBC-DC0C-4452-8CB3-1098B47A2480}" destId="{2A79D60E-D811-47E3-AB44-BA2E7EB444B1}" srcOrd="20" destOrd="0" presId="urn:microsoft.com/office/officeart/2005/8/layout/radial6"/>
    <dgm:cxn modelId="{EA41FE3C-147D-4842-9637-611B02E127A5}" type="presParOf" srcId="{5BEB6DBC-DC0C-4452-8CB3-1098B47A2480}" destId="{B3386AC4-2CAB-4EBC-A375-056599F76DB4}" srcOrd="21"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386AC4-2CAB-4EBC-A375-056599F76DB4}">
      <dsp:nvSpPr>
        <dsp:cNvPr id="0" name=""/>
        <dsp:cNvSpPr/>
      </dsp:nvSpPr>
      <dsp:spPr>
        <a:xfrm>
          <a:off x="1354330" y="423463"/>
          <a:ext cx="3698966" cy="3698966"/>
        </a:xfrm>
        <a:prstGeom prst="blockArc">
          <a:avLst>
            <a:gd name="adj1" fmla="val 13114286"/>
            <a:gd name="adj2" fmla="val 16200000"/>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ED6A531-FF8B-44CD-BC9C-ADC51E7FE0AC}">
      <dsp:nvSpPr>
        <dsp:cNvPr id="0" name=""/>
        <dsp:cNvSpPr/>
      </dsp:nvSpPr>
      <dsp:spPr>
        <a:xfrm>
          <a:off x="1354330" y="423463"/>
          <a:ext cx="3698966" cy="3698966"/>
        </a:xfrm>
        <a:prstGeom prst="blockArc">
          <a:avLst>
            <a:gd name="adj1" fmla="val 10028571"/>
            <a:gd name="adj2" fmla="val 13114286"/>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67459D-6966-454C-B8CC-09B7D6467452}">
      <dsp:nvSpPr>
        <dsp:cNvPr id="0" name=""/>
        <dsp:cNvSpPr/>
      </dsp:nvSpPr>
      <dsp:spPr>
        <a:xfrm>
          <a:off x="1354330" y="423463"/>
          <a:ext cx="3698966" cy="3698966"/>
        </a:xfrm>
        <a:prstGeom prst="blockArc">
          <a:avLst>
            <a:gd name="adj1" fmla="val 6942857"/>
            <a:gd name="adj2" fmla="val 10028571"/>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1CB62D-9462-4E8B-A6EE-AAE4CC04BA05}">
      <dsp:nvSpPr>
        <dsp:cNvPr id="0" name=""/>
        <dsp:cNvSpPr/>
      </dsp:nvSpPr>
      <dsp:spPr>
        <a:xfrm>
          <a:off x="1354330" y="423463"/>
          <a:ext cx="3698966" cy="3698966"/>
        </a:xfrm>
        <a:prstGeom prst="blockArc">
          <a:avLst>
            <a:gd name="adj1" fmla="val 3857143"/>
            <a:gd name="adj2" fmla="val 6942857"/>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F8F898-C7A8-4D7D-AC14-85A40EA9EE5B}">
      <dsp:nvSpPr>
        <dsp:cNvPr id="0" name=""/>
        <dsp:cNvSpPr/>
      </dsp:nvSpPr>
      <dsp:spPr>
        <a:xfrm>
          <a:off x="1354330" y="423463"/>
          <a:ext cx="3698966" cy="3698966"/>
        </a:xfrm>
        <a:prstGeom prst="blockArc">
          <a:avLst>
            <a:gd name="adj1" fmla="val 771429"/>
            <a:gd name="adj2" fmla="val 3857143"/>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CA0520B-7424-4964-854E-AA548111717F}">
      <dsp:nvSpPr>
        <dsp:cNvPr id="0" name=""/>
        <dsp:cNvSpPr/>
      </dsp:nvSpPr>
      <dsp:spPr>
        <a:xfrm>
          <a:off x="1354330" y="423463"/>
          <a:ext cx="3698966" cy="3698966"/>
        </a:xfrm>
        <a:prstGeom prst="blockArc">
          <a:avLst>
            <a:gd name="adj1" fmla="val 19285714"/>
            <a:gd name="adj2" fmla="val 771429"/>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61F2FCD-B682-4C1B-BA96-8732A548DB79}">
      <dsp:nvSpPr>
        <dsp:cNvPr id="0" name=""/>
        <dsp:cNvSpPr/>
      </dsp:nvSpPr>
      <dsp:spPr>
        <a:xfrm>
          <a:off x="1354330" y="423463"/>
          <a:ext cx="3698966" cy="3698966"/>
        </a:xfrm>
        <a:prstGeom prst="blockArc">
          <a:avLst>
            <a:gd name="adj1" fmla="val 16200000"/>
            <a:gd name="adj2" fmla="val 19285714"/>
            <a:gd name="adj3" fmla="val 39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12DAC6-35E5-4D94-935D-156271A200E4}">
      <dsp:nvSpPr>
        <dsp:cNvPr id="0" name=""/>
        <dsp:cNvSpPr/>
      </dsp:nvSpPr>
      <dsp:spPr>
        <a:xfrm>
          <a:off x="2217289" y="1315193"/>
          <a:ext cx="1973048" cy="1915507"/>
        </a:xfrm>
        <a:prstGeom prst="ellipse">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ru-RU" sz="1100" b="1" kern="1200" dirty="0" smtClean="0">
              <a:solidFill>
                <a:schemeClr val="tx1"/>
              </a:solidFill>
            </a:rPr>
            <a:t>ЗАКРЫТОЕ ЗАВЕЩАНИЕ - </a:t>
          </a:r>
          <a:r>
            <a:rPr lang="ru-RU" sz="900" b="1" kern="1200" dirty="0" smtClean="0">
              <a:solidFill>
                <a:schemeClr val="tx1"/>
              </a:solidFill>
              <a:uFill>
                <a:noFill/>
              </a:uFill>
              <a:latin typeface="+mn-lt"/>
            </a:rPr>
            <a:t>такое завещание, с содержанием которого никто, включая нотариуса, не может быть ознакомлен до его вскрытия после смерти завещателя.</a:t>
          </a:r>
          <a:r>
            <a:rPr lang="ru-RU" sz="900" b="1" kern="1200" dirty="0" smtClean="0">
              <a:solidFill>
                <a:schemeClr val="tx1"/>
              </a:solidFill>
            </a:rPr>
            <a:t> </a:t>
          </a:r>
          <a:endParaRPr lang="ru-RU" sz="900" kern="1200" dirty="0"/>
        </a:p>
      </dsp:txBody>
      <dsp:txXfrm>
        <a:off x="2506235" y="1595713"/>
        <a:ext cx="1395156" cy="1354467"/>
      </dsp:txXfrm>
    </dsp:sp>
    <dsp:sp modelId="{57BEA373-836D-4162-89C5-3174913C952D}">
      <dsp:nvSpPr>
        <dsp:cNvPr id="0" name=""/>
        <dsp:cNvSpPr/>
      </dsp:nvSpPr>
      <dsp:spPr>
        <a:xfrm>
          <a:off x="2451335" y="-252087"/>
          <a:ext cx="1504957" cy="1423226"/>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ru-RU" sz="800" b="1" kern="1200" dirty="0" smtClean="0">
              <a:solidFill>
                <a:schemeClr val="tx1"/>
              </a:solidFill>
              <a:uFill>
                <a:noFill/>
              </a:uFill>
              <a:latin typeface="+mn-lt"/>
            </a:rPr>
            <a:t>Передается нотариусу лично завещателем в заклеенном конверте</a:t>
          </a:r>
          <a:endParaRPr lang="ru-RU" sz="800" kern="1200" dirty="0"/>
        </a:p>
      </dsp:txBody>
      <dsp:txXfrm>
        <a:off x="2671731" y="-43660"/>
        <a:ext cx="1064165" cy="1006372"/>
      </dsp:txXfrm>
    </dsp:sp>
    <dsp:sp modelId="{6BFCA508-3470-4B03-8D03-58429B49317F}">
      <dsp:nvSpPr>
        <dsp:cNvPr id="0" name=""/>
        <dsp:cNvSpPr/>
      </dsp:nvSpPr>
      <dsp:spPr>
        <a:xfrm>
          <a:off x="3818042" y="373961"/>
          <a:ext cx="1607122" cy="1536671"/>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ru-RU" sz="800" b="1" kern="1200" dirty="0" smtClean="0">
              <a:solidFill>
                <a:schemeClr val="tx1"/>
              </a:solidFill>
              <a:uFill>
                <a:noFill/>
              </a:uFill>
              <a:latin typeface="+mn-lt"/>
            </a:rPr>
            <a:t>Вскрытие конверта с закрытым завещанием происходит в присутствии не менее чем двух свидетелей. </a:t>
          </a:r>
        </a:p>
        <a:p>
          <a:pPr lvl="0" algn="ctr" defTabSz="355600">
            <a:lnSpc>
              <a:spcPct val="90000"/>
            </a:lnSpc>
            <a:spcBef>
              <a:spcPct val="0"/>
            </a:spcBef>
            <a:spcAft>
              <a:spcPct val="35000"/>
            </a:spcAft>
          </a:pPr>
          <a:endParaRPr lang="ru-RU" sz="800" kern="1200" dirty="0"/>
        </a:p>
      </dsp:txBody>
      <dsp:txXfrm>
        <a:off x="4053400" y="599001"/>
        <a:ext cx="1136406" cy="1086591"/>
      </dsp:txXfrm>
    </dsp:sp>
    <dsp:sp modelId="{91DA82CC-B478-4EC5-989A-06785C5FCDCE}">
      <dsp:nvSpPr>
        <dsp:cNvPr id="0" name=""/>
        <dsp:cNvSpPr/>
      </dsp:nvSpPr>
      <dsp:spPr>
        <a:xfrm>
          <a:off x="4170486" y="1860373"/>
          <a:ext cx="1602564" cy="1632195"/>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ru-RU" sz="800" b="1" kern="1200" dirty="0" smtClean="0">
              <a:solidFill>
                <a:schemeClr val="tx1"/>
              </a:solidFill>
              <a:uFill>
                <a:noFill/>
              </a:uFill>
              <a:latin typeface="+mn-lt"/>
            </a:rPr>
            <a:t>Нотариус обязан вскрыть конверт с завещанием не позднее чем через 15 дней со дня представления свидетельства о смерти завещателя. </a:t>
          </a:r>
          <a:endParaRPr lang="ru-RU" sz="800" b="1" kern="1200" dirty="0">
            <a:solidFill>
              <a:schemeClr val="tx1"/>
            </a:solidFill>
            <a:uFill>
              <a:noFill/>
            </a:uFill>
            <a:latin typeface="+mn-lt"/>
          </a:endParaRPr>
        </a:p>
      </dsp:txBody>
      <dsp:txXfrm>
        <a:off x="4405176" y="2099402"/>
        <a:ext cx="1133184" cy="1154137"/>
      </dsp:txXfrm>
    </dsp:sp>
    <dsp:sp modelId="{348C5C36-E9F6-419A-B9D9-83BC8615B85E}">
      <dsp:nvSpPr>
        <dsp:cNvPr id="0" name=""/>
        <dsp:cNvSpPr/>
      </dsp:nvSpPr>
      <dsp:spPr>
        <a:xfrm>
          <a:off x="3162879" y="3107023"/>
          <a:ext cx="1655495" cy="1599519"/>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ru-RU" sz="800" b="1" kern="1200" dirty="0" smtClean="0">
              <a:solidFill>
                <a:schemeClr val="tx1"/>
              </a:solidFill>
              <a:uFill>
                <a:noFill/>
              </a:uFill>
              <a:latin typeface="+mn-lt"/>
            </a:rPr>
            <a:t>После оглашения завещания нотариус составляет протокол, удостоверяющий факт вскрытия и оглашения завещания и содержащий полный текст завещания</a:t>
          </a:r>
          <a:endParaRPr lang="ru-RU" sz="800" b="1" kern="1200" dirty="0">
            <a:solidFill>
              <a:schemeClr val="tx1"/>
            </a:solidFill>
            <a:uFill>
              <a:noFill/>
            </a:uFill>
            <a:latin typeface="+mn-lt"/>
          </a:endParaRPr>
        </a:p>
      </dsp:txBody>
      <dsp:txXfrm>
        <a:off x="3405321" y="3341267"/>
        <a:ext cx="1170611" cy="1131031"/>
      </dsp:txXfrm>
    </dsp:sp>
    <dsp:sp modelId="{2F925526-4CED-4B9D-B645-9301DCD91B53}">
      <dsp:nvSpPr>
        <dsp:cNvPr id="0" name=""/>
        <dsp:cNvSpPr/>
      </dsp:nvSpPr>
      <dsp:spPr>
        <a:xfrm>
          <a:off x="1655946" y="3125429"/>
          <a:ext cx="1522106" cy="1562706"/>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ru-RU" sz="900" b="1" kern="1200" dirty="0" smtClean="0">
              <a:solidFill>
                <a:schemeClr val="tx1"/>
              </a:solidFill>
              <a:uFill>
                <a:noFill/>
              </a:uFill>
              <a:latin typeface="+mn-lt"/>
            </a:rPr>
            <a:t>Конверт с закрытым завещанием может быть вскрыт только после смерти завещателя.</a:t>
          </a:r>
          <a:endParaRPr lang="ru-RU" sz="900" kern="1200" dirty="0"/>
        </a:p>
      </dsp:txBody>
      <dsp:txXfrm>
        <a:off x="1878853" y="3354282"/>
        <a:ext cx="1076292" cy="1105000"/>
      </dsp:txXfrm>
    </dsp:sp>
    <dsp:sp modelId="{161291B6-FFEE-4365-9999-1ED8FDFB7DEF}">
      <dsp:nvSpPr>
        <dsp:cNvPr id="0" name=""/>
        <dsp:cNvSpPr/>
      </dsp:nvSpPr>
      <dsp:spPr>
        <a:xfrm>
          <a:off x="646997" y="1943005"/>
          <a:ext cx="1577722" cy="1466931"/>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ru-RU" sz="800" b="1" kern="1200" dirty="0" smtClean="0">
              <a:solidFill>
                <a:schemeClr val="tx1"/>
              </a:solidFill>
              <a:uFill>
                <a:noFill/>
              </a:uFill>
              <a:latin typeface="+mn-lt"/>
            </a:rPr>
            <a:t>Конверт с закрытым завещанием запечатывается нотариусом в конверт хранения, на котором совершается удостоверительную надпись</a:t>
          </a:r>
          <a:endParaRPr lang="ru-RU" sz="800" b="1" kern="1200" dirty="0"/>
        </a:p>
      </dsp:txBody>
      <dsp:txXfrm>
        <a:off x="878049" y="2157832"/>
        <a:ext cx="1115618" cy="1037277"/>
      </dsp:txXfrm>
    </dsp:sp>
    <dsp:sp modelId="{2CB30D07-2251-4DBA-A79A-A1B3346AD722}">
      <dsp:nvSpPr>
        <dsp:cNvPr id="0" name=""/>
        <dsp:cNvSpPr/>
      </dsp:nvSpPr>
      <dsp:spPr>
        <a:xfrm>
          <a:off x="1000408" y="389623"/>
          <a:ext cx="1571231" cy="1505347"/>
        </a:xfrm>
        <a:prstGeom prst="ellipse">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ru-RU" sz="800" b="1" kern="1200" dirty="0" smtClean="0">
              <a:solidFill>
                <a:schemeClr val="tx1"/>
              </a:solidFill>
              <a:uFill>
                <a:noFill/>
              </a:uFill>
              <a:latin typeface="+mn-lt"/>
            </a:rPr>
            <a:t>Принимается нотариусом от завещателя в обязательном присутствии двух свидетелей</a:t>
          </a:r>
          <a:endParaRPr lang="ru-RU" sz="800" kern="1200" dirty="0"/>
        </a:p>
      </dsp:txBody>
      <dsp:txXfrm>
        <a:off x="1230509" y="610076"/>
        <a:ext cx="1111029" cy="1064441"/>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8458099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gcc7554a049_0_8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2" name="Google Shape;1862;gcc7554a049_0_8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1083f33e91c_2_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1083f33e91c_2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a:endParaRPr/>
          </a:p>
        </p:txBody>
      </p:sp>
      <p:sp>
        <p:nvSpPr>
          <p:cNvPr id="44" name="Google Shape;44;p7"/>
          <p:cNvSpPr txBox="1">
            <a:spLocks noGrp="1"/>
          </p:cNvSpPr>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rtl="0">
              <a:lnSpc>
                <a:spcPct val="166000"/>
              </a:lnSpc>
              <a:spcBef>
                <a:spcPts val="0"/>
              </a:spcBef>
              <a:spcAft>
                <a:spcPts val="0"/>
              </a:spcAft>
              <a:buClr>
                <a:schemeClr val="accent1"/>
              </a:buClr>
              <a:buSzPts val="1400"/>
              <a:buChar char="●"/>
              <a:defRPr sz="1400">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5" name="Google Shape;45;p7"/>
          <p:cNvSpPr txBox="1">
            <a:spLocks noGrp="1"/>
          </p:cNvSpPr>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46" name="Google Shape;46;p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4112973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 id="2147483658" r:id="rId2"/>
    <p:sldLayoutId id="2147483696" r:id="rId3"/>
    <p:sldLayoutId id="2147483697" r:id="rId4"/>
    <p:sldLayoutId id="2147483698" r:id="rId5"/>
    <p:sldLayoutId id="2147483699" r:id="rId6"/>
    <p:sldLayoutId id="214748370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docs.cntd.ru/document/9027690"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duma.gov.ru/news/45224/" TargetMode="External"/><Relationship Id="rId4" Type="http://schemas.openxmlformats.org/officeDocument/2006/relationships/hyperlink" Target="https://naukaru.ru/ru/nauka/article/12474/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5" name="Google Shape;535;p63"/>
          <p:cNvSpPr txBox="1">
            <a:spLocks noGrp="1"/>
          </p:cNvSpPr>
          <p:nvPr>
            <p:ph type="subTitle" idx="1"/>
          </p:nvPr>
        </p:nvSpPr>
        <p:spPr>
          <a:xfrm>
            <a:off x="448424" y="2030931"/>
            <a:ext cx="8411524" cy="681095"/>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p>
            <a:pPr marL="0" lvl="0" indent="0">
              <a:spcAft>
                <a:spcPts val="1200"/>
              </a:spcAft>
            </a:pPr>
            <a:r>
              <a:rPr lang="ru-RU" sz="3200" b="1" dirty="0" smtClean="0"/>
              <a:t>Наследование </a:t>
            </a:r>
            <a:r>
              <a:rPr lang="ru-RU" sz="3200" b="1" dirty="0"/>
              <a:t>по закону </a:t>
            </a:r>
            <a:r>
              <a:rPr lang="ru-RU" sz="3200" b="1" dirty="0" smtClean="0"/>
              <a:t>и по завещанию</a:t>
            </a:r>
            <a:endParaRPr lang="ru-RU" sz="3200" b="1" dirty="0"/>
          </a:p>
        </p:txBody>
      </p:sp>
      <p:sp>
        <p:nvSpPr>
          <p:cNvPr id="6" name="Google Shape;535;p63"/>
          <p:cNvSpPr txBox="1">
            <a:spLocks/>
          </p:cNvSpPr>
          <p:nvPr/>
        </p:nvSpPr>
        <p:spPr>
          <a:xfrm>
            <a:off x="1765898" y="439555"/>
            <a:ext cx="5458200" cy="15913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spcAft>
                <a:spcPts val="600"/>
              </a:spcAft>
            </a:pPr>
            <a:r>
              <a:rPr lang="ru-RU" sz="1200" b="1" dirty="0"/>
              <a:t>МИНИСТЕРСТВО НАУКИ И ВЫСШЕГО ОБРАЗОВАНИЯ </a:t>
            </a:r>
          </a:p>
          <a:p>
            <a:pPr marL="0" indent="0">
              <a:spcAft>
                <a:spcPts val="600"/>
              </a:spcAft>
            </a:pPr>
            <a:r>
              <a:rPr lang="ru-RU" sz="1200" b="1" dirty="0"/>
              <a:t>РОССИЙСКОЙ ФЕДЕРАЦИИ</a:t>
            </a:r>
          </a:p>
          <a:p>
            <a:pPr marL="0" indent="0">
              <a:spcAft>
                <a:spcPts val="1200"/>
              </a:spcAft>
            </a:pPr>
            <a:r>
              <a:rPr lang="ru-RU" sz="1200" b="1" dirty="0"/>
              <a:t>МИРЭА – РОССИЙСКИЙ ТЕХНОЛОГИЧЕСКИЙ УНИВЕРСИТЕТ</a:t>
            </a:r>
          </a:p>
          <a:p>
            <a:pPr marL="0" indent="0">
              <a:spcAft>
                <a:spcPts val="600"/>
              </a:spcAft>
            </a:pPr>
            <a:r>
              <a:rPr lang="ru-RU" sz="1400" b="1" dirty="0" smtClean="0"/>
              <a:t>Кафедра </a:t>
            </a:r>
            <a:r>
              <a:rPr lang="ru-RU" sz="1400" b="1" dirty="0"/>
              <a:t>государственно-правовых дисциплин</a:t>
            </a:r>
          </a:p>
          <a:p>
            <a:pPr marL="0" indent="0">
              <a:spcAft>
                <a:spcPts val="600"/>
              </a:spcAft>
            </a:pPr>
            <a:r>
              <a:rPr lang="ru-RU" sz="1400" b="1" dirty="0" smtClean="0"/>
              <a:t> </a:t>
            </a:r>
            <a:r>
              <a:rPr lang="ru-RU" sz="1400" b="1" dirty="0"/>
              <a:t>Дисциплина: Правоведение</a:t>
            </a:r>
          </a:p>
        </p:txBody>
      </p:sp>
      <p:sp>
        <p:nvSpPr>
          <p:cNvPr id="8" name="Google Shape;388;p29"/>
          <p:cNvSpPr txBox="1">
            <a:spLocks/>
          </p:cNvSpPr>
          <p:nvPr/>
        </p:nvSpPr>
        <p:spPr>
          <a:xfrm>
            <a:off x="6333421" y="3408965"/>
            <a:ext cx="2713369" cy="82630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lgn="l"/>
            <a:r>
              <a:rPr lang="ru-RU" sz="1400" b="1" dirty="0" smtClean="0"/>
              <a:t>Выполнил: студент </a:t>
            </a:r>
          </a:p>
          <a:p>
            <a:pPr marL="0" indent="0" algn="l"/>
            <a:r>
              <a:rPr lang="ru-RU" sz="1400" b="1" dirty="0" smtClean="0"/>
              <a:t>группы ЭФБО-09-23</a:t>
            </a:r>
          </a:p>
          <a:p>
            <a:pPr marL="0" indent="0" algn="l"/>
            <a:r>
              <a:rPr lang="ru-RU" sz="1400" b="1" dirty="0" smtClean="0"/>
              <a:t>Калинин Никита Викторович</a:t>
            </a:r>
            <a:endParaRPr lang="ru-RU" sz="1400" b="1" dirty="0"/>
          </a:p>
        </p:txBody>
      </p:sp>
      <p:pic>
        <p:nvPicPr>
          <p:cNvPr id="1030" name="Picture 6" descr="Порядок получения наследства без завещания, очередность, сроки | Правио  (Prav.i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424" y="3019399"/>
            <a:ext cx="3378833" cy="16054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Google Shape;388;p29"/>
          <p:cNvSpPr txBox="1">
            <a:spLocks/>
          </p:cNvSpPr>
          <p:nvPr/>
        </p:nvSpPr>
        <p:spPr>
          <a:xfrm>
            <a:off x="3827257" y="4418263"/>
            <a:ext cx="2713369" cy="4131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Montserrat"/>
              <a:buNone/>
              <a:defRPr sz="20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marL="0" indent="0"/>
            <a:r>
              <a:rPr lang="ru-RU" sz="1400" b="1" dirty="0" smtClean="0"/>
              <a:t>Москва - 2023</a:t>
            </a:r>
            <a:endParaRPr lang="ru-RU" sz="1400" b="1" dirty="0"/>
          </a:p>
        </p:txBody>
      </p:sp>
    </p:spTree>
    <p:extLst>
      <p:ext uri="{BB962C8B-B14F-4D97-AF65-F5344CB8AC3E}">
        <p14:creationId xmlns:p14="http://schemas.microsoft.com/office/powerpoint/2010/main" val="5858422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3"/>
        <p:cNvGrpSpPr/>
        <p:nvPr/>
      </p:nvGrpSpPr>
      <p:grpSpPr>
        <a:xfrm>
          <a:off x="0" y="0"/>
          <a:ext cx="0" cy="0"/>
          <a:chOff x="0" y="0"/>
          <a:chExt cx="0" cy="0"/>
        </a:xfrm>
      </p:grpSpPr>
      <p:sp>
        <p:nvSpPr>
          <p:cNvPr id="1865" name="Google Shape;1865;p126"/>
          <p:cNvSpPr txBox="1">
            <a:spLocks noGrp="1"/>
          </p:cNvSpPr>
          <p:nvPr>
            <p:ph type="subTitle" idx="2"/>
          </p:nvPr>
        </p:nvSpPr>
        <p:spPr>
          <a:xfrm>
            <a:off x="460375" y="981774"/>
            <a:ext cx="7679823" cy="3811605"/>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p>
            <a:pPr lvl="0" indent="-330200">
              <a:buSzPts val="1600"/>
            </a:pPr>
            <a:r>
              <a:rPr lang="ru-RU" sz="2000" b="1" dirty="0">
                <a:solidFill>
                  <a:schemeClr val="hlink"/>
                </a:solidFill>
                <a:uFill>
                  <a:noFill/>
                </a:uFill>
              </a:rPr>
              <a:t>Введение</a:t>
            </a:r>
          </a:p>
          <a:p>
            <a:pPr indent="-317500"/>
            <a:r>
              <a:rPr lang="ru-RU" sz="2000" b="1" dirty="0">
                <a:solidFill>
                  <a:schemeClr val="bg2"/>
                </a:solidFill>
              </a:rPr>
              <a:t>Основная часть</a:t>
            </a:r>
          </a:p>
          <a:p>
            <a:pPr marL="482600" lvl="0">
              <a:buFont typeface="+mj-lt"/>
              <a:buAutoNum type="arabicPeriod"/>
            </a:pPr>
            <a:r>
              <a:rPr lang="ru-RU" sz="2000" b="1" dirty="0">
                <a:solidFill>
                  <a:schemeClr val="tx1"/>
                </a:solidFill>
              </a:rPr>
              <a:t>Наследование по </a:t>
            </a:r>
            <a:r>
              <a:rPr lang="ru-RU" sz="2000" b="1" dirty="0" smtClean="0">
                <a:solidFill>
                  <a:schemeClr val="tx1"/>
                </a:solidFill>
              </a:rPr>
              <a:t>закону</a:t>
            </a:r>
          </a:p>
          <a:p>
            <a:pPr marL="482600" lvl="0">
              <a:buFont typeface="+mj-lt"/>
              <a:buAutoNum type="arabicPeriod"/>
            </a:pPr>
            <a:r>
              <a:rPr lang="ru-RU" sz="2000" b="1" dirty="0">
                <a:solidFill>
                  <a:schemeClr val="tx1"/>
                </a:solidFill>
              </a:rPr>
              <a:t>Наследование по </a:t>
            </a:r>
            <a:r>
              <a:rPr lang="ru-RU" sz="2000" b="1" dirty="0" smtClean="0">
                <a:solidFill>
                  <a:schemeClr val="tx1"/>
                </a:solidFill>
              </a:rPr>
              <a:t>завещанию</a:t>
            </a:r>
          </a:p>
          <a:p>
            <a:pPr marL="482600" lvl="0">
              <a:lnSpc>
                <a:spcPct val="100000"/>
              </a:lnSpc>
              <a:buFont typeface="+mj-lt"/>
              <a:buAutoNum type="arabicPeriod"/>
            </a:pPr>
            <a:r>
              <a:rPr lang="ru-RU" sz="2000" b="1" dirty="0" smtClean="0">
                <a:solidFill>
                  <a:schemeClr val="tx1"/>
                </a:solidFill>
              </a:rPr>
              <a:t>Сравнительная характеристика</a:t>
            </a:r>
          </a:p>
          <a:p>
            <a:pPr marL="468000" lvl="0" indent="0">
              <a:lnSpc>
                <a:spcPct val="100000"/>
              </a:lnSpc>
              <a:buNone/>
            </a:pPr>
            <a:r>
              <a:rPr lang="ru-RU" sz="2000" b="1" dirty="0" smtClean="0">
                <a:solidFill>
                  <a:schemeClr val="tx1"/>
                </a:solidFill>
              </a:rPr>
              <a:t>способов наследования</a:t>
            </a:r>
          </a:p>
          <a:p>
            <a:pPr lvl="0" indent="-317500"/>
            <a:r>
              <a:rPr lang="ru-RU" sz="2000" b="1" dirty="0" smtClean="0">
                <a:solidFill>
                  <a:schemeClr val="hlink"/>
                </a:solidFill>
                <a:uFill>
                  <a:noFill/>
                </a:uFill>
              </a:rPr>
              <a:t>Заключение</a:t>
            </a:r>
          </a:p>
          <a:p>
            <a:pPr lvl="0" indent="-317500"/>
            <a:r>
              <a:rPr lang="ru-RU" sz="2000" b="1" dirty="0" smtClean="0">
                <a:solidFill>
                  <a:schemeClr val="hlink"/>
                </a:solidFill>
                <a:uFill>
                  <a:noFill/>
                </a:uFill>
              </a:rPr>
              <a:t>Библиографический список</a:t>
            </a:r>
          </a:p>
          <a:p>
            <a:pPr marL="139700" lvl="0" indent="0">
              <a:buNone/>
            </a:pPr>
            <a:endParaRPr lang="ru-RU" sz="1800" b="1" dirty="0">
              <a:solidFill>
                <a:schemeClr val="hlink"/>
              </a:solidFill>
              <a:uFill>
                <a:noFill/>
              </a:uFill>
            </a:endParaRPr>
          </a:p>
        </p:txBody>
      </p:sp>
      <p:sp>
        <p:nvSpPr>
          <p:cNvPr id="1866" name="Google Shape;1866;p126"/>
          <p:cNvSpPr txBox="1">
            <a:spLocks noGrp="1"/>
          </p:cNvSpPr>
          <p:nvPr>
            <p:ph type="title"/>
          </p:nvPr>
        </p:nvSpPr>
        <p:spPr>
          <a:xfrm>
            <a:off x="460375" y="377648"/>
            <a:ext cx="7663375"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p>
            <a:pPr lvl="0" algn="ctr"/>
            <a:r>
              <a:rPr lang="ru-RU" sz="2800" b="1" dirty="0"/>
              <a:t>Оглавление</a:t>
            </a:r>
            <a:endParaRPr sz="2800" b="1" dirty="0"/>
          </a:p>
        </p:txBody>
      </p:sp>
      <p:sp>
        <p:nvSpPr>
          <p:cNvPr id="3" name="AutoShape 2" descr="Внезапное наследство"/>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pSp>
        <p:nvGrpSpPr>
          <p:cNvPr id="7" name="Группа 6"/>
          <p:cNvGrpSpPr/>
          <p:nvPr/>
        </p:nvGrpSpPr>
        <p:grpSpPr>
          <a:xfrm>
            <a:off x="8123750" y="281175"/>
            <a:ext cx="1003801" cy="336960"/>
            <a:chOff x="0" y="0"/>
            <a:chExt cx="1003801" cy="336960"/>
          </a:xfrm>
        </p:grpSpPr>
        <p:sp>
          <p:nvSpPr>
            <p:cNvPr id="8" name="Скругленный прямоугольник 7"/>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9"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grpSp>
        <p:nvGrpSpPr>
          <p:cNvPr id="10" name="Google Shape;5100;p62"/>
          <p:cNvGrpSpPr/>
          <p:nvPr/>
        </p:nvGrpSpPr>
        <p:grpSpPr>
          <a:xfrm>
            <a:off x="6345225" y="3328242"/>
            <a:ext cx="1633193" cy="1218138"/>
            <a:chOff x="-42994575" y="3950300"/>
            <a:chExt cx="319025" cy="317450"/>
          </a:xfrm>
          <a:solidFill>
            <a:schemeClr val="accent6">
              <a:lumMod val="60000"/>
              <a:lumOff val="40000"/>
            </a:schemeClr>
          </a:solidFill>
        </p:grpSpPr>
        <p:sp>
          <p:nvSpPr>
            <p:cNvPr id="11" name="Google Shape;5101;p62"/>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02;p62"/>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103;p62"/>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842220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130"/>
          <p:cNvSpPr txBox="1">
            <a:spLocks noGrp="1"/>
          </p:cNvSpPr>
          <p:nvPr>
            <p:ph type="subTitle" idx="1"/>
          </p:nvPr>
        </p:nvSpPr>
        <p:spPr>
          <a:xfrm>
            <a:off x="288758" y="981777"/>
            <a:ext cx="8636982" cy="1951656"/>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900" b="1" dirty="0"/>
              <a:t>В российской правовой системе наследование является важным институтом, регулируемым гражданским законодательством. </a:t>
            </a:r>
            <a:r>
              <a:rPr lang="ru-RU" sz="1900" b="1" dirty="0" smtClean="0"/>
              <a:t>Понимание </a:t>
            </a:r>
            <a:r>
              <a:rPr lang="ru-RU" sz="1900" b="1" dirty="0"/>
              <a:t>особенностей наследственного права важны для обеспечения бесконфликтного и справедливого перехода имущества от поколения к поколению.</a:t>
            </a:r>
            <a:endParaRPr lang="ru-RU" sz="1900" b="1" dirty="0" smtClean="0"/>
          </a:p>
          <a:p>
            <a:pPr marL="0" lvl="0" indent="0" algn="just"/>
            <a:r>
              <a:rPr lang="ru-RU" sz="1900" b="1" dirty="0" smtClean="0"/>
              <a:t>Процесс </a:t>
            </a:r>
            <a:r>
              <a:rPr lang="ru-RU" sz="1900" b="1" dirty="0"/>
              <a:t>передачи имущества умершего физического лица наследникам может осуществляться </a:t>
            </a:r>
            <a:r>
              <a:rPr lang="ru-RU" sz="1900" b="1" u="sng" dirty="0"/>
              <a:t>двумя основными способами</a:t>
            </a:r>
            <a:r>
              <a:rPr lang="ru-RU" sz="1900" b="1" dirty="0"/>
              <a:t>: по </a:t>
            </a:r>
            <a:r>
              <a:rPr lang="ru-RU" sz="1900" b="1" dirty="0" smtClean="0"/>
              <a:t>закону или </a:t>
            </a:r>
            <a:r>
              <a:rPr lang="ru-RU" sz="1900" b="1" dirty="0"/>
              <a:t>по </a:t>
            </a:r>
            <a:r>
              <a:rPr lang="ru-RU" sz="1900" b="1" dirty="0" smtClean="0"/>
              <a:t>завещанию.</a:t>
            </a:r>
            <a:endParaRPr sz="1900" b="1" dirty="0"/>
          </a:p>
        </p:txBody>
      </p:sp>
      <p:sp>
        <p:nvSpPr>
          <p:cNvPr id="5" name="Google Shape;1866;p126"/>
          <p:cNvSpPr txBox="1">
            <a:spLocks/>
          </p:cNvSpPr>
          <p:nvPr/>
        </p:nvSpPr>
        <p:spPr>
          <a:xfrm>
            <a:off x="288759" y="314714"/>
            <a:ext cx="8604984"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800" b="1" dirty="0" smtClean="0"/>
              <a:t>Введение</a:t>
            </a:r>
            <a:endParaRPr lang="ru-RU" sz="2800" b="1" dirty="0"/>
          </a:p>
        </p:txBody>
      </p:sp>
      <p:pic>
        <p:nvPicPr>
          <p:cNvPr id="8" name="Picture 4" descr="Внезапное наследство"/>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59" y="2979022"/>
            <a:ext cx="3157086" cy="1790023"/>
          </a:xfrm>
          <a:prstGeom prst="rect">
            <a:avLst/>
          </a:prstGeom>
          <a:ln w="3175">
            <a:solidFill>
              <a:schemeClr val="tx1"/>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1" name="Google Shape;1892;p130"/>
          <p:cNvSpPr txBox="1">
            <a:spLocks noGrp="1"/>
          </p:cNvSpPr>
          <p:nvPr>
            <p:ph type="subTitle" idx="1"/>
          </p:nvPr>
        </p:nvSpPr>
        <p:spPr>
          <a:xfrm>
            <a:off x="4591251" y="3108104"/>
            <a:ext cx="4050848" cy="357000"/>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ctr"/>
            <a:r>
              <a:rPr lang="ru-RU" sz="2200" b="1" dirty="0"/>
              <a:t>наследование по закону</a:t>
            </a:r>
            <a:endParaRPr sz="2200" b="1" dirty="0"/>
          </a:p>
        </p:txBody>
      </p:sp>
      <p:sp>
        <p:nvSpPr>
          <p:cNvPr id="12" name="Google Shape;1892;p130"/>
          <p:cNvSpPr txBox="1">
            <a:spLocks noGrp="1"/>
          </p:cNvSpPr>
          <p:nvPr>
            <p:ph type="subTitle" idx="1"/>
          </p:nvPr>
        </p:nvSpPr>
        <p:spPr>
          <a:xfrm>
            <a:off x="4686116" y="4025333"/>
            <a:ext cx="3955983" cy="357000"/>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ctr"/>
            <a:r>
              <a:rPr lang="ru-RU" sz="2200" b="1" dirty="0"/>
              <a:t>наследование </a:t>
            </a:r>
            <a:r>
              <a:rPr lang="ru-RU" sz="2200" b="1" dirty="0" smtClean="0"/>
              <a:t>по завещанию</a:t>
            </a:r>
            <a:endParaRPr sz="2200" b="1" dirty="0"/>
          </a:p>
        </p:txBody>
      </p:sp>
      <p:cxnSp>
        <p:nvCxnSpPr>
          <p:cNvPr id="9" name="Прямая со стрелкой 8"/>
          <p:cNvCxnSpPr/>
          <p:nvPr/>
        </p:nvCxnSpPr>
        <p:spPr>
          <a:xfrm flipV="1">
            <a:off x="3445844" y="3349595"/>
            <a:ext cx="1078030" cy="144380"/>
          </a:xfrm>
          <a:prstGeom prst="straightConnector1">
            <a:avLst/>
          </a:prstGeom>
          <a:ln w="31750">
            <a:tailEnd type="arrow"/>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p:nvPr/>
        </p:nvCxnSpPr>
        <p:spPr>
          <a:xfrm>
            <a:off x="3445844" y="4145280"/>
            <a:ext cx="1145407" cy="58553"/>
          </a:xfrm>
          <a:prstGeom prst="straightConnector1">
            <a:avLst/>
          </a:prstGeom>
          <a:ln w="31750">
            <a:tailEnd type="arrow"/>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grpSp>
        <p:nvGrpSpPr>
          <p:cNvPr id="21" name="Группа 20"/>
          <p:cNvGrpSpPr/>
          <p:nvPr/>
        </p:nvGrpSpPr>
        <p:grpSpPr>
          <a:xfrm>
            <a:off x="8140199" y="336518"/>
            <a:ext cx="1003801" cy="336960"/>
            <a:chOff x="0" y="0"/>
            <a:chExt cx="1003801" cy="336960"/>
          </a:xfrm>
        </p:grpSpPr>
        <p:sp>
          <p:nvSpPr>
            <p:cNvPr id="22" name="Скругленный прямоугольник 21"/>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23"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3567514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130"/>
          <p:cNvSpPr txBox="1">
            <a:spLocks noGrp="1"/>
          </p:cNvSpPr>
          <p:nvPr>
            <p:ph type="subTitle" idx="1"/>
          </p:nvPr>
        </p:nvSpPr>
        <p:spPr>
          <a:xfrm>
            <a:off x="1925053" y="924025"/>
            <a:ext cx="6971810" cy="3686476"/>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endParaRPr lang="ru-RU" sz="1900" b="1" dirty="0" smtClean="0"/>
          </a:p>
          <a:p>
            <a:pPr marL="0" lvl="0" indent="0" algn="just"/>
            <a:r>
              <a:rPr lang="ru-RU" sz="1900" b="1" dirty="0" smtClean="0"/>
              <a:t>В </a:t>
            </a:r>
            <a:r>
              <a:rPr lang="ru-RU" sz="1900" b="1" dirty="0"/>
              <a:t>настоящее время в России все заметнее становится тенденция </a:t>
            </a:r>
            <a:r>
              <a:rPr lang="ru-RU" sz="1900" b="1" u="sng" dirty="0"/>
              <a:t>возрастания роли завещания</a:t>
            </a:r>
            <a:r>
              <a:rPr lang="ru-RU" sz="1900" b="1" dirty="0"/>
              <a:t> при определении дальнейшей судьбы наследства после смерти ее собственника. </a:t>
            </a:r>
          </a:p>
          <a:p>
            <a:pPr marL="0" lvl="0" indent="0" algn="just"/>
            <a:endParaRPr lang="ru-RU" sz="1900" b="1" dirty="0"/>
          </a:p>
          <a:p>
            <a:pPr marL="0" lvl="0" indent="0" algn="just"/>
            <a:r>
              <a:rPr lang="ru-RU" sz="1900" b="1" dirty="0"/>
              <a:t>Если раньше первостепенное место отводилось </a:t>
            </a:r>
            <a:r>
              <a:rPr lang="ru-RU" sz="1900" b="1" dirty="0">
                <a:solidFill>
                  <a:srgbClr val="7030A0"/>
                </a:solidFill>
              </a:rPr>
              <a:t>наследованию по закону</a:t>
            </a:r>
            <a:r>
              <a:rPr lang="ru-RU" sz="1900" b="1" dirty="0"/>
              <a:t>, а </a:t>
            </a:r>
            <a:r>
              <a:rPr lang="ru-RU" sz="1900" b="1" dirty="0">
                <a:solidFill>
                  <a:srgbClr val="7030A0"/>
                </a:solidFill>
              </a:rPr>
              <a:t>наследование по завещанию </a:t>
            </a:r>
            <a:r>
              <a:rPr lang="ru-RU" sz="1900" b="1" dirty="0"/>
              <a:t>носило второстепенный характер, теперь законодатель изменил структуру раздела, счел актуальным придать большее значение предоставлению возможности гражданину распорядиться правом частной собственности на случай своей смерти. </a:t>
            </a:r>
            <a:endParaRPr lang="ru-RU" sz="1900" b="1" dirty="0" smtClean="0"/>
          </a:p>
          <a:p>
            <a:pPr marL="0" lvl="0" indent="0" algn="just"/>
            <a:endParaRPr sz="1900" b="1" dirty="0"/>
          </a:p>
        </p:txBody>
      </p:sp>
      <p:sp>
        <p:nvSpPr>
          <p:cNvPr id="5" name="Google Shape;1866;p126"/>
          <p:cNvSpPr txBox="1">
            <a:spLocks/>
          </p:cNvSpPr>
          <p:nvPr/>
        </p:nvSpPr>
        <p:spPr>
          <a:xfrm>
            <a:off x="1925053" y="292994"/>
            <a:ext cx="6949440" cy="479000"/>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400" b="1" dirty="0" smtClean="0"/>
              <a:t>Актуальность </a:t>
            </a:r>
            <a:endParaRPr lang="ru-RU" sz="2400" b="1" dirty="0"/>
          </a:p>
        </p:txBody>
      </p:sp>
      <p:grpSp>
        <p:nvGrpSpPr>
          <p:cNvPr id="13" name="Группа 12"/>
          <p:cNvGrpSpPr/>
          <p:nvPr/>
        </p:nvGrpSpPr>
        <p:grpSpPr>
          <a:xfrm>
            <a:off x="8140199" y="276545"/>
            <a:ext cx="1003801" cy="336960"/>
            <a:chOff x="0" y="0"/>
            <a:chExt cx="1003801" cy="336960"/>
          </a:xfrm>
        </p:grpSpPr>
        <p:sp>
          <p:nvSpPr>
            <p:cNvPr id="14" name="Скругленный прямоугольник 13"/>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6"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4</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pic>
        <p:nvPicPr>
          <p:cNvPr id="18" name="Picture 2" descr="Книга: &quot;Гражданский кодекс Российской Федерации. Текст с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42" y="1610408"/>
            <a:ext cx="1629484" cy="2378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874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336883" y="476625"/>
            <a:ext cx="8444047"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800" b="1" dirty="0" smtClean="0"/>
              <a:t>1. Наследование </a:t>
            </a:r>
            <a:r>
              <a:rPr lang="ru-RU" sz="2800" b="1" dirty="0"/>
              <a:t>по закону</a:t>
            </a:r>
          </a:p>
        </p:txBody>
      </p:sp>
      <p:sp>
        <p:nvSpPr>
          <p:cNvPr id="9" name="Google Shape;1892;p130"/>
          <p:cNvSpPr txBox="1">
            <a:spLocks noGrp="1"/>
          </p:cNvSpPr>
          <p:nvPr>
            <p:ph type="subTitle" idx="1"/>
          </p:nvPr>
        </p:nvSpPr>
        <p:spPr>
          <a:xfrm>
            <a:off x="317633" y="1085383"/>
            <a:ext cx="8431731" cy="1311308"/>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800" b="1" dirty="0"/>
              <a:t>Правила наследования по закону определены в Гражданском кодексе Российской Федерации. </a:t>
            </a:r>
            <a:endParaRPr lang="ru-RU" sz="1800" b="1" dirty="0" smtClean="0"/>
          </a:p>
          <a:p>
            <a:pPr marL="0" lvl="0" indent="0" algn="just"/>
            <a:r>
              <a:rPr lang="ru-RU" sz="1800" b="1" dirty="0" smtClean="0"/>
              <a:t>В </a:t>
            </a:r>
            <a:r>
              <a:rPr lang="ru-RU" sz="1800" b="1" dirty="0"/>
              <a:t>случае отсутствия завещания умершего, наследство распределяется среди его наследников в соответствии с законом.</a:t>
            </a:r>
            <a:endParaRPr sz="1800" b="1" dirty="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5</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
        <p:nvSpPr>
          <p:cNvPr id="6" name="Прямоугольник 5"/>
          <p:cNvSpPr/>
          <p:nvPr/>
        </p:nvSpPr>
        <p:spPr>
          <a:xfrm>
            <a:off x="346508" y="2558958"/>
            <a:ext cx="6189046" cy="206210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ru-RU" sz="1600" b="1" dirty="0">
                <a:solidFill>
                  <a:srgbClr val="002060"/>
                </a:solidFill>
              </a:rPr>
              <a:t>При </a:t>
            </a:r>
            <a:r>
              <a:rPr lang="ru-RU" sz="1600" b="1" u="sng" dirty="0">
                <a:solidFill>
                  <a:srgbClr val="002060"/>
                </a:solidFill>
              </a:rPr>
              <a:t>наследовании по закону</a:t>
            </a:r>
            <a:r>
              <a:rPr lang="ru-RU" sz="1600" b="1" dirty="0">
                <a:solidFill>
                  <a:srgbClr val="002060"/>
                </a:solidFill>
              </a:rPr>
              <a:t> необходимо </a:t>
            </a:r>
            <a:r>
              <a:rPr lang="ru-RU" sz="1600" b="1" u="sng" dirty="0">
                <a:solidFill>
                  <a:srgbClr val="002060"/>
                </a:solidFill>
              </a:rPr>
              <a:t>наличие таких юридических фактов </a:t>
            </a:r>
            <a:r>
              <a:rPr lang="ru-RU" sz="1600" b="1" dirty="0">
                <a:solidFill>
                  <a:srgbClr val="002060"/>
                </a:solidFill>
              </a:rPr>
              <a:t>как:</a:t>
            </a:r>
          </a:p>
          <a:p>
            <a:pPr marL="285750" indent="-285750">
              <a:buFont typeface="Wingdings" panose="05000000000000000000" pitchFamily="2" charset="2"/>
              <a:buChar char="§"/>
            </a:pPr>
            <a:r>
              <a:rPr lang="ru-RU" sz="1600" b="1" dirty="0">
                <a:solidFill>
                  <a:srgbClr val="002060"/>
                </a:solidFill>
              </a:rPr>
              <a:t>смерть наследодателя; </a:t>
            </a:r>
          </a:p>
          <a:p>
            <a:pPr marL="285750" indent="-285750">
              <a:buFont typeface="Wingdings" panose="05000000000000000000" pitchFamily="2" charset="2"/>
              <a:buChar char="§"/>
            </a:pPr>
            <a:r>
              <a:rPr lang="ru-RU" sz="1600" b="1" dirty="0">
                <a:solidFill>
                  <a:srgbClr val="002060"/>
                </a:solidFill>
              </a:rPr>
              <a:t>наличие определенного </a:t>
            </a:r>
            <a:r>
              <a:rPr lang="ru-RU" sz="1600" b="1" dirty="0" smtClean="0">
                <a:solidFill>
                  <a:srgbClr val="002060"/>
                </a:solidFill>
              </a:rPr>
              <a:t>положения </a:t>
            </a:r>
            <a:r>
              <a:rPr lang="ru-RU" sz="1600" b="1" dirty="0">
                <a:solidFill>
                  <a:srgbClr val="002060"/>
                </a:solidFill>
              </a:rPr>
              <a:t>у наследников (родство, супружество и т.д.); </a:t>
            </a:r>
          </a:p>
          <a:p>
            <a:pPr marL="285750" indent="-285750">
              <a:buFont typeface="Wingdings" panose="05000000000000000000" pitchFamily="2" charset="2"/>
              <a:buChar char="§"/>
            </a:pPr>
            <a:r>
              <a:rPr lang="ru-RU" sz="1600" b="1" dirty="0">
                <a:solidFill>
                  <a:srgbClr val="002060"/>
                </a:solidFill>
              </a:rPr>
              <a:t>относительность степени родства наследника к определенной очереди наследников, призываемых к принятию наследства. </a:t>
            </a:r>
          </a:p>
        </p:txBody>
      </p:sp>
      <p:pic>
        <p:nvPicPr>
          <p:cNvPr id="14" name="Picture 6" descr="j04317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8827" y="2558957"/>
            <a:ext cx="2062103" cy="2062103"/>
          </a:xfrm>
          <a:prstGeom prst="rect">
            <a:avLst/>
          </a:prstGeom>
          <a:ln w="9525">
            <a:solidFill>
              <a:srgbClr val="000000"/>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62698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375385" y="471706"/>
            <a:ext cx="8383604" cy="738884"/>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000" b="1" dirty="0"/>
              <a:t>ОЧЕРЕДНОСТЬ ПРИЗВАНИЯ </a:t>
            </a:r>
            <a:r>
              <a:rPr lang="ru-RU" sz="2000" b="1" dirty="0" smtClean="0"/>
              <a:t>НАСЛЕДНИКОВ</a:t>
            </a:r>
          </a:p>
          <a:p>
            <a:pPr algn="ctr"/>
            <a:r>
              <a:rPr lang="ru-RU" sz="2000" b="1" dirty="0" smtClean="0"/>
              <a:t>К </a:t>
            </a:r>
            <a:r>
              <a:rPr lang="ru-RU" sz="2000" b="1" dirty="0"/>
              <a:t>НАСЛЕДОВАНИЮ ПО </a:t>
            </a:r>
            <a:r>
              <a:rPr lang="ru-RU" sz="2000" b="1" dirty="0" smtClean="0"/>
              <a:t>ЗАКОНУ (1)</a:t>
            </a:r>
            <a:endParaRPr lang="ru-RU" sz="2000" b="1" dirty="0"/>
          </a:p>
        </p:txBody>
      </p:sp>
      <p:sp>
        <p:nvSpPr>
          <p:cNvPr id="9" name="Google Shape;1892;p130"/>
          <p:cNvSpPr txBox="1">
            <a:spLocks noGrp="1"/>
          </p:cNvSpPr>
          <p:nvPr>
            <p:ph type="subTitle" idx="1"/>
          </p:nvPr>
        </p:nvSpPr>
        <p:spPr>
          <a:xfrm>
            <a:off x="375385" y="1210590"/>
            <a:ext cx="8431730" cy="3532472"/>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800" b="1" dirty="0" smtClean="0"/>
              <a:t>В </a:t>
            </a:r>
            <a:r>
              <a:rPr lang="ru-RU" sz="1800" b="1" dirty="0"/>
              <a:t>случае отсутствия завещания умершего, наследство распределяется среди его наследников в соответствии с законом</a:t>
            </a:r>
            <a:r>
              <a:rPr lang="ru-RU" sz="1800" b="1" dirty="0" smtClean="0"/>
              <a:t>.</a:t>
            </a:r>
          </a:p>
          <a:p>
            <a:pPr marL="0" lvl="0" indent="0" algn="just"/>
            <a:r>
              <a:rPr lang="ru-RU" sz="1800" b="1" dirty="0" smtClean="0">
                <a:solidFill>
                  <a:srgbClr val="7030A0"/>
                </a:solidFill>
              </a:rPr>
              <a:t>1-ая очередь:</a:t>
            </a:r>
            <a:endParaRPr lang="ru-RU" sz="1800" b="1" dirty="0">
              <a:solidFill>
                <a:srgbClr val="7030A0"/>
              </a:solidFill>
            </a:endParaRPr>
          </a:p>
          <a:p>
            <a:pPr marL="285750" lvl="0" indent="-285750" algn="just">
              <a:buFont typeface="Arial" panose="020B0604020202020204" pitchFamily="34" charset="0"/>
              <a:buChar char="•"/>
            </a:pPr>
            <a:r>
              <a:rPr lang="ru-RU" sz="1800" b="1" dirty="0"/>
              <a:t>Дети, супруг, родители наследодателя;</a:t>
            </a:r>
          </a:p>
          <a:p>
            <a:pPr marL="285750" lvl="0" indent="-285750" algn="just">
              <a:buFont typeface="Arial" panose="020B0604020202020204" pitchFamily="34" charset="0"/>
              <a:buChar char="•"/>
            </a:pPr>
            <a:r>
              <a:rPr lang="ru-RU" sz="1800" b="1" dirty="0"/>
              <a:t>Внуки наследодателя и их потомки – по праву </a:t>
            </a:r>
            <a:r>
              <a:rPr lang="ru-RU" sz="1800" b="1" dirty="0" smtClean="0"/>
              <a:t>представления.</a:t>
            </a:r>
          </a:p>
          <a:p>
            <a:pPr marL="0" lvl="0" indent="0" algn="just"/>
            <a:r>
              <a:rPr lang="ru-RU" sz="1800" b="1" dirty="0" smtClean="0">
                <a:solidFill>
                  <a:srgbClr val="7030A0"/>
                </a:solidFill>
              </a:rPr>
              <a:t>2-ая </a:t>
            </a:r>
            <a:r>
              <a:rPr lang="ru-RU" sz="1800" b="1" dirty="0">
                <a:solidFill>
                  <a:srgbClr val="7030A0"/>
                </a:solidFill>
              </a:rPr>
              <a:t>очередь:</a:t>
            </a:r>
          </a:p>
          <a:p>
            <a:pPr marL="285750" lvl="0" indent="-285750" algn="just">
              <a:buFont typeface="Arial" panose="020B0604020202020204" pitchFamily="34" charset="0"/>
              <a:buChar char="•"/>
            </a:pPr>
            <a:r>
              <a:rPr lang="ru-RU" sz="1800" b="1" dirty="0" smtClean="0"/>
              <a:t>Полнородные </a:t>
            </a:r>
            <a:r>
              <a:rPr lang="ru-RU" sz="1800" b="1" dirty="0"/>
              <a:t>и </a:t>
            </a:r>
            <a:r>
              <a:rPr lang="ru-RU" sz="1800" b="1" dirty="0" err="1"/>
              <a:t>неполнородные</a:t>
            </a:r>
            <a:r>
              <a:rPr lang="ru-RU" sz="1800" b="1" dirty="0"/>
              <a:t> братья и сестры наследодателя, его дедушка и бабушка как со стороны отца, так и со стороны матери;</a:t>
            </a:r>
          </a:p>
          <a:p>
            <a:pPr marL="285750" lvl="0" indent="-285750" algn="just">
              <a:buFont typeface="Arial" panose="020B0604020202020204" pitchFamily="34" charset="0"/>
              <a:buChar char="•"/>
            </a:pPr>
            <a:r>
              <a:rPr lang="ru-RU" sz="1800" b="1" dirty="0"/>
              <a:t>Племянники и племянницы наследодателя – по праву </a:t>
            </a:r>
            <a:r>
              <a:rPr lang="ru-RU" sz="1800" b="1" dirty="0" smtClean="0"/>
              <a:t>представления.</a:t>
            </a:r>
          </a:p>
          <a:p>
            <a:pPr marL="0" lvl="0" indent="0" algn="just"/>
            <a:r>
              <a:rPr lang="ru-RU" sz="1800" b="1" dirty="0" smtClean="0">
                <a:solidFill>
                  <a:srgbClr val="7030A0"/>
                </a:solidFill>
              </a:rPr>
              <a:t>3-я </a:t>
            </a:r>
            <a:r>
              <a:rPr lang="ru-RU" sz="1800" b="1" dirty="0">
                <a:solidFill>
                  <a:srgbClr val="7030A0"/>
                </a:solidFill>
              </a:rPr>
              <a:t>очередь:</a:t>
            </a:r>
          </a:p>
          <a:p>
            <a:pPr marL="285750" lvl="0" indent="-285750" algn="just">
              <a:buFont typeface="Arial" panose="020B0604020202020204" pitchFamily="34" charset="0"/>
              <a:buChar char="•"/>
            </a:pPr>
            <a:r>
              <a:rPr lang="ru-RU" sz="1800" b="1" dirty="0" smtClean="0"/>
              <a:t>Дяди </a:t>
            </a:r>
            <a:r>
              <a:rPr lang="ru-RU" sz="1800" b="1" dirty="0"/>
              <a:t>и тети наследодателя;</a:t>
            </a:r>
          </a:p>
          <a:p>
            <a:pPr marL="285750" lvl="0" indent="-285750" algn="just">
              <a:buFont typeface="Arial" panose="020B0604020202020204" pitchFamily="34" charset="0"/>
              <a:buChar char="•"/>
            </a:pPr>
            <a:r>
              <a:rPr lang="ru-RU" sz="1800" b="1" dirty="0"/>
              <a:t>Двоюродные братья и сестры наследодателя – по праву </a:t>
            </a:r>
            <a:r>
              <a:rPr lang="ru-RU" sz="1800" b="1" dirty="0" smtClean="0"/>
              <a:t>представления.</a:t>
            </a:r>
            <a:endParaRPr lang="ru-RU" sz="1800" b="1" dirty="0"/>
          </a:p>
          <a:p>
            <a:pPr marL="0" lvl="0" indent="0" algn="just"/>
            <a:endParaRPr lang="ru-RU" sz="1800" b="1" dirty="0" smtClean="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6</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579683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163629" y="382567"/>
            <a:ext cx="8835992" cy="738884"/>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000" b="1" dirty="0"/>
              <a:t>ОЧЕРЕДНОСТЬ ПРИЗВАНИЯ </a:t>
            </a:r>
            <a:r>
              <a:rPr lang="ru-RU" sz="2000" b="1" dirty="0" smtClean="0"/>
              <a:t>НАСЛЕДНИКОВ</a:t>
            </a:r>
          </a:p>
          <a:p>
            <a:pPr algn="ctr"/>
            <a:r>
              <a:rPr lang="ru-RU" sz="2000" b="1" dirty="0" smtClean="0"/>
              <a:t>К </a:t>
            </a:r>
            <a:r>
              <a:rPr lang="ru-RU" sz="2000" b="1" dirty="0"/>
              <a:t>НАСЛЕДОВАНИЮ ПО </a:t>
            </a:r>
            <a:r>
              <a:rPr lang="ru-RU" sz="2000" b="1" dirty="0" smtClean="0"/>
              <a:t>ЗАКОНУ (2)</a:t>
            </a:r>
            <a:endParaRPr lang="ru-RU" sz="2000" b="1" dirty="0"/>
          </a:p>
        </p:txBody>
      </p:sp>
      <p:sp>
        <p:nvSpPr>
          <p:cNvPr id="9" name="Google Shape;1892;p130"/>
          <p:cNvSpPr txBox="1">
            <a:spLocks noGrp="1"/>
          </p:cNvSpPr>
          <p:nvPr>
            <p:ph type="subTitle" idx="1"/>
          </p:nvPr>
        </p:nvSpPr>
        <p:spPr>
          <a:xfrm>
            <a:off x="144378" y="1212783"/>
            <a:ext cx="8864868" cy="3705729"/>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800" b="1" dirty="0" smtClean="0">
                <a:solidFill>
                  <a:srgbClr val="7030A0"/>
                </a:solidFill>
              </a:rPr>
              <a:t>4-ая очередь:</a:t>
            </a:r>
            <a:endParaRPr lang="ru-RU" sz="1800" b="1" dirty="0">
              <a:solidFill>
                <a:srgbClr val="7030A0"/>
              </a:solidFill>
            </a:endParaRPr>
          </a:p>
          <a:p>
            <a:pPr marL="285750" lvl="0" indent="-285750" algn="just">
              <a:buFont typeface="Arial" panose="020B0604020202020204" pitchFamily="34" charset="0"/>
              <a:buChar char="•"/>
            </a:pPr>
            <a:r>
              <a:rPr lang="ru-RU" sz="1800" b="1" dirty="0"/>
              <a:t>Прадедушка и прабабушка наследодателя;</a:t>
            </a:r>
          </a:p>
          <a:p>
            <a:pPr marL="0" lvl="0" indent="0" algn="just"/>
            <a:r>
              <a:rPr lang="ru-RU" sz="1800" b="1" dirty="0" smtClean="0">
                <a:solidFill>
                  <a:srgbClr val="7030A0"/>
                </a:solidFill>
              </a:rPr>
              <a:t>5-ая </a:t>
            </a:r>
            <a:r>
              <a:rPr lang="ru-RU" sz="1800" b="1" dirty="0">
                <a:solidFill>
                  <a:srgbClr val="7030A0"/>
                </a:solidFill>
              </a:rPr>
              <a:t>очередь:</a:t>
            </a:r>
          </a:p>
          <a:p>
            <a:pPr marL="285750" lvl="0" indent="-285750" algn="just">
              <a:buFont typeface="Arial" panose="020B0604020202020204" pitchFamily="34" charset="0"/>
              <a:buChar char="•"/>
            </a:pPr>
            <a:r>
              <a:rPr lang="ru-RU" sz="1800" b="1" dirty="0"/>
              <a:t>Двоюродные внуки и внучки; двоюродные дедушки и бабушки;</a:t>
            </a:r>
          </a:p>
          <a:p>
            <a:pPr marL="0" lvl="0" indent="0" algn="just"/>
            <a:r>
              <a:rPr lang="ru-RU" sz="1800" b="1" dirty="0" smtClean="0">
                <a:solidFill>
                  <a:srgbClr val="7030A0"/>
                </a:solidFill>
              </a:rPr>
              <a:t>6-я </a:t>
            </a:r>
            <a:r>
              <a:rPr lang="ru-RU" sz="1800" b="1" dirty="0">
                <a:solidFill>
                  <a:srgbClr val="7030A0"/>
                </a:solidFill>
              </a:rPr>
              <a:t>очередь:</a:t>
            </a:r>
          </a:p>
          <a:p>
            <a:pPr marL="285750" lvl="0" indent="-285750" algn="just">
              <a:buFont typeface="Arial" panose="020B0604020202020204" pitchFamily="34" charset="0"/>
              <a:buChar char="•"/>
            </a:pPr>
            <a:r>
              <a:rPr lang="ru-RU" sz="1800" b="1" dirty="0"/>
              <a:t>Двоюродные правнуки и правнучки; двоюродные племянники и племянницы; двоюродные дяди и </a:t>
            </a:r>
            <a:r>
              <a:rPr lang="ru-RU" sz="1800" b="1" dirty="0" smtClean="0"/>
              <a:t>тети;</a:t>
            </a:r>
          </a:p>
          <a:p>
            <a:pPr marL="0" lvl="0" indent="0" algn="just"/>
            <a:r>
              <a:rPr lang="ru-RU" sz="1800" b="1" dirty="0" smtClean="0">
                <a:solidFill>
                  <a:srgbClr val="7030A0"/>
                </a:solidFill>
              </a:rPr>
              <a:t>7-ая </a:t>
            </a:r>
            <a:r>
              <a:rPr lang="ru-RU" sz="1800" b="1" dirty="0">
                <a:solidFill>
                  <a:srgbClr val="7030A0"/>
                </a:solidFill>
              </a:rPr>
              <a:t>очередь:</a:t>
            </a:r>
          </a:p>
          <a:p>
            <a:pPr marL="285750" lvl="0" indent="-285750" algn="just">
              <a:buFont typeface="Arial" panose="020B0604020202020204" pitchFamily="34" charset="0"/>
              <a:buChar char="•"/>
            </a:pPr>
            <a:r>
              <a:rPr lang="ru-RU" sz="1800" b="1" dirty="0"/>
              <a:t>Пасынки, падчерицы, отчим и мачеха наследодателя;</a:t>
            </a:r>
          </a:p>
          <a:p>
            <a:pPr marL="0" lvl="0" indent="0" algn="just"/>
            <a:r>
              <a:rPr lang="ru-RU" sz="1800" b="1" dirty="0" smtClean="0">
                <a:solidFill>
                  <a:srgbClr val="7030A0"/>
                </a:solidFill>
              </a:rPr>
              <a:t>8-ая </a:t>
            </a:r>
            <a:r>
              <a:rPr lang="ru-RU" sz="1800" b="1" dirty="0">
                <a:solidFill>
                  <a:srgbClr val="7030A0"/>
                </a:solidFill>
              </a:rPr>
              <a:t>очередь:</a:t>
            </a:r>
          </a:p>
          <a:p>
            <a:pPr marL="285750" lvl="0" indent="-285750" algn="just">
              <a:buFont typeface="Arial" panose="020B0604020202020204" pitchFamily="34" charset="0"/>
              <a:buChar char="•"/>
            </a:pPr>
            <a:r>
              <a:rPr lang="ru-RU" sz="1800" b="1" dirty="0"/>
              <a:t>Нетрудоспособные иждивенцы наследодателя, не входящие в число наследников 1-7 очередей, которые не менее года до его смерти находились на его иждивении и проживали вместе с ним – при отсутствии др. </a:t>
            </a:r>
            <a:r>
              <a:rPr lang="ru-RU" sz="1800" b="1" dirty="0" smtClean="0"/>
              <a:t>наследников.</a:t>
            </a:r>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7</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661238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269506" y="588271"/>
            <a:ext cx="8450981" cy="440499"/>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000" b="1" dirty="0" smtClean="0"/>
              <a:t>ДРУГИЕ СЛУЧАИ НАСЛЕДОВАНИЯ </a:t>
            </a:r>
            <a:r>
              <a:rPr lang="ru-RU" sz="2000" b="1" dirty="0"/>
              <a:t>ПО </a:t>
            </a:r>
            <a:r>
              <a:rPr lang="ru-RU" sz="2000" b="1" dirty="0" smtClean="0"/>
              <a:t>ЗАКОНУ</a:t>
            </a:r>
            <a:endParaRPr lang="ru-RU" sz="2000" b="1" dirty="0"/>
          </a:p>
        </p:txBody>
      </p:sp>
      <p:sp>
        <p:nvSpPr>
          <p:cNvPr id="9" name="Google Shape;1892;p130"/>
          <p:cNvSpPr txBox="1">
            <a:spLocks noGrp="1"/>
          </p:cNvSpPr>
          <p:nvPr>
            <p:ph type="subTitle" idx="1"/>
          </p:nvPr>
        </p:nvSpPr>
        <p:spPr>
          <a:xfrm>
            <a:off x="279133" y="1068405"/>
            <a:ext cx="8431730" cy="3445844"/>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900" b="1" dirty="0" smtClean="0"/>
              <a:t>Кроме того, наследование </a:t>
            </a:r>
            <a:r>
              <a:rPr lang="ru-RU" sz="1900" b="1" dirty="0"/>
              <a:t>по завещанию полностью замещается наследованием по закону, если: </a:t>
            </a:r>
          </a:p>
          <a:p>
            <a:pPr marL="342900" lvl="0" algn="just">
              <a:buFont typeface="Wingdings" panose="05000000000000000000" pitchFamily="2" charset="2"/>
              <a:buChar char="§"/>
            </a:pPr>
            <a:r>
              <a:rPr lang="ru-RU" sz="1900" b="1" dirty="0" smtClean="0"/>
              <a:t>наследники </a:t>
            </a:r>
            <a:r>
              <a:rPr lang="ru-RU" sz="1900" b="1" dirty="0"/>
              <a:t>по завещанию отсутствуют на день открытия </a:t>
            </a:r>
            <a:r>
              <a:rPr lang="ru-RU" sz="1900" b="1" dirty="0" smtClean="0"/>
              <a:t>наследства</a:t>
            </a:r>
          </a:p>
          <a:p>
            <a:pPr marL="0" lvl="0" indent="0" algn="just"/>
            <a:r>
              <a:rPr lang="ru-RU" sz="1900" b="1" dirty="0"/>
              <a:t> </a:t>
            </a:r>
            <a:r>
              <a:rPr lang="ru-RU" sz="1900" b="1" dirty="0" smtClean="0"/>
              <a:t>      (</a:t>
            </a:r>
            <a:r>
              <a:rPr lang="ru-RU" sz="1900" b="1" dirty="0"/>
              <a:t>ст. 1116 ГК РФ); </a:t>
            </a:r>
          </a:p>
          <a:p>
            <a:pPr marL="342900" lvl="0" algn="just">
              <a:buFont typeface="Wingdings" panose="05000000000000000000" pitchFamily="2" charset="2"/>
              <a:buChar char="§"/>
            </a:pPr>
            <a:r>
              <a:rPr lang="ru-RU" sz="1900" b="1" dirty="0"/>
              <a:t>ни один из наследников по завещанию не принял наследства, либо каждый из них отказался от наследства по завещанию (ст. 1157, 1158, 1161 ГК РФ); </a:t>
            </a:r>
          </a:p>
          <a:p>
            <a:pPr marL="342900" lvl="0" algn="just">
              <a:buFont typeface="Wingdings" panose="05000000000000000000" pitchFamily="2" charset="2"/>
              <a:buChar char="§"/>
            </a:pPr>
            <a:r>
              <a:rPr lang="ru-RU" sz="1900" b="1" dirty="0"/>
              <a:t>ни один из наследников по завещанию не имеет права приобрести наследство в силу недостойности (ст. 1117 ГК РФ); </a:t>
            </a:r>
          </a:p>
          <a:p>
            <a:pPr marL="342900" lvl="0" algn="just">
              <a:buFont typeface="Wingdings" panose="05000000000000000000" pitchFamily="2" charset="2"/>
              <a:buChar char="§"/>
            </a:pPr>
            <a:r>
              <a:rPr lang="ru-RU" sz="1900" b="1" dirty="0"/>
              <a:t>завещание в целом признано недействительной сделкой (ст. 1131 ГК РФ). </a:t>
            </a:r>
            <a:endParaRPr sz="1900" b="1" dirty="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8</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0856407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269506" y="588271"/>
            <a:ext cx="8450981" cy="440499"/>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000" b="1" dirty="0" smtClean="0"/>
              <a:t>Резюме по 1-ой </a:t>
            </a:r>
            <a:r>
              <a:rPr lang="ru-RU" sz="2000" b="1" dirty="0"/>
              <a:t>части</a:t>
            </a:r>
          </a:p>
          <a:p>
            <a:pPr algn="ctr"/>
            <a:endParaRPr lang="ru-RU" sz="2000" b="1" dirty="0"/>
          </a:p>
        </p:txBody>
      </p:sp>
      <p:sp>
        <p:nvSpPr>
          <p:cNvPr id="9" name="Google Shape;1892;p130"/>
          <p:cNvSpPr txBox="1">
            <a:spLocks noGrp="1"/>
          </p:cNvSpPr>
          <p:nvPr>
            <p:ph type="subTitle" idx="1"/>
          </p:nvPr>
        </p:nvSpPr>
        <p:spPr>
          <a:xfrm>
            <a:off x="279133" y="1068405"/>
            <a:ext cx="8431730" cy="3445844"/>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342900" lvl="0" algn="just">
              <a:buFont typeface="Wingdings" panose="05000000000000000000" pitchFamily="2" charset="2"/>
              <a:buChar char="§"/>
            </a:pPr>
            <a:r>
              <a:rPr lang="ru-RU" sz="1900" b="1" dirty="0"/>
              <a:t>Правила наследования по закону определены в Гражданском кодексе Российской Федерации</a:t>
            </a:r>
            <a:r>
              <a:rPr lang="ru-RU" sz="1900" b="1" dirty="0" smtClean="0"/>
              <a:t>.</a:t>
            </a:r>
          </a:p>
          <a:p>
            <a:pPr marL="342900" lvl="0" algn="just">
              <a:buFont typeface="Wingdings" panose="05000000000000000000" pitchFamily="2" charset="2"/>
              <a:buChar char="§"/>
            </a:pPr>
            <a:r>
              <a:rPr lang="ru-RU" sz="1900" b="1" dirty="0" smtClean="0"/>
              <a:t>В </a:t>
            </a:r>
            <a:r>
              <a:rPr lang="ru-RU" sz="1900" b="1" dirty="0"/>
              <a:t>случае отсутствия завещания умершего, наследство распределяется среди его наследников в соответствии с законом</a:t>
            </a:r>
            <a:r>
              <a:rPr lang="ru-RU" sz="1900" b="1" dirty="0" smtClean="0"/>
              <a:t>.</a:t>
            </a:r>
            <a:endParaRPr lang="ru-RU" sz="1900" b="1" dirty="0"/>
          </a:p>
          <a:p>
            <a:pPr marL="342900" lvl="0" algn="just">
              <a:buFont typeface="Wingdings" panose="05000000000000000000" pitchFamily="2" charset="2"/>
              <a:buChar char="§"/>
            </a:pPr>
            <a:r>
              <a:rPr lang="ru-RU" sz="1900" b="1" dirty="0"/>
              <a:t> </a:t>
            </a:r>
            <a:r>
              <a:rPr lang="ru-RU" sz="1900" b="1" dirty="0" smtClean="0"/>
              <a:t>Первоочередными </a:t>
            </a:r>
            <a:r>
              <a:rPr lang="ru-RU" sz="1900" b="1" dirty="0"/>
              <a:t>наследниками являются ближайшие родственники: супруг(а), дети, родители. Затем идут более отдаленные родственники, если ближайших нет</a:t>
            </a:r>
            <a:r>
              <a:rPr lang="ru-RU" sz="1900" b="1" dirty="0" smtClean="0"/>
              <a:t>.</a:t>
            </a:r>
            <a:endParaRPr lang="ru-RU" sz="1900" b="1" dirty="0"/>
          </a:p>
          <a:p>
            <a:pPr marL="342900" lvl="0" algn="just">
              <a:buFont typeface="Wingdings" panose="05000000000000000000" pitchFamily="2" charset="2"/>
              <a:buChar char="§"/>
            </a:pPr>
            <a:r>
              <a:rPr lang="ru-RU" sz="1900" b="1" dirty="0" smtClean="0"/>
              <a:t>Система </a:t>
            </a:r>
            <a:r>
              <a:rPr lang="ru-RU" sz="1900" b="1" dirty="0"/>
              <a:t>наследования по закону предусматривает долевое право наследников, пропорциональное их доле в наследстве</a:t>
            </a:r>
            <a:r>
              <a:rPr lang="ru-RU" sz="1900" b="1" dirty="0" smtClean="0"/>
              <a:t>.</a:t>
            </a:r>
            <a:endParaRPr lang="ru-RU" sz="1900" b="1" dirty="0"/>
          </a:p>
          <a:p>
            <a:pPr marL="342900" lvl="0" algn="just">
              <a:buFont typeface="Wingdings" panose="05000000000000000000" pitchFamily="2" charset="2"/>
              <a:buChar char="§"/>
            </a:pPr>
            <a:r>
              <a:rPr lang="ru-RU" sz="1900" b="1" dirty="0" smtClean="0"/>
              <a:t>Если </a:t>
            </a:r>
            <a:r>
              <a:rPr lang="ru-RU" sz="1900" b="1" dirty="0"/>
              <a:t>наследников по закону нет, наследство может быть передано в унитарное государственное имущество</a:t>
            </a:r>
            <a:r>
              <a:rPr lang="ru-RU" sz="1900" b="1" dirty="0" smtClean="0"/>
              <a:t>.</a:t>
            </a:r>
            <a:endParaRPr lang="ru-RU" sz="1900" b="1" dirty="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9</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635044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269507" y="377648"/>
            <a:ext cx="8614611"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800" b="1" dirty="0" smtClean="0"/>
              <a:t>2. </a:t>
            </a:r>
            <a:r>
              <a:rPr lang="ru-RU" sz="2800" b="1" dirty="0"/>
              <a:t>Наследование по </a:t>
            </a:r>
            <a:r>
              <a:rPr lang="ru-RU" sz="2800" b="1" dirty="0" smtClean="0"/>
              <a:t>завещанию</a:t>
            </a:r>
            <a:endParaRPr lang="ru-RU" sz="2800" b="1" dirty="0"/>
          </a:p>
        </p:txBody>
      </p:sp>
      <p:sp>
        <p:nvSpPr>
          <p:cNvPr id="9" name="Google Shape;1892;p130"/>
          <p:cNvSpPr txBox="1">
            <a:spLocks noGrp="1"/>
          </p:cNvSpPr>
          <p:nvPr>
            <p:ph type="subTitle" idx="1"/>
          </p:nvPr>
        </p:nvSpPr>
        <p:spPr>
          <a:xfrm>
            <a:off x="267946" y="1029903"/>
            <a:ext cx="8636982" cy="3638350"/>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900" b="1" dirty="0">
                <a:solidFill>
                  <a:srgbClr val="7030A0"/>
                </a:solidFill>
              </a:rPr>
              <a:t>Завещание</a:t>
            </a:r>
            <a:r>
              <a:rPr lang="ru-RU" sz="1900" b="1" dirty="0"/>
              <a:t> – это письменный </a:t>
            </a:r>
            <a:r>
              <a:rPr lang="ru-RU" sz="1900" b="1" dirty="0" smtClean="0"/>
              <a:t>документ, представляющий </a:t>
            </a:r>
            <a:r>
              <a:rPr lang="ru-RU" sz="1900" b="1" dirty="0"/>
              <a:t>собой одностороннюю сделку, совершив которую гражданин реализует свое право на распоряжение имуществом после смерти</a:t>
            </a:r>
            <a:r>
              <a:rPr lang="ru-RU" sz="1900" b="1" dirty="0" smtClean="0"/>
              <a:t>.</a:t>
            </a:r>
          </a:p>
          <a:p>
            <a:pPr marL="0" lvl="0" indent="0" algn="just"/>
            <a:r>
              <a:rPr lang="ru-RU" sz="1900" b="1" dirty="0">
                <a:solidFill>
                  <a:srgbClr val="7030A0"/>
                </a:solidFill>
              </a:rPr>
              <a:t>Завещание </a:t>
            </a:r>
            <a:r>
              <a:rPr lang="ru-RU" sz="1900" b="1" dirty="0"/>
              <a:t>– это </a:t>
            </a:r>
            <a:r>
              <a:rPr lang="ru-RU" sz="1900" b="1" dirty="0" smtClean="0"/>
              <a:t>односторонняя </a:t>
            </a:r>
            <a:r>
              <a:rPr lang="ru-RU" sz="1900" b="1" dirty="0"/>
              <a:t>сделка, создающая права и обязанности после открытия наследства (п.5 ст.1118 ГК РФ</a:t>
            </a:r>
            <a:r>
              <a:rPr lang="ru-RU" sz="1900" b="1" dirty="0" smtClean="0"/>
              <a:t>)</a:t>
            </a:r>
          </a:p>
          <a:p>
            <a:pPr marL="0" lvl="0" indent="0" algn="just"/>
            <a:endParaRPr lang="ru-RU" sz="1900" b="1" dirty="0" smtClean="0"/>
          </a:p>
          <a:p>
            <a:pPr marL="0" lvl="0" indent="0" algn="just"/>
            <a:r>
              <a:rPr lang="ru-RU" sz="1900" b="1" dirty="0"/>
              <a:t>Завещание обладает определенной самостоятельностью, проявляющейся в специфической направленности действия и неизменяемости после открытия наследства. </a:t>
            </a:r>
            <a:endParaRPr lang="ru-RU" sz="1900" b="1" dirty="0" smtClean="0"/>
          </a:p>
          <a:p>
            <a:pPr marL="0" lvl="0" indent="0" algn="just"/>
            <a:r>
              <a:rPr lang="ru-RU" sz="1900" b="1" dirty="0" smtClean="0"/>
              <a:t>Завещательные </a:t>
            </a:r>
            <a:r>
              <a:rPr lang="ru-RU" sz="1900" b="1" dirty="0"/>
              <a:t>распоряжения обладают юридической силой после смерти завещателя. Этой силой завещание наделено законом. </a:t>
            </a:r>
            <a:endParaRPr lang="ru-RU" sz="1900" b="1" dirty="0" smtClean="0"/>
          </a:p>
          <a:p>
            <a:pPr marL="0" lvl="0" indent="0" algn="just"/>
            <a:endParaRPr lang="ru-RU" sz="2000" b="1" dirty="0"/>
          </a:p>
        </p:txBody>
      </p:sp>
      <p:grpSp>
        <p:nvGrpSpPr>
          <p:cNvPr id="4" name="Группа 3"/>
          <p:cNvGrpSpPr/>
          <p:nvPr/>
        </p:nvGrpSpPr>
        <p:grpSpPr>
          <a:xfrm>
            <a:off x="8140199" y="30322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10</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5737697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9" name="Google Shape;1892;p130"/>
          <p:cNvSpPr txBox="1">
            <a:spLocks noGrp="1"/>
          </p:cNvSpPr>
          <p:nvPr>
            <p:ph type="subTitle" idx="1"/>
          </p:nvPr>
        </p:nvSpPr>
        <p:spPr>
          <a:xfrm>
            <a:off x="267946" y="1143133"/>
            <a:ext cx="8636982" cy="3640623"/>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514350" lvl="0" indent="-514350">
              <a:buFont typeface="+mj-lt"/>
              <a:buAutoNum type="romanUcPeriod"/>
            </a:pPr>
            <a:r>
              <a:rPr lang="ru-RU" sz="2000" b="1" u="sng" dirty="0">
                <a:solidFill>
                  <a:schemeClr val="tx1"/>
                </a:solidFill>
              </a:rPr>
              <a:t>По </a:t>
            </a:r>
            <a:r>
              <a:rPr lang="ru-RU" sz="2000" b="1" u="sng" dirty="0" smtClean="0">
                <a:solidFill>
                  <a:schemeClr val="tx1"/>
                </a:solidFill>
              </a:rPr>
              <a:t>общему правилу</a:t>
            </a:r>
            <a:r>
              <a:rPr lang="ru-RU" sz="2000" b="1" dirty="0" smtClean="0">
                <a:solidFill>
                  <a:schemeClr val="tx1"/>
                </a:solidFill>
              </a:rPr>
              <a:t> – в письменной форме и удостоверяется нотариусом (ст.1124, 1125 </a:t>
            </a:r>
            <a:r>
              <a:rPr lang="ru-RU" sz="2000" b="1" dirty="0">
                <a:solidFill>
                  <a:schemeClr val="tx1"/>
                </a:solidFill>
              </a:rPr>
              <a:t>ГК РФ</a:t>
            </a:r>
            <a:r>
              <a:rPr lang="ru-RU" sz="2000" b="1" dirty="0" smtClean="0">
                <a:solidFill>
                  <a:schemeClr val="tx1"/>
                </a:solidFill>
              </a:rPr>
              <a:t>). </a:t>
            </a:r>
          </a:p>
          <a:p>
            <a:pPr marL="514350" lvl="0" indent="-514350">
              <a:buFont typeface="+mj-lt"/>
              <a:buAutoNum type="romanUcPeriod"/>
            </a:pPr>
            <a:r>
              <a:rPr lang="ru-RU" sz="2000" b="1" u="sng" dirty="0" smtClean="0">
                <a:solidFill>
                  <a:schemeClr val="tx1"/>
                </a:solidFill>
              </a:rPr>
              <a:t>Закрытое завещание </a:t>
            </a:r>
            <a:r>
              <a:rPr lang="ru-RU" sz="2000" b="1" dirty="0">
                <a:solidFill>
                  <a:schemeClr val="tx1"/>
                </a:solidFill>
              </a:rPr>
              <a:t>– </a:t>
            </a:r>
            <a:r>
              <a:rPr lang="ru-RU" sz="2000" b="1" dirty="0" smtClean="0">
                <a:solidFill>
                  <a:schemeClr val="tx1"/>
                </a:solidFill>
              </a:rPr>
              <a:t>в письменной форме</a:t>
            </a:r>
            <a:r>
              <a:rPr lang="ru-RU" sz="2000" b="1" dirty="0">
                <a:solidFill>
                  <a:schemeClr val="tx1"/>
                </a:solidFill>
              </a:rPr>
              <a:t>, не </a:t>
            </a:r>
            <a:r>
              <a:rPr lang="ru-RU" sz="2000" b="1" dirty="0" smtClean="0">
                <a:solidFill>
                  <a:schemeClr val="tx1"/>
                </a:solidFill>
              </a:rPr>
              <a:t>подлежит удостоверению (ст.1126 </a:t>
            </a:r>
            <a:r>
              <a:rPr lang="ru-RU" sz="2000" b="1" dirty="0">
                <a:solidFill>
                  <a:schemeClr val="tx1"/>
                </a:solidFill>
              </a:rPr>
              <a:t>ГК РФ</a:t>
            </a:r>
            <a:r>
              <a:rPr lang="ru-RU" sz="2000" b="1" dirty="0" smtClean="0">
                <a:solidFill>
                  <a:schemeClr val="tx1"/>
                </a:solidFill>
              </a:rPr>
              <a:t>)</a:t>
            </a:r>
          </a:p>
          <a:p>
            <a:pPr marL="514350" lvl="0" indent="-514350">
              <a:buFont typeface="+mj-lt"/>
              <a:buAutoNum type="romanUcPeriod"/>
            </a:pPr>
            <a:r>
              <a:rPr lang="ru-RU" sz="2000" b="1" u="sng" dirty="0" smtClean="0">
                <a:solidFill>
                  <a:schemeClr val="tx1"/>
                </a:solidFill>
              </a:rPr>
              <a:t>Завещание в чрезвычайных обстоятельствах </a:t>
            </a:r>
            <a:r>
              <a:rPr lang="ru-RU" sz="2000" b="1" dirty="0">
                <a:solidFill>
                  <a:schemeClr val="tx1"/>
                </a:solidFill>
              </a:rPr>
              <a:t>– </a:t>
            </a:r>
            <a:r>
              <a:rPr lang="ru-RU" sz="2000" b="1" dirty="0" smtClean="0">
                <a:solidFill>
                  <a:schemeClr val="tx1"/>
                </a:solidFill>
              </a:rPr>
              <a:t>в </a:t>
            </a:r>
            <a:r>
              <a:rPr lang="ru-RU" sz="2000" b="1" dirty="0">
                <a:solidFill>
                  <a:schemeClr val="tx1"/>
                </a:solidFill>
              </a:rPr>
              <a:t>простой </a:t>
            </a:r>
            <a:r>
              <a:rPr lang="ru-RU" sz="2000" b="1" dirty="0" smtClean="0">
                <a:solidFill>
                  <a:schemeClr val="tx1"/>
                </a:solidFill>
              </a:rPr>
              <a:t>письменной форме (ст.1129 </a:t>
            </a:r>
            <a:r>
              <a:rPr lang="ru-RU" sz="2000" b="1" dirty="0">
                <a:solidFill>
                  <a:schemeClr val="tx1"/>
                </a:solidFill>
              </a:rPr>
              <a:t>ГК РФ)</a:t>
            </a:r>
          </a:p>
          <a:p>
            <a:pPr marL="514350" lvl="0" indent="-514350">
              <a:buFont typeface="+mj-lt"/>
              <a:buAutoNum type="romanUcPeriod"/>
            </a:pPr>
            <a:endParaRPr lang="ru-RU" sz="2000" b="1" dirty="0">
              <a:solidFill>
                <a:schemeClr val="tx1"/>
              </a:solidFill>
            </a:endParaRPr>
          </a:p>
          <a:p>
            <a:pPr marL="342900" lvl="0" algn="just">
              <a:buFont typeface="Wingdings" panose="05000000000000000000" pitchFamily="2" charset="2"/>
              <a:buChar char="§"/>
            </a:pPr>
            <a:endParaRPr lang="ru-RU" sz="2000" b="1" dirty="0">
              <a:solidFill>
                <a:schemeClr val="tx1"/>
              </a:solidFill>
            </a:endParaRPr>
          </a:p>
          <a:p>
            <a:pPr marL="0" lvl="0" indent="0" algn="just"/>
            <a:endParaRPr lang="ru-RU" sz="2000" b="1" dirty="0">
              <a:solidFill>
                <a:schemeClr val="tx1"/>
              </a:solidFill>
            </a:endParaRPr>
          </a:p>
        </p:txBody>
      </p:sp>
      <p:sp>
        <p:nvSpPr>
          <p:cNvPr id="4" name="Google Shape;1866;p126"/>
          <p:cNvSpPr txBox="1">
            <a:spLocks/>
          </p:cNvSpPr>
          <p:nvPr/>
        </p:nvSpPr>
        <p:spPr>
          <a:xfrm>
            <a:off x="279132" y="570153"/>
            <a:ext cx="8624235"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lgn="ctr"/>
            <a:r>
              <a:rPr lang="ru-RU" sz="2000" b="1" dirty="0">
                <a:solidFill>
                  <a:schemeClr val="tx1"/>
                </a:solidFill>
              </a:rPr>
              <a:t>ФОРМА И ПОРЯДОК СОВЕРШЕНИЯ ЗАВЕЩАНИЯ</a:t>
            </a:r>
          </a:p>
        </p:txBody>
      </p:sp>
      <p:pic>
        <p:nvPicPr>
          <p:cNvPr id="6" name="Picture 4" descr="Наследование по закону и по завещанию"/>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0438" y="3274374"/>
            <a:ext cx="2946085" cy="13488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grpSp>
        <p:nvGrpSpPr>
          <p:cNvPr id="7" name="Группа 6"/>
          <p:cNvGrpSpPr/>
          <p:nvPr/>
        </p:nvGrpSpPr>
        <p:grpSpPr>
          <a:xfrm>
            <a:off x="8140199" y="303226"/>
            <a:ext cx="1003801" cy="336960"/>
            <a:chOff x="0" y="0"/>
            <a:chExt cx="1003801" cy="336960"/>
          </a:xfrm>
        </p:grpSpPr>
        <p:sp>
          <p:nvSpPr>
            <p:cNvPr id="8" name="Скругленный прямоугольник 7"/>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0"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11</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2059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9" name="Google Shape;1892;p130"/>
          <p:cNvSpPr txBox="1">
            <a:spLocks noGrp="1"/>
          </p:cNvSpPr>
          <p:nvPr>
            <p:ph type="subTitle" idx="1"/>
          </p:nvPr>
        </p:nvSpPr>
        <p:spPr>
          <a:xfrm>
            <a:off x="250257" y="943277"/>
            <a:ext cx="8636982" cy="3955982"/>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342900" algn="just">
              <a:buFont typeface="Wingdings" panose="05000000000000000000" pitchFamily="2" charset="2"/>
              <a:buChar char="Ø"/>
            </a:pPr>
            <a:r>
              <a:rPr lang="ru-RU" sz="1900" b="1" dirty="0">
                <a:solidFill>
                  <a:schemeClr val="tx1"/>
                </a:solidFill>
              </a:rPr>
              <a:t>На территории Российской Федерации </a:t>
            </a:r>
            <a:r>
              <a:rPr lang="ru-RU" sz="1900" b="1" u="sng" dirty="0" smtClean="0">
                <a:solidFill>
                  <a:schemeClr val="tx1"/>
                </a:solidFill>
              </a:rPr>
              <a:t>завещание</a:t>
            </a:r>
            <a:r>
              <a:rPr lang="ru-RU" sz="1900" b="1" u="sng" dirty="0">
                <a:solidFill>
                  <a:schemeClr val="tx1"/>
                </a:solidFill>
              </a:rPr>
              <a:t> </a:t>
            </a:r>
            <a:r>
              <a:rPr lang="ru-RU" sz="1900" b="1" u="sng" dirty="0" smtClean="0">
                <a:solidFill>
                  <a:schemeClr val="tx1"/>
                </a:solidFill>
              </a:rPr>
              <a:t>по </a:t>
            </a:r>
            <a:r>
              <a:rPr lang="ru-RU" sz="1900" b="1" u="sng" dirty="0">
                <a:solidFill>
                  <a:schemeClr val="tx1"/>
                </a:solidFill>
              </a:rPr>
              <a:t>общему правилу</a:t>
            </a:r>
            <a:r>
              <a:rPr lang="ru-RU" sz="1900" b="1" dirty="0" smtClean="0">
                <a:solidFill>
                  <a:schemeClr val="tx1"/>
                </a:solidFill>
              </a:rPr>
              <a:t> </a:t>
            </a:r>
            <a:r>
              <a:rPr lang="ru-RU" sz="1900" b="1" dirty="0">
                <a:solidFill>
                  <a:schemeClr val="tx1"/>
                </a:solidFill>
              </a:rPr>
              <a:t>может быть удостоверено </a:t>
            </a:r>
            <a:r>
              <a:rPr lang="ru-RU" sz="1900" b="1" u="sng" dirty="0">
                <a:solidFill>
                  <a:schemeClr val="tx1"/>
                </a:solidFill>
              </a:rPr>
              <a:t>любым нотариусом</a:t>
            </a:r>
            <a:r>
              <a:rPr lang="ru-RU" sz="1900" b="1" dirty="0">
                <a:solidFill>
                  <a:schemeClr val="tx1"/>
                </a:solidFill>
              </a:rPr>
              <a:t> независимо от места жительства завещателя</a:t>
            </a:r>
            <a:r>
              <a:rPr lang="ru-RU" sz="1900" b="1" dirty="0" smtClean="0">
                <a:solidFill>
                  <a:schemeClr val="tx1"/>
                </a:solidFill>
              </a:rPr>
              <a:t>.</a:t>
            </a:r>
          </a:p>
          <a:p>
            <a:pPr marL="0" lvl="0" indent="0" algn="ctr"/>
            <a:r>
              <a:rPr lang="ru-RU" sz="1900" b="1" u="sng" dirty="0" smtClean="0">
                <a:solidFill>
                  <a:schemeClr val="tx1"/>
                </a:solidFill>
              </a:rPr>
              <a:t>Другие лица:</a:t>
            </a:r>
            <a:endParaRPr lang="ru-RU" sz="1900" b="1" u="sng" dirty="0">
              <a:solidFill>
                <a:schemeClr val="tx1"/>
              </a:solidFill>
            </a:endParaRPr>
          </a:p>
          <a:p>
            <a:pPr marL="342900" algn="just">
              <a:buFont typeface="Wingdings" panose="05000000000000000000" pitchFamily="2" charset="2"/>
              <a:buChar char="Ø"/>
            </a:pPr>
            <a:r>
              <a:rPr lang="ru-RU" sz="1900" b="1" dirty="0" smtClean="0">
                <a:solidFill>
                  <a:schemeClr val="tx1"/>
                </a:solidFill>
              </a:rPr>
              <a:t>должностные </a:t>
            </a:r>
            <a:r>
              <a:rPr lang="ru-RU" sz="1900" b="1" dirty="0">
                <a:solidFill>
                  <a:schemeClr val="tx1"/>
                </a:solidFill>
              </a:rPr>
              <a:t>лица органов местного самоуправления;</a:t>
            </a:r>
          </a:p>
          <a:p>
            <a:pPr marL="342900" algn="just">
              <a:buFont typeface="Wingdings" panose="05000000000000000000" pitchFamily="2" charset="2"/>
              <a:buChar char="Ø"/>
            </a:pPr>
            <a:r>
              <a:rPr lang="ru-RU" sz="1900" b="1" dirty="0">
                <a:solidFill>
                  <a:schemeClr val="tx1"/>
                </a:solidFill>
              </a:rPr>
              <a:t>должностные лица консульских учреждений России;</a:t>
            </a:r>
          </a:p>
          <a:p>
            <a:pPr marL="342900" algn="just">
              <a:buFont typeface="Wingdings" panose="05000000000000000000" pitchFamily="2" charset="2"/>
              <a:buChar char="Ø"/>
            </a:pPr>
            <a:r>
              <a:rPr lang="ru-RU" sz="1900" b="1" dirty="0">
                <a:solidFill>
                  <a:schemeClr val="tx1"/>
                </a:solidFill>
              </a:rPr>
              <a:t>главные врачи, их заместители по медицинской части, дежурные врачи больниц, госпиталей, других медицинских организаций;</a:t>
            </a:r>
          </a:p>
          <a:p>
            <a:pPr marL="342900" algn="just">
              <a:buFont typeface="Wingdings" panose="05000000000000000000" pitchFamily="2" charset="2"/>
              <a:buChar char="Ø"/>
            </a:pPr>
            <a:r>
              <a:rPr lang="ru-RU" sz="1900" b="1" dirty="0">
                <a:solidFill>
                  <a:schemeClr val="tx1"/>
                </a:solidFill>
              </a:rPr>
              <a:t>директора или главные врачи домов для престарелых и инвалидов;</a:t>
            </a:r>
          </a:p>
          <a:p>
            <a:pPr marL="342900" algn="just">
              <a:buFont typeface="Wingdings" panose="05000000000000000000" pitchFamily="2" charset="2"/>
              <a:buChar char="Ø"/>
            </a:pPr>
            <a:r>
              <a:rPr lang="ru-RU" sz="1900" b="1" dirty="0">
                <a:solidFill>
                  <a:schemeClr val="tx1"/>
                </a:solidFill>
              </a:rPr>
              <a:t>командиры воинских частей;</a:t>
            </a:r>
          </a:p>
          <a:p>
            <a:pPr marL="342900" algn="just">
              <a:buFont typeface="Wingdings" panose="05000000000000000000" pitchFamily="2" charset="2"/>
              <a:buChar char="Ø"/>
            </a:pPr>
            <a:r>
              <a:rPr lang="ru-RU" sz="1900" b="1" dirty="0">
                <a:solidFill>
                  <a:schemeClr val="tx1"/>
                </a:solidFill>
              </a:rPr>
              <a:t>начальники мест лишения свободы;</a:t>
            </a:r>
          </a:p>
          <a:p>
            <a:pPr marL="342900" algn="just">
              <a:buFont typeface="Wingdings" panose="05000000000000000000" pitchFamily="2" charset="2"/>
              <a:buChar char="Ø"/>
            </a:pPr>
            <a:r>
              <a:rPr lang="ru-RU" sz="1900" b="1" dirty="0">
                <a:solidFill>
                  <a:schemeClr val="tx1"/>
                </a:solidFill>
              </a:rPr>
              <a:t>служащие банка </a:t>
            </a:r>
            <a:r>
              <a:rPr lang="ru-RU" sz="1900" b="1" dirty="0" smtClean="0">
                <a:solidFill>
                  <a:schemeClr val="tx1"/>
                </a:solidFill>
              </a:rPr>
              <a:t>(при </a:t>
            </a:r>
            <a:r>
              <a:rPr lang="ru-RU" sz="1900" b="1" dirty="0">
                <a:solidFill>
                  <a:schemeClr val="tx1"/>
                </a:solidFill>
              </a:rPr>
              <a:t>удостоверении завещательного распоряжения денежными средствами в </a:t>
            </a:r>
            <a:r>
              <a:rPr lang="ru-RU" sz="1900" b="1" dirty="0" smtClean="0">
                <a:solidFill>
                  <a:schemeClr val="tx1"/>
                </a:solidFill>
              </a:rPr>
              <a:t>банке).</a:t>
            </a:r>
            <a:endParaRPr lang="ru-RU" sz="2000" b="1" dirty="0">
              <a:solidFill>
                <a:schemeClr val="tx1"/>
              </a:solidFill>
            </a:endParaRPr>
          </a:p>
        </p:txBody>
      </p:sp>
      <p:sp>
        <p:nvSpPr>
          <p:cNvPr id="4" name="Google Shape;1866;p126"/>
          <p:cNvSpPr txBox="1">
            <a:spLocks/>
          </p:cNvSpPr>
          <p:nvPr/>
        </p:nvSpPr>
        <p:spPr>
          <a:xfrm>
            <a:off x="250257" y="473902"/>
            <a:ext cx="8653111" cy="459750"/>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r>
              <a:rPr lang="ru-RU" sz="2000" b="1" dirty="0" smtClean="0">
                <a:solidFill>
                  <a:schemeClr val="tx1"/>
                </a:solidFill>
              </a:rPr>
              <a:t>    ЛИЦА, УПОЛНОМОЧЕННЫЕ УДОСТОВЕРЯТЬ ЗАВЕЩАНИЯ</a:t>
            </a:r>
            <a:endParaRPr lang="ru-RU" sz="2000" b="1" dirty="0">
              <a:solidFill>
                <a:schemeClr val="tx1"/>
              </a:solidFill>
            </a:endParaRPr>
          </a:p>
        </p:txBody>
      </p:sp>
      <p:grpSp>
        <p:nvGrpSpPr>
          <p:cNvPr id="5" name="Группа 4"/>
          <p:cNvGrpSpPr/>
          <p:nvPr/>
        </p:nvGrpSpPr>
        <p:grpSpPr>
          <a:xfrm>
            <a:off x="8140199" y="30322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9749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9" name="Google Shape;1892;p130"/>
          <p:cNvSpPr txBox="1">
            <a:spLocks noGrp="1"/>
          </p:cNvSpPr>
          <p:nvPr>
            <p:ph type="subTitle" idx="1"/>
          </p:nvPr>
        </p:nvSpPr>
        <p:spPr>
          <a:xfrm>
            <a:off x="258321" y="1001027"/>
            <a:ext cx="8636982" cy="3715353"/>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0" lvl="0" indent="0" algn="just"/>
            <a:r>
              <a:rPr lang="ru-RU" sz="1800" b="1" dirty="0" smtClean="0">
                <a:solidFill>
                  <a:schemeClr val="tx1"/>
                </a:solidFill>
              </a:rPr>
              <a:t>1. ПОДНАЗНАЧЕНИЕ НАСЛЕДНИКА (п.2 </a:t>
            </a:r>
            <a:r>
              <a:rPr lang="ru-RU" sz="1800" b="1" dirty="0">
                <a:solidFill>
                  <a:schemeClr val="tx1"/>
                </a:solidFill>
              </a:rPr>
              <a:t>ст.1121 ГК РФ</a:t>
            </a:r>
            <a:r>
              <a:rPr lang="ru-RU" sz="1800" b="1" dirty="0" smtClean="0">
                <a:solidFill>
                  <a:schemeClr val="tx1"/>
                </a:solidFill>
              </a:rPr>
              <a:t>)</a:t>
            </a:r>
          </a:p>
          <a:p>
            <a:pPr marL="0" lvl="0" indent="0" algn="just"/>
            <a:r>
              <a:rPr lang="ru-RU" sz="1800" b="1" dirty="0">
                <a:solidFill>
                  <a:schemeClr val="tx1"/>
                </a:solidFill>
              </a:rPr>
              <a:t>Завещатель может </a:t>
            </a:r>
            <a:r>
              <a:rPr lang="ru-RU" sz="1800" b="1" dirty="0" err="1">
                <a:solidFill>
                  <a:schemeClr val="tx1"/>
                </a:solidFill>
              </a:rPr>
              <a:t>подназначить</a:t>
            </a:r>
            <a:r>
              <a:rPr lang="ru-RU" sz="1800" b="1" dirty="0">
                <a:solidFill>
                  <a:schemeClr val="tx1"/>
                </a:solidFill>
              </a:rPr>
              <a:t> наследника на случай, если назначенный им в завещании наследник или наследник завещателя по закону умрет до открытия наследства, либо одновременно с завещателем, либо после открытия наследства, не успев его принять, либо не примет наследство по другим причинам или откажется от него, либо не будет иметь право наследовать или будет отстранен от наследования как недостойный</a:t>
            </a:r>
            <a:r>
              <a:rPr lang="ru-RU" sz="1800" b="1" dirty="0" smtClean="0">
                <a:solidFill>
                  <a:schemeClr val="tx1"/>
                </a:solidFill>
              </a:rPr>
              <a:t>.</a:t>
            </a:r>
          </a:p>
          <a:p>
            <a:pPr marL="0" lvl="0" indent="0">
              <a:lnSpc>
                <a:spcPct val="150000"/>
              </a:lnSpc>
            </a:pPr>
            <a:r>
              <a:rPr lang="ru-RU" sz="1800" b="1" dirty="0" smtClean="0">
                <a:solidFill>
                  <a:schemeClr val="tx1"/>
                </a:solidFill>
              </a:rPr>
              <a:t>2. ЗАВЕЩАТЕЛЬНЫЙ ОТКАЗ (ст.1137</a:t>
            </a:r>
            <a:r>
              <a:rPr lang="ru-RU" sz="1800" b="1" dirty="0">
                <a:solidFill>
                  <a:schemeClr val="tx1"/>
                </a:solidFill>
              </a:rPr>
              <a:t>, 1138 ГК РФ</a:t>
            </a:r>
            <a:r>
              <a:rPr lang="ru-RU" sz="1800" b="1" dirty="0" smtClean="0">
                <a:solidFill>
                  <a:schemeClr val="tx1"/>
                </a:solidFill>
              </a:rPr>
              <a:t>);</a:t>
            </a:r>
          </a:p>
          <a:p>
            <a:pPr marL="0" lvl="0" indent="0">
              <a:lnSpc>
                <a:spcPct val="150000"/>
              </a:lnSpc>
            </a:pPr>
            <a:r>
              <a:rPr lang="ru-RU" sz="1800" b="1" dirty="0">
                <a:solidFill>
                  <a:schemeClr val="tx1"/>
                </a:solidFill>
              </a:rPr>
              <a:t>3. ЗАВЕЩАТЕЛЬНОЕ ВОЗЛОЖЕНИЕ (ст.1139 ГК РФ</a:t>
            </a:r>
            <a:r>
              <a:rPr lang="ru-RU" sz="1800" b="1" dirty="0" smtClean="0">
                <a:solidFill>
                  <a:schemeClr val="tx1"/>
                </a:solidFill>
              </a:rPr>
              <a:t>);</a:t>
            </a:r>
          </a:p>
          <a:p>
            <a:pPr marL="0" lvl="0" indent="0"/>
            <a:r>
              <a:rPr lang="ru-RU" sz="1800" b="1" dirty="0">
                <a:solidFill>
                  <a:schemeClr val="tx1"/>
                </a:solidFill>
              </a:rPr>
              <a:t>4. УКАЗАНИЕ (НАЗНАЧЕНИЕ) ИСПОЛНИТЕЛЯ </a:t>
            </a:r>
            <a:r>
              <a:rPr lang="ru-RU" sz="1800" b="1" dirty="0" smtClean="0">
                <a:solidFill>
                  <a:schemeClr val="tx1"/>
                </a:solidFill>
              </a:rPr>
              <a:t>ЗАВЕЩАНИЯ</a:t>
            </a:r>
          </a:p>
          <a:p>
            <a:pPr marL="0" lvl="0" indent="0"/>
            <a:r>
              <a:rPr lang="ru-RU" sz="1800" b="1" dirty="0">
                <a:solidFill>
                  <a:schemeClr val="tx1"/>
                </a:solidFill>
              </a:rPr>
              <a:t> </a:t>
            </a:r>
            <a:r>
              <a:rPr lang="ru-RU" sz="1800" b="1" dirty="0" smtClean="0">
                <a:solidFill>
                  <a:schemeClr val="tx1"/>
                </a:solidFill>
              </a:rPr>
              <a:t>    (</a:t>
            </a:r>
            <a:r>
              <a:rPr lang="ru-RU" sz="1800" b="1" dirty="0">
                <a:solidFill>
                  <a:schemeClr val="tx1"/>
                </a:solidFill>
              </a:rPr>
              <a:t>ст.1133-1136 ГК РФ</a:t>
            </a:r>
            <a:r>
              <a:rPr lang="ru-RU" sz="1800" b="1" dirty="0" smtClean="0">
                <a:solidFill>
                  <a:schemeClr val="tx1"/>
                </a:solidFill>
              </a:rPr>
              <a:t>)</a:t>
            </a:r>
            <a:endParaRPr lang="ru-RU" sz="1800" b="1" dirty="0">
              <a:solidFill>
                <a:schemeClr val="tx1"/>
              </a:solidFill>
            </a:endParaRPr>
          </a:p>
        </p:txBody>
      </p:sp>
      <p:sp>
        <p:nvSpPr>
          <p:cNvPr id="4" name="Google Shape;1866;p126"/>
          <p:cNvSpPr txBox="1">
            <a:spLocks/>
          </p:cNvSpPr>
          <p:nvPr/>
        </p:nvSpPr>
        <p:spPr>
          <a:xfrm>
            <a:off x="279133" y="377648"/>
            <a:ext cx="8614610"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lgn="ctr"/>
            <a:r>
              <a:rPr lang="ru-RU" sz="2000" b="1" dirty="0">
                <a:solidFill>
                  <a:schemeClr val="tx1"/>
                </a:solidFill>
              </a:rPr>
              <a:t>ОСОБЫЕ ЗАВЕЩАТЕЛЬНЫЕ РАСПОРЯЖЕНИЯ</a:t>
            </a:r>
          </a:p>
        </p:txBody>
      </p:sp>
      <p:grpSp>
        <p:nvGrpSpPr>
          <p:cNvPr id="5" name="Группа 4"/>
          <p:cNvGrpSpPr/>
          <p:nvPr/>
        </p:nvGrpSpPr>
        <p:grpSpPr>
          <a:xfrm>
            <a:off x="8140199" y="303226"/>
            <a:ext cx="1003801" cy="336960"/>
            <a:chOff x="0" y="0"/>
            <a:chExt cx="1003801" cy="336960"/>
          </a:xfrm>
        </p:grpSpPr>
        <p:sp>
          <p:nvSpPr>
            <p:cNvPr id="6" name="Скругленный прямоугольник 5"/>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7"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8348129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4" name="Google Shape;1866;p126"/>
          <p:cNvSpPr txBox="1">
            <a:spLocks/>
          </p:cNvSpPr>
          <p:nvPr/>
        </p:nvSpPr>
        <p:spPr>
          <a:xfrm>
            <a:off x="481263" y="377648"/>
            <a:ext cx="8229600"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lgn="ctr"/>
            <a:r>
              <a:rPr lang="ru-RU" sz="2000" b="1" dirty="0" smtClean="0">
                <a:solidFill>
                  <a:schemeClr val="tx1"/>
                </a:solidFill>
              </a:rPr>
              <a:t>ПРАВА ЗАВЕЩАТЕЛЯ (1)</a:t>
            </a:r>
            <a:endParaRPr lang="ru-RU" sz="2000" b="1" dirty="0">
              <a:solidFill>
                <a:schemeClr val="tx1"/>
              </a:solidFill>
            </a:endParaRPr>
          </a:p>
        </p:txBody>
      </p:sp>
      <p:sp>
        <p:nvSpPr>
          <p:cNvPr id="5" name="Google Shape;1893;p130"/>
          <p:cNvSpPr txBox="1">
            <a:spLocks noGrp="1"/>
          </p:cNvSpPr>
          <p:nvPr>
            <p:ph type="subTitle" idx="2"/>
          </p:nvPr>
        </p:nvSpPr>
        <p:spPr>
          <a:xfrm>
            <a:off x="481263" y="1001027"/>
            <a:ext cx="8277725" cy="3580847"/>
          </a:xfrm>
          <a:prstGeom prst="rect">
            <a:avLst/>
          </a:prstGeom>
          <a:solidFill>
            <a:schemeClr val="tx2">
              <a:lumMod val="90000"/>
            </a:schemeClr>
          </a:solidFill>
          <a:ln>
            <a:solidFill>
              <a:srgbClr val="002060"/>
            </a:solidFill>
          </a:ln>
        </p:spPr>
        <p:txBody>
          <a:bodyPr spcFirstLastPara="1" wrap="square" lIns="91425" tIns="91425" rIns="91425" bIns="91425" anchor="t" anchorCtr="0">
            <a:noAutofit/>
          </a:bodyPr>
          <a:lstStyle/>
          <a:p>
            <a:pPr marL="493400" lvl="0">
              <a:lnSpc>
                <a:spcPct val="100000"/>
              </a:lnSpc>
              <a:buFont typeface="+mj-lt"/>
              <a:buAutoNum type="arabicPeriod"/>
            </a:pPr>
            <a:r>
              <a:rPr lang="ru-RU" sz="1800" b="1" dirty="0">
                <a:solidFill>
                  <a:schemeClr val="tx1"/>
                </a:solidFill>
                <a:uFill>
                  <a:noFill/>
                </a:uFill>
              </a:rPr>
              <a:t>По своему усмотрению завещать имущество любым </a:t>
            </a:r>
            <a:r>
              <a:rPr lang="ru-RU" sz="1800" b="1" dirty="0" smtClean="0">
                <a:solidFill>
                  <a:schemeClr val="tx1"/>
                </a:solidFill>
                <a:uFill>
                  <a:noFill/>
                </a:uFill>
              </a:rPr>
              <a:t>лицам.</a:t>
            </a:r>
          </a:p>
          <a:p>
            <a:pPr marL="493400" lvl="0">
              <a:lnSpc>
                <a:spcPct val="100000"/>
              </a:lnSpc>
              <a:buFont typeface="+mj-lt"/>
              <a:buAutoNum type="arabicPeriod"/>
            </a:pPr>
            <a:r>
              <a:rPr lang="ru-RU" sz="1800" b="1" dirty="0">
                <a:solidFill>
                  <a:schemeClr val="tx1"/>
                </a:solidFill>
                <a:uFill>
                  <a:noFill/>
                </a:uFill>
              </a:rPr>
              <a:t>Лишить наследства одного, нескольких, всех наследников по закону без </a:t>
            </a:r>
            <a:r>
              <a:rPr lang="ru-RU" sz="1800" b="1" dirty="0" smtClean="0">
                <a:solidFill>
                  <a:schemeClr val="tx1"/>
                </a:solidFill>
                <a:uFill>
                  <a:noFill/>
                </a:uFill>
              </a:rPr>
              <a:t>указания причин:</a:t>
            </a:r>
          </a:p>
          <a:p>
            <a:pPr marL="493400" lvl="0">
              <a:lnSpc>
                <a:spcPct val="100000"/>
              </a:lnSpc>
              <a:buFont typeface="Wingdings" panose="05000000000000000000" pitchFamily="2" charset="2"/>
              <a:buChar char="§"/>
            </a:pPr>
            <a:r>
              <a:rPr lang="ru-RU" sz="1800" dirty="0">
                <a:solidFill>
                  <a:schemeClr val="tx1"/>
                </a:solidFill>
                <a:uFill>
                  <a:noFill/>
                </a:uFill>
              </a:rPr>
              <a:t>путем специального распоряжения об этом в </a:t>
            </a:r>
            <a:r>
              <a:rPr lang="ru-RU" sz="1800" dirty="0" smtClean="0">
                <a:solidFill>
                  <a:schemeClr val="tx1"/>
                </a:solidFill>
                <a:uFill>
                  <a:noFill/>
                </a:uFill>
              </a:rPr>
              <a:t>завещании;</a:t>
            </a:r>
            <a:endParaRPr lang="ru-RU" sz="1800" dirty="0">
              <a:solidFill>
                <a:schemeClr val="tx1"/>
              </a:solidFill>
              <a:uFill>
                <a:noFill/>
              </a:uFill>
            </a:endParaRPr>
          </a:p>
          <a:p>
            <a:pPr marL="493400" lvl="0">
              <a:lnSpc>
                <a:spcPct val="100000"/>
              </a:lnSpc>
              <a:buFont typeface="Wingdings" panose="05000000000000000000" pitchFamily="2" charset="2"/>
              <a:buChar char="§"/>
            </a:pPr>
            <a:r>
              <a:rPr lang="ru-RU" sz="1800" dirty="0">
                <a:solidFill>
                  <a:schemeClr val="tx1"/>
                </a:solidFill>
                <a:uFill>
                  <a:noFill/>
                </a:uFill>
              </a:rPr>
              <a:t>путем распределения завещателем всего своего имущества между другими наследниками так, что на долю указанного наследника по закону не будет ничего </a:t>
            </a:r>
            <a:r>
              <a:rPr lang="ru-RU" sz="1800" dirty="0" smtClean="0">
                <a:solidFill>
                  <a:schemeClr val="tx1"/>
                </a:solidFill>
                <a:uFill>
                  <a:noFill/>
                </a:uFill>
              </a:rPr>
              <a:t>причитаться</a:t>
            </a:r>
          </a:p>
          <a:p>
            <a:pPr marL="493400" lvl="0">
              <a:lnSpc>
                <a:spcPct val="100000"/>
              </a:lnSpc>
              <a:buFont typeface="+mj-lt"/>
              <a:buAutoNum type="arabicPeriod" startAt="3"/>
            </a:pPr>
            <a:r>
              <a:rPr lang="ru-RU" sz="1800" b="1" dirty="0">
                <a:solidFill>
                  <a:schemeClr val="tx1"/>
                </a:solidFill>
                <a:uFill>
                  <a:noFill/>
                </a:uFill>
              </a:rPr>
              <a:t>Отменить или изменить совершенное завещание</a:t>
            </a:r>
            <a:r>
              <a:rPr lang="ru-RU" sz="1800" b="1" dirty="0" smtClean="0">
                <a:solidFill>
                  <a:schemeClr val="tx1"/>
                </a:solidFill>
                <a:uFill>
                  <a:noFill/>
                </a:uFill>
              </a:rPr>
              <a:t>:</a:t>
            </a:r>
          </a:p>
          <a:p>
            <a:pPr marL="493400" lvl="0">
              <a:lnSpc>
                <a:spcPct val="100000"/>
              </a:lnSpc>
              <a:buFont typeface="Wingdings" panose="05000000000000000000" pitchFamily="2" charset="2"/>
              <a:buChar char="§"/>
            </a:pPr>
            <a:r>
              <a:rPr lang="ru-RU" sz="1800" dirty="0">
                <a:solidFill>
                  <a:schemeClr val="tx1"/>
                </a:solidFill>
                <a:uFill>
                  <a:noFill/>
                </a:uFill>
              </a:rPr>
              <a:t>путем оформления распоряжения об отмене </a:t>
            </a:r>
            <a:r>
              <a:rPr lang="ru-RU" sz="1800" dirty="0" smtClean="0">
                <a:solidFill>
                  <a:schemeClr val="tx1"/>
                </a:solidFill>
                <a:uFill>
                  <a:noFill/>
                </a:uFill>
              </a:rPr>
              <a:t>завещания</a:t>
            </a:r>
          </a:p>
          <a:p>
            <a:pPr marL="150500" lvl="0" indent="0">
              <a:lnSpc>
                <a:spcPct val="100000"/>
              </a:lnSpc>
              <a:buNone/>
            </a:pPr>
            <a:r>
              <a:rPr lang="ru-RU" sz="1800" dirty="0">
                <a:solidFill>
                  <a:schemeClr val="tx1"/>
                </a:solidFill>
                <a:uFill>
                  <a:noFill/>
                </a:uFill>
              </a:rPr>
              <a:t> </a:t>
            </a:r>
            <a:r>
              <a:rPr lang="ru-RU" sz="1800" dirty="0" smtClean="0">
                <a:solidFill>
                  <a:schemeClr val="tx1"/>
                </a:solidFill>
                <a:uFill>
                  <a:noFill/>
                </a:uFill>
              </a:rPr>
              <a:t>     </a:t>
            </a:r>
            <a:r>
              <a:rPr lang="ru-RU" sz="1800" dirty="0">
                <a:solidFill>
                  <a:schemeClr val="tx1"/>
                </a:solidFill>
                <a:uFill>
                  <a:noFill/>
                </a:uFill>
              </a:rPr>
              <a:t>(в той же форме, что и </a:t>
            </a:r>
            <a:r>
              <a:rPr lang="ru-RU" sz="1800" dirty="0" smtClean="0">
                <a:solidFill>
                  <a:schemeClr val="tx1"/>
                </a:solidFill>
                <a:uFill>
                  <a:noFill/>
                </a:uFill>
              </a:rPr>
              <a:t>завещание); </a:t>
            </a:r>
          </a:p>
          <a:p>
            <a:pPr marL="493400" lvl="0">
              <a:lnSpc>
                <a:spcPct val="100000"/>
              </a:lnSpc>
              <a:buFont typeface="Wingdings" panose="05000000000000000000" pitchFamily="2" charset="2"/>
              <a:buChar char="§"/>
            </a:pPr>
            <a:r>
              <a:rPr lang="ru-RU" sz="1800" dirty="0">
                <a:solidFill>
                  <a:schemeClr val="tx1"/>
                </a:solidFill>
                <a:uFill>
                  <a:noFill/>
                </a:uFill>
              </a:rPr>
              <a:t>путем составления нового </a:t>
            </a:r>
            <a:r>
              <a:rPr lang="ru-RU" sz="1800" dirty="0" smtClean="0">
                <a:solidFill>
                  <a:schemeClr val="tx1"/>
                </a:solidFill>
                <a:uFill>
                  <a:noFill/>
                </a:uFill>
              </a:rPr>
              <a:t>завещания.</a:t>
            </a:r>
            <a:endParaRPr lang="ru-RU" sz="1800" dirty="0">
              <a:solidFill>
                <a:schemeClr val="tx1"/>
              </a:solidFill>
              <a:uFill>
                <a:noFill/>
              </a:uFill>
            </a:endParaRPr>
          </a:p>
          <a:p>
            <a:pPr marL="493400" lvl="0">
              <a:lnSpc>
                <a:spcPct val="100000"/>
              </a:lnSpc>
              <a:buFont typeface="+mj-lt"/>
              <a:buAutoNum type="arabicPeriod" startAt="4"/>
            </a:pPr>
            <a:r>
              <a:rPr lang="ru-RU" sz="1800" dirty="0" smtClean="0">
                <a:solidFill>
                  <a:schemeClr val="tx1"/>
                </a:solidFill>
                <a:uFill>
                  <a:noFill/>
                </a:uFill>
              </a:rPr>
              <a:t>(см. далее)</a:t>
            </a:r>
            <a:endParaRPr lang="ru-RU" sz="1800" dirty="0">
              <a:solidFill>
                <a:schemeClr val="tx1"/>
              </a:solidFill>
              <a:uFill>
                <a:noFill/>
              </a:uFill>
            </a:endParaRPr>
          </a:p>
          <a:p>
            <a:pPr marL="493400" lvl="0">
              <a:lnSpc>
                <a:spcPct val="100000"/>
              </a:lnSpc>
              <a:buFont typeface="+mj-lt"/>
              <a:buAutoNum type="arabicPeriod" startAt="4"/>
            </a:pPr>
            <a:endParaRPr lang="ru-RU" sz="1800" dirty="0" smtClean="0">
              <a:solidFill>
                <a:schemeClr val="tx1"/>
              </a:solidFill>
              <a:uFill>
                <a:noFill/>
              </a:uFill>
            </a:endParaRPr>
          </a:p>
          <a:p>
            <a:pPr marL="150500" lvl="0" indent="0">
              <a:lnSpc>
                <a:spcPct val="100000"/>
              </a:lnSpc>
              <a:buNone/>
            </a:pPr>
            <a:endParaRPr lang="ru-RU" sz="1800" dirty="0" smtClean="0">
              <a:solidFill>
                <a:schemeClr val="tx1"/>
              </a:solidFill>
              <a:uFill>
                <a:noFill/>
              </a:uFill>
            </a:endParaRPr>
          </a:p>
        </p:txBody>
      </p:sp>
      <p:grpSp>
        <p:nvGrpSpPr>
          <p:cNvPr id="6" name="Группа 5"/>
          <p:cNvGrpSpPr/>
          <p:nvPr/>
        </p:nvGrpSpPr>
        <p:grpSpPr>
          <a:xfrm>
            <a:off x="8140199" y="30322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14</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pic>
        <p:nvPicPr>
          <p:cNvPr id="10" name="Picture 8" descr="j03246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9238" y="2843195"/>
            <a:ext cx="1488107" cy="1610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66578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4" name="Google Shape;1866;p126"/>
          <p:cNvSpPr txBox="1">
            <a:spLocks/>
          </p:cNvSpPr>
          <p:nvPr/>
        </p:nvSpPr>
        <p:spPr>
          <a:xfrm>
            <a:off x="481263" y="377648"/>
            <a:ext cx="8229600"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lgn="ctr"/>
            <a:r>
              <a:rPr lang="ru-RU" sz="2000" b="1" dirty="0" smtClean="0">
                <a:solidFill>
                  <a:schemeClr val="tx1"/>
                </a:solidFill>
              </a:rPr>
              <a:t>ПРАВА ЗАВЕЩАТЕЛЯ (2)</a:t>
            </a:r>
            <a:endParaRPr lang="ru-RU" sz="2000" b="1" dirty="0">
              <a:solidFill>
                <a:schemeClr val="tx1"/>
              </a:solidFill>
            </a:endParaRPr>
          </a:p>
        </p:txBody>
      </p:sp>
      <p:sp>
        <p:nvSpPr>
          <p:cNvPr id="5" name="Google Shape;1893;p130"/>
          <p:cNvSpPr txBox="1">
            <a:spLocks noGrp="1"/>
          </p:cNvSpPr>
          <p:nvPr>
            <p:ph type="subTitle" idx="2"/>
          </p:nvPr>
        </p:nvSpPr>
        <p:spPr>
          <a:xfrm>
            <a:off x="481263" y="1001027"/>
            <a:ext cx="8277725" cy="3580847"/>
          </a:xfrm>
          <a:prstGeom prst="rect">
            <a:avLst/>
          </a:prstGeom>
          <a:solidFill>
            <a:schemeClr val="tx2">
              <a:lumMod val="90000"/>
            </a:schemeClr>
          </a:solidFill>
          <a:ln>
            <a:solidFill>
              <a:srgbClr val="002060"/>
            </a:solidFill>
          </a:ln>
        </p:spPr>
        <p:txBody>
          <a:bodyPr spcFirstLastPara="1" wrap="square" lIns="91425" tIns="91425" rIns="91425" bIns="91425" anchor="t" anchorCtr="0">
            <a:noAutofit/>
          </a:bodyPr>
          <a:lstStyle/>
          <a:p>
            <a:pPr marL="493400" lvl="0">
              <a:lnSpc>
                <a:spcPct val="100000"/>
              </a:lnSpc>
              <a:buFont typeface="+mj-lt"/>
              <a:buAutoNum type="arabicPeriod" startAt="4"/>
            </a:pPr>
            <a:r>
              <a:rPr lang="ru-RU" sz="1800" b="1" dirty="0">
                <a:solidFill>
                  <a:schemeClr val="tx1"/>
                </a:solidFill>
                <a:uFill>
                  <a:noFill/>
                </a:uFill>
              </a:rPr>
              <a:t>Завещать любое принадлежащее завещателю имущество </a:t>
            </a:r>
            <a:r>
              <a:rPr lang="ru-RU" sz="1800" dirty="0" smtClean="0">
                <a:solidFill>
                  <a:schemeClr val="tx1"/>
                </a:solidFill>
                <a:uFill>
                  <a:noFill/>
                </a:uFill>
              </a:rPr>
              <a:t>(вещи</a:t>
            </a:r>
            <a:r>
              <a:rPr lang="ru-RU" sz="1800" dirty="0">
                <a:solidFill>
                  <a:schemeClr val="tx1"/>
                </a:solidFill>
                <a:uFill>
                  <a:noFill/>
                </a:uFill>
              </a:rPr>
              <a:t>, иное имущество, в том числе имущественные права и </a:t>
            </a:r>
            <a:r>
              <a:rPr lang="ru-RU" sz="1800" dirty="0" smtClean="0">
                <a:solidFill>
                  <a:schemeClr val="tx1"/>
                </a:solidFill>
                <a:uFill>
                  <a:noFill/>
                </a:uFill>
              </a:rPr>
              <a:t>обязанности). </a:t>
            </a:r>
            <a:r>
              <a:rPr lang="ru-RU" sz="1800" u="sng" dirty="0">
                <a:solidFill>
                  <a:schemeClr val="tx1"/>
                </a:solidFill>
                <a:uFill>
                  <a:noFill/>
                </a:uFill>
              </a:rPr>
              <a:t>Например</a:t>
            </a:r>
            <a:r>
              <a:rPr lang="ru-RU" sz="1800" dirty="0">
                <a:solidFill>
                  <a:schemeClr val="tx1"/>
                </a:solidFill>
                <a:uFill>
                  <a:noFill/>
                </a:uFill>
              </a:rPr>
              <a:t>, </a:t>
            </a:r>
            <a:r>
              <a:rPr lang="ru-RU" sz="1800" dirty="0" smtClean="0">
                <a:solidFill>
                  <a:schemeClr val="tx1"/>
                </a:solidFill>
                <a:uFill>
                  <a:noFill/>
                </a:uFill>
              </a:rPr>
              <a:t>правила </a:t>
            </a:r>
            <a:r>
              <a:rPr lang="ru-RU" sz="1800" dirty="0">
                <a:solidFill>
                  <a:schemeClr val="tx1"/>
                </a:solidFill>
                <a:uFill>
                  <a:noFill/>
                </a:uFill>
              </a:rPr>
              <a:t>наследования могут применяться к наследованию прав в области интеллектуальной </a:t>
            </a:r>
            <a:r>
              <a:rPr lang="ru-RU" sz="1800" dirty="0" smtClean="0">
                <a:solidFill>
                  <a:schemeClr val="tx1"/>
                </a:solidFill>
                <a:uFill>
                  <a:noFill/>
                </a:uFill>
              </a:rPr>
              <a:t>собственности.</a:t>
            </a:r>
          </a:p>
          <a:p>
            <a:pPr marL="468000" lvl="0">
              <a:lnSpc>
                <a:spcPct val="100000"/>
              </a:lnSpc>
              <a:buFont typeface="+mj-lt"/>
              <a:buAutoNum type="arabicPeriod" startAt="4"/>
            </a:pPr>
            <a:r>
              <a:rPr lang="ru-RU" sz="1800" b="1" dirty="0" smtClean="0">
                <a:solidFill>
                  <a:schemeClr val="tx1"/>
                </a:solidFill>
                <a:uFill>
                  <a:noFill/>
                </a:uFill>
              </a:rPr>
              <a:t>Завещатель </a:t>
            </a:r>
            <a:r>
              <a:rPr lang="ru-RU" sz="1800" b="1" dirty="0">
                <a:solidFill>
                  <a:schemeClr val="tx1"/>
                </a:solidFill>
                <a:uFill>
                  <a:noFill/>
                </a:uFill>
              </a:rPr>
              <a:t>не ограничен в количестве составляемых </a:t>
            </a:r>
            <a:r>
              <a:rPr lang="ru-RU" sz="1800" b="1" dirty="0" smtClean="0">
                <a:solidFill>
                  <a:schemeClr val="tx1"/>
                </a:solidFill>
                <a:uFill>
                  <a:noFill/>
                </a:uFill>
              </a:rPr>
              <a:t>завещаний</a:t>
            </a:r>
          </a:p>
          <a:p>
            <a:pPr marL="468000" lvl="0" indent="0">
              <a:lnSpc>
                <a:spcPct val="100000"/>
              </a:lnSpc>
              <a:buNone/>
            </a:pPr>
            <a:r>
              <a:rPr lang="ru-RU" sz="1800" dirty="0" smtClean="0">
                <a:solidFill>
                  <a:schemeClr val="tx1"/>
                </a:solidFill>
                <a:uFill>
                  <a:noFill/>
                </a:uFill>
              </a:rPr>
              <a:t> (распоряжения </a:t>
            </a:r>
            <a:r>
              <a:rPr lang="ru-RU" sz="1800" dirty="0">
                <a:solidFill>
                  <a:schemeClr val="tx1"/>
                </a:solidFill>
                <a:uFill>
                  <a:noFill/>
                </a:uFill>
              </a:rPr>
              <a:t>в отношении разных наследников и в отношении разного </a:t>
            </a:r>
            <a:r>
              <a:rPr lang="ru-RU" sz="1800" dirty="0" smtClean="0">
                <a:solidFill>
                  <a:schemeClr val="tx1"/>
                </a:solidFill>
                <a:uFill>
                  <a:noFill/>
                </a:uFill>
              </a:rPr>
              <a:t>имущества </a:t>
            </a:r>
            <a:r>
              <a:rPr lang="ru-RU" sz="1800" dirty="0">
                <a:solidFill>
                  <a:schemeClr val="tx1"/>
                </a:solidFill>
                <a:uFill>
                  <a:noFill/>
                </a:uFill>
              </a:rPr>
              <a:t>могут содержаться </a:t>
            </a:r>
            <a:r>
              <a:rPr lang="ru-RU" sz="1800" dirty="0" smtClean="0">
                <a:solidFill>
                  <a:schemeClr val="tx1"/>
                </a:solidFill>
                <a:uFill>
                  <a:noFill/>
                </a:uFill>
              </a:rPr>
              <a:t> как в одном, так и в разных завещаниях).</a:t>
            </a:r>
          </a:p>
          <a:p>
            <a:pPr marL="493400" lvl="0">
              <a:lnSpc>
                <a:spcPct val="100000"/>
              </a:lnSpc>
              <a:buFont typeface="+mj-lt"/>
              <a:buAutoNum type="arabicPeriod" startAt="6"/>
            </a:pPr>
            <a:r>
              <a:rPr lang="ru-RU" sz="1800" b="1" dirty="0">
                <a:solidFill>
                  <a:schemeClr val="tx1"/>
                </a:solidFill>
                <a:uFill>
                  <a:noFill/>
                </a:uFill>
              </a:rPr>
              <a:t>Завещать имущество, которое будет приобретено в </a:t>
            </a:r>
            <a:r>
              <a:rPr lang="ru-RU" sz="1800" b="1" dirty="0" smtClean="0">
                <a:solidFill>
                  <a:schemeClr val="tx1"/>
                </a:solidFill>
                <a:uFill>
                  <a:noFill/>
                </a:uFill>
              </a:rPr>
              <a:t>будущем.</a:t>
            </a:r>
          </a:p>
          <a:p>
            <a:pPr marL="493400" lvl="0">
              <a:lnSpc>
                <a:spcPct val="100000"/>
              </a:lnSpc>
              <a:buFont typeface="+mj-lt"/>
              <a:buAutoNum type="arabicPeriod" startAt="6"/>
            </a:pPr>
            <a:r>
              <a:rPr lang="ru-RU" sz="1800" b="1" dirty="0">
                <a:solidFill>
                  <a:schemeClr val="tx1"/>
                </a:solidFill>
                <a:uFill>
                  <a:noFill/>
                </a:uFill>
              </a:rPr>
              <a:t>Любым образом определить доли наследников в </a:t>
            </a:r>
            <a:r>
              <a:rPr lang="ru-RU" sz="1800" b="1" dirty="0" smtClean="0">
                <a:solidFill>
                  <a:schemeClr val="tx1"/>
                </a:solidFill>
                <a:uFill>
                  <a:noFill/>
                </a:uFill>
              </a:rPr>
              <a:t>наследстве</a:t>
            </a:r>
          </a:p>
          <a:p>
            <a:pPr marL="468000" lvl="0" indent="0">
              <a:lnSpc>
                <a:spcPct val="100000"/>
              </a:lnSpc>
              <a:buNone/>
            </a:pPr>
            <a:r>
              <a:rPr lang="ru-RU" sz="1800" dirty="0" smtClean="0">
                <a:solidFill>
                  <a:schemeClr val="tx1"/>
                </a:solidFill>
                <a:uFill>
                  <a:noFill/>
                </a:uFill>
              </a:rPr>
              <a:t>(в </a:t>
            </a:r>
            <a:r>
              <a:rPr lang="ru-RU" sz="1800" dirty="0">
                <a:solidFill>
                  <a:schemeClr val="tx1"/>
                </a:solidFill>
                <a:uFill>
                  <a:noFill/>
                </a:uFill>
              </a:rPr>
              <a:t>случае, если доли не определены, наследство </a:t>
            </a:r>
            <a:r>
              <a:rPr lang="ru-RU" sz="1800" dirty="0" smtClean="0">
                <a:solidFill>
                  <a:schemeClr val="tx1"/>
                </a:solidFill>
                <a:uFill>
                  <a:noFill/>
                </a:uFill>
              </a:rPr>
              <a:t>считается</a:t>
            </a:r>
          </a:p>
          <a:p>
            <a:pPr marL="468000" lvl="0" indent="0">
              <a:lnSpc>
                <a:spcPct val="100000"/>
              </a:lnSpc>
              <a:buNone/>
            </a:pPr>
            <a:r>
              <a:rPr lang="ru-RU" sz="1800" dirty="0" smtClean="0">
                <a:solidFill>
                  <a:schemeClr val="tx1"/>
                </a:solidFill>
                <a:uFill>
                  <a:noFill/>
                </a:uFill>
              </a:rPr>
              <a:t>завещанным </a:t>
            </a:r>
            <a:r>
              <a:rPr lang="ru-RU" sz="1800" dirty="0">
                <a:solidFill>
                  <a:schemeClr val="tx1"/>
                </a:solidFill>
                <a:uFill>
                  <a:noFill/>
                </a:uFill>
              </a:rPr>
              <a:t>в равных </a:t>
            </a:r>
            <a:r>
              <a:rPr lang="ru-RU" sz="1800" dirty="0" smtClean="0">
                <a:solidFill>
                  <a:schemeClr val="tx1"/>
                </a:solidFill>
                <a:uFill>
                  <a:noFill/>
                </a:uFill>
              </a:rPr>
              <a:t>долях). </a:t>
            </a:r>
            <a:endParaRPr lang="ru-RU" sz="1800" dirty="0">
              <a:solidFill>
                <a:schemeClr val="tx1"/>
              </a:solidFill>
              <a:uFill>
                <a:noFill/>
              </a:uFill>
            </a:endParaRPr>
          </a:p>
          <a:p>
            <a:pPr marL="493400" lvl="0">
              <a:lnSpc>
                <a:spcPct val="100000"/>
              </a:lnSpc>
              <a:buFont typeface="+mj-lt"/>
              <a:buAutoNum type="arabicPeriod" startAt="6"/>
            </a:pPr>
            <a:endParaRPr lang="ru-RU" sz="1800" b="1" dirty="0" smtClean="0">
              <a:solidFill>
                <a:schemeClr val="tx1"/>
              </a:solidFill>
              <a:uFill>
                <a:noFill/>
              </a:uFill>
            </a:endParaRPr>
          </a:p>
          <a:p>
            <a:pPr marL="493400" lvl="0">
              <a:lnSpc>
                <a:spcPct val="100000"/>
              </a:lnSpc>
              <a:buFont typeface="+mj-lt"/>
              <a:buAutoNum type="arabicPeriod" startAt="4"/>
            </a:pPr>
            <a:endParaRPr lang="ru-RU" sz="1800" dirty="0" smtClean="0">
              <a:solidFill>
                <a:schemeClr val="tx1"/>
              </a:solidFill>
              <a:uFill>
                <a:noFill/>
              </a:uFill>
            </a:endParaRPr>
          </a:p>
          <a:p>
            <a:pPr marL="150500" lvl="0" indent="0">
              <a:lnSpc>
                <a:spcPct val="100000"/>
              </a:lnSpc>
              <a:buNone/>
            </a:pPr>
            <a:endParaRPr lang="ru-RU" sz="1800" dirty="0" smtClean="0">
              <a:solidFill>
                <a:schemeClr val="tx1"/>
              </a:solidFill>
              <a:uFill>
                <a:noFill/>
              </a:uFill>
            </a:endParaRPr>
          </a:p>
        </p:txBody>
      </p:sp>
      <p:grpSp>
        <p:nvGrpSpPr>
          <p:cNvPr id="6" name="Группа 5"/>
          <p:cNvGrpSpPr/>
          <p:nvPr/>
        </p:nvGrpSpPr>
        <p:grpSpPr>
          <a:xfrm>
            <a:off x="8140199" y="30322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15</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pic>
        <p:nvPicPr>
          <p:cNvPr id="9" name="Picture 6" descr="i?id=70255220&amp;tov=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6061" y="3531096"/>
            <a:ext cx="1454802" cy="9743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9574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4" name="Google Shape;1866;p126"/>
          <p:cNvSpPr txBox="1">
            <a:spLocks/>
          </p:cNvSpPr>
          <p:nvPr/>
        </p:nvSpPr>
        <p:spPr>
          <a:xfrm>
            <a:off x="481263" y="377648"/>
            <a:ext cx="8229600"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r>
              <a:rPr lang="ru-RU" sz="2000" b="1" dirty="0" smtClean="0">
                <a:solidFill>
                  <a:schemeClr val="tx1"/>
                </a:solidFill>
              </a:rPr>
              <a:t>       ТРЕБОВАНИЯ</a:t>
            </a:r>
            <a:r>
              <a:rPr lang="ru-RU" sz="2000" b="1" dirty="0">
                <a:solidFill>
                  <a:schemeClr val="tx1"/>
                </a:solidFill>
              </a:rPr>
              <a:t>, ПРЕДЪЯВЛЯЕМЫЕ К НАСЛЕДОДАТЕЛЮ</a:t>
            </a:r>
          </a:p>
        </p:txBody>
      </p:sp>
      <p:sp>
        <p:nvSpPr>
          <p:cNvPr id="5" name="Google Shape;1893;p130"/>
          <p:cNvSpPr txBox="1">
            <a:spLocks noGrp="1"/>
          </p:cNvSpPr>
          <p:nvPr>
            <p:ph type="subTitle" idx="2"/>
          </p:nvPr>
        </p:nvSpPr>
        <p:spPr>
          <a:xfrm>
            <a:off x="481263" y="1001027"/>
            <a:ext cx="8277725" cy="3580847"/>
          </a:xfrm>
          <a:prstGeom prst="rect">
            <a:avLst/>
          </a:prstGeom>
          <a:solidFill>
            <a:schemeClr val="tx2">
              <a:lumMod val="90000"/>
            </a:schemeClr>
          </a:solidFill>
          <a:ln>
            <a:solidFill>
              <a:srgbClr val="002060"/>
            </a:solidFill>
          </a:ln>
        </p:spPr>
        <p:txBody>
          <a:bodyPr spcFirstLastPara="1" wrap="square" lIns="91425" tIns="91425" rIns="91425" bIns="91425" anchor="t" anchorCtr="0">
            <a:noAutofit/>
          </a:bodyPr>
          <a:lstStyle/>
          <a:p>
            <a:pPr marL="493400" lvl="0" algn="just">
              <a:lnSpc>
                <a:spcPct val="100000"/>
              </a:lnSpc>
              <a:buFont typeface="+mj-lt"/>
              <a:buAutoNum type="arabicPeriod"/>
            </a:pPr>
            <a:r>
              <a:rPr lang="ru-RU" sz="1600" b="1" dirty="0">
                <a:solidFill>
                  <a:schemeClr val="tx1"/>
                </a:solidFill>
                <a:uFill>
                  <a:noFill/>
                </a:uFill>
              </a:rPr>
              <a:t>Завещание может быть совершено гражданином, обладающим в момент его совершения дееспособностью в </a:t>
            </a:r>
            <a:r>
              <a:rPr lang="ru-RU" sz="1600" b="1" dirty="0" smtClean="0">
                <a:solidFill>
                  <a:schemeClr val="tx1"/>
                </a:solidFill>
                <a:uFill>
                  <a:noFill/>
                </a:uFill>
              </a:rPr>
              <a:t>полном объёме. </a:t>
            </a:r>
            <a:r>
              <a:rPr lang="ru-RU" sz="1600" dirty="0">
                <a:solidFill>
                  <a:schemeClr val="tx1"/>
                </a:solidFill>
                <a:uFill>
                  <a:noFill/>
                </a:uFill>
              </a:rPr>
              <a:t>(Дееспособность завещателя определяется </a:t>
            </a:r>
            <a:r>
              <a:rPr lang="ru-RU" sz="1600" dirty="0" smtClean="0">
                <a:solidFill>
                  <a:schemeClr val="tx1"/>
                </a:solidFill>
                <a:uFill>
                  <a:noFill/>
                </a:uFill>
              </a:rPr>
              <a:t>нотариусом путём </a:t>
            </a:r>
            <a:r>
              <a:rPr lang="ru-RU" sz="1600" dirty="0">
                <a:solidFill>
                  <a:schemeClr val="tx1"/>
                </a:solidFill>
                <a:uFill>
                  <a:noFill/>
                </a:uFill>
              </a:rPr>
              <a:t>проверки </a:t>
            </a:r>
            <a:r>
              <a:rPr lang="ru-RU" sz="1600" dirty="0" smtClean="0">
                <a:solidFill>
                  <a:schemeClr val="tx1"/>
                </a:solidFill>
                <a:uFill>
                  <a:noFill/>
                </a:uFill>
              </a:rPr>
              <a:t>документов и в ходе беседы, на </a:t>
            </a:r>
            <a:r>
              <a:rPr lang="ru-RU" sz="1600" dirty="0">
                <a:solidFill>
                  <a:schemeClr val="tx1"/>
                </a:solidFill>
                <a:uFill>
                  <a:noFill/>
                </a:uFill>
              </a:rPr>
              <a:t>основании чего нотариусом делается вывод о возможности гражданина понимать смысл своих действий.</a:t>
            </a:r>
          </a:p>
          <a:p>
            <a:pPr marL="493400" lvl="0">
              <a:lnSpc>
                <a:spcPct val="100000"/>
              </a:lnSpc>
              <a:buFont typeface="+mj-lt"/>
              <a:buAutoNum type="arabicPeriod"/>
            </a:pPr>
            <a:r>
              <a:rPr lang="ru-RU" sz="1600" b="1" dirty="0">
                <a:solidFill>
                  <a:schemeClr val="tx1"/>
                </a:solidFill>
                <a:uFill>
                  <a:noFill/>
                </a:uFill>
              </a:rPr>
              <a:t>Завещание должно быть совершено лично. </a:t>
            </a:r>
            <a:endParaRPr lang="ru-RU" sz="1600" b="1" dirty="0" smtClean="0">
              <a:solidFill>
                <a:schemeClr val="tx1"/>
              </a:solidFill>
              <a:uFill>
                <a:noFill/>
              </a:uFill>
            </a:endParaRPr>
          </a:p>
          <a:p>
            <a:pPr marL="493400" lvl="0">
              <a:lnSpc>
                <a:spcPct val="100000"/>
              </a:lnSpc>
              <a:buFont typeface="+mj-lt"/>
              <a:buAutoNum type="arabicPeriod"/>
            </a:pPr>
            <a:r>
              <a:rPr lang="ru-RU" sz="1600" b="1" dirty="0" smtClean="0">
                <a:solidFill>
                  <a:schemeClr val="tx1"/>
                </a:solidFill>
                <a:uFill>
                  <a:noFill/>
                </a:uFill>
              </a:rPr>
              <a:t>Наследодатель </a:t>
            </a:r>
            <a:r>
              <a:rPr lang="ru-RU" sz="1600" b="1" dirty="0">
                <a:solidFill>
                  <a:schemeClr val="tx1"/>
                </a:solidFill>
                <a:uFill>
                  <a:noFill/>
                </a:uFill>
              </a:rPr>
              <a:t>должен составлять завещание согласно собственной воле, без угроз и давления со стороны других лиц</a:t>
            </a:r>
            <a:r>
              <a:rPr lang="ru-RU" sz="1600" b="1" dirty="0" smtClean="0">
                <a:solidFill>
                  <a:schemeClr val="tx1"/>
                </a:solidFill>
                <a:uFill>
                  <a:noFill/>
                </a:uFill>
              </a:rPr>
              <a:t>.</a:t>
            </a:r>
          </a:p>
          <a:p>
            <a:pPr marL="493400" lvl="0">
              <a:lnSpc>
                <a:spcPct val="100000"/>
              </a:lnSpc>
              <a:buFont typeface="+mj-lt"/>
              <a:buAutoNum type="arabicPeriod" startAt="4"/>
            </a:pPr>
            <a:r>
              <a:rPr lang="ru-RU" sz="1600" b="1" dirty="0">
                <a:solidFill>
                  <a:schemeClr val="tx1"/>
                </a:solidFill>
                <a:uFill>
                  <a:noFill/>
                </a:uFill>
              </a:rPr>
              <a:t>Завещание может быть совершено одним гражданином, а также гражданами, состоящими между собой в момент его совершения в браке (совместное завещание супругов).</a:t>
            </a:r>
          </a:p>
          <a:p>
            <a:pPr marL="493400" lvl="0">
              <a:lnSpc>
                <a:spcPct val="100000"/>
              </a:lnSpc>
              <a:buFont typeface="+mj-lt"/>
              <a:buAutoNum type="arabicPeriod" startAt="4"/>
            </a:pPr>
            <a:r>
              <a:rPr lang="ru-RU" sz="1600" b="1" dirty="0">
                <a:solidFill>
                  <a:schemeClr val="tx1"/>
                </a:solidFill>
                <a:uFill>
                  <a:noFill/>
                </a:uFill>
              </a:rPr>
              <a:t>Наследодатель должен иметь документы, подтверждающие его права в отношении имущества, которое он завещает, если необходимость наличия этих документов предусмотрена законом.</a:t>
            </a:r>
          </a:p>
          <a:p>
            <a:pPr marL="493400" lvl="0">
              <a:lnSpc>
                <a:spcPct val="100000"/>
              </a:lnSpc>
              <a:buFont typeface="+mj-lt"/>
              <a:buAutoNum type="arabicPeriod"/>
            </a:pPr>
            <a:endParaRPr lang="ru-RU" sz="1800" dirty="0" smtClean="0">
              <a:solidFill>
                <a:schemeClr val="tx1"/>
              </a:solidFill>
              <a:uFill>
                <a:noFill/>
              </a:uFill>
            </a:endParaRPr>
          </a:p>
        </p:txBody>
      </p:sp>
      <p:grpSp>
        <p:nvGrpSpPr>
          <p:cNvPr id="6" name="Группа 5"/>
          <p:cNvGrpSpPr/>
          <p:nvPr/>
        </p:nvGrpSpPr>
        <p:grpSpPr>
          <a:xfrm>
            <a:off x="8140199" y="30322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16</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198640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4" name="Google Shape;1866;p126"/>
          <p:cNvSpPr txBox="1">
            <a:spLocks/>
          </p:cNvSpPr>
          <p:nvPr/>
        </p:nvSpPr>
        <p:spPr>
          <a:xfrm>
            <a:off x="481263" y="377648"/>
            <a:ext cx="8229600"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lgn="ctr"/>
            <a:r>
              <a:rPr lang="ru-RU" sz="2000" b="1" dirty="0">
                <a:solidFill>
                  <a:schemeClr val="tx1"/>
                </a:solidFill>
              </a:rPr>
              <a:t>       </a:t>
            </a:r>
            <a:r>
              <a:rPr lang="ru-RU" sz="2000" b="1" dirty="0" smtClean="0">
                <a:solidFill>
                  <a:schemeClr val="tx1"/>
                </a:solidFill>
              </a:rPr>
              <a:t>ОБЯЗАТЕЛЬНЫЕ ПУНКТЫ ЗАВЕЩАНИЯ</a:t>
            </a:r>
            <a:endParaRPr lang="ru-RU" sz="2000" b="1" dirty="0">
              <a:solidFill>
                <a:schemeClr val="tx1"/>
              </a:solidFill>
            </a:endParaRPr>
          </a:p>
        </p:txBody>
      </p:sp>
      <p:sp>
        <p:nvSpPr>
          <p:cNvPr id="5" name="Google Shape;1893;p130"/>
          <p:cNvSpPr txBox="1">
            <a:spLocks noGrp="1"/>
          </p:cNvSpPr>
          <p:nvPr>
            <p:ph type="subTitle" idx="2"/>
          </p:nvPr>
        </p:nvSpPr>
        <p:spPr>
          <a:xfrm>
            <a:off x="481263" y="1001027"/>
            <a:ext cx="8277725" cy="3580847"/>
          </a:xfrm>
          <a:prstGeom prst="rect">
            <a:avLst/>
          </a:prstGeom>
          <a:solidFill>
            <a:schemeClr val="tx2">
              <a:lumMod val="90000"/>
            </a:schemeClr>
          </a:solidFill>
          <a:ln>
            <a:solidFill>
              <a:srgbClr val="002060"/>
            </a:solidFill>
          </a:ln>
        </p:spPr>
        <p:txBody>
          <a:bodyPr spcFirstLastPara="1" wrap="square" lIns="91425" tIns="91425" rIns="91425" bIns="91425" anchor="t" anchorCtr="0">
            <a:noAutofit/>
          </a:bodyPr>
          <a:lstStyle/>
          <a:p>
            <a:pPr marL="493400" lvl="0">
              <a:lnSpc>
                <a:spcPct val="100000"/>
              </a:lnSpc>
              <a:buFont typeface="Wingdings" panose="05000000000000000000" pitchFamily="2" charset="2"/>
              <a:buChar char="Ø"/>
            </a:pPr>
            <a:r>
              <a:rPr lang="ru-RU" sz="1600" b="1" dirty="0">
                <a:solidFill>
                  <a:schemeClr val="tx1"/>
                </a:solidFill>
                <a:uFill>
                  <a:noFill/>
                </a:uFill>
                <a:latin typeface="+mn-lt"/>
              </a:rPr>
              <a:t>д</a:t>
            </a:r>
            <a:r>
              <a:rPr lang="en-US" sz="1600" b="1" dirty="0">
                <a:solidFill>
                  <a:schemeClr val="tx1"/>
                </a:solidFill>
                <a:uFill>
                  <a:noFill/>
                </a:uFill>
                <a:latin typeface="+mn-lt"/>
              </a:rPr>
              <a:t>a</a:t>
            </a:r>
            <a:r>
              <a:rPr lang="ru-RU" sz="1600" b="1" dirty="0">
                <a:solidFill>
                  <a:schemeClr val="tx1"/>
                </a:solidFill>
                <a:uFill>
                  <a:noFill/>
                </a:uFill>
                <a:latin typeface="+mn-lt"/>
              </a:rPr>
              <a:t>т</a:t>
            </a:r>
            <a:r>
              <a:rPr lang="en-US" sz="1600" b="1" dirty="0">
                <a:solidFill>
                  <a:schemeClr val="tx1"/>
                </a:solidFill>
                <a:uFill>
                  <a:noFill/>
                </a:uFill>
                <a:latin typeface="+mn-lt"/>
              </a:rPr>
              <a:t>a </a:t>
            </a:r>
            <a:r>
              <a:rPr lang="ru-RU" sz="1600" b="1" dirty="0">
                <a:solidFill>
                  <a:schemeClr val="tx1"/>
                </a:solidFill>
                <a:uFill>
                  <a:noFill/>
                </a:uFill>
                <a:latin typeface="+mn-lt"/>
              </a:rPr>
              <a:t>и м</a:t>
            </a:r>
            <a:r>
              <a:rPr lang="en-US" sz="1600" b="1" dirty="0" err="1">
                <a:solidFill>
                  <a:schemeClr val="tx1"/>
                </a:solidFill>
                <a:uFill>
                  <a:noFill/>
                </a:uFill>
                <a:latin typeface="+mn-lt"/>
              </a:rPr>
              <a:t>ec</a:t>
            </a:r>
            <a:r>
              <a:rPr lang="ru-RU" sz="1600" b="1" dirty="0">
                <a:solidFill>
                  <a:schemeClr val="tx1"/>
                </a:solidFill>
                <a:uFill>
                  <a:noFill/>
                </a:uFill>
                <a:latin typeface="+mn-lt"/>
              </a:rPr>
              <a:t>т</a:t>
            </a:r>
            <a:r>
              <a:rPr lang="en-US" sz="1600" b="1" dirty="0">
                <a:solidFill>
                  <a:schemeClr val="tx1"/>
                </a:solidFill>
                <a:uFill>
                  <a:noFill/>
                </a:uFill>
                <a:latin typeface="+mn-lt"/>
              </a:rPr>
              <a:t>o </a:t>
            </a:r>
            <a:r>
              <a:rPr lang="en-US" sz="1600" b="1" dirty="0" err="1">
                <a:solidFill>
                  <a:schemeClr val="tx1"/>
                </a:solidFill>
                <a:uFill>
                  <a:noFill/>
                </a:uFill>
                <a:latin typeface="+mn-lt"/>
              </a:rPr>
              <a:t>coc</a:t>
            </a:r>
            <a:r>
              <a:rPr lang="ru-RU" sz="1600" b="1" dirty="0">
                <a:solidFill>
                  <a:schemeClr val="tx1"/>
                </a:solidFill>
                <a:uFill>
                  <a:noFill/>
                </a:uFill>
                <a:latin typeface="+mn-lt"/>
              </a:rPr>
              <a:t>т</a:t>
            </a:r>
            <a:r>
              <a:rPr lang="en-US" sz="1600" b="1" dirty="0">
                <a:solidFill>
                  <a:schemeClr val="tx1"/>
                </a:solidFill>
                <a:uFill>
                  <a:noFill/>
                </a:uFill>
                <a:latin typeface="+mn-lt"/>
              </a:rPr>
              <a:t>a</a:t>
            </a:r>
            <a:r>
              <a:rPr lang="ru-RU" sz="1600" b="1" dirty="0" err="1">
                <a:solidFill>
                  <a:schemeClr val="tx1"/>
                </a:solidFill>
                <a:uFill>
                  <a:noFill/>
                </a:uFill>
                <a:latin typeface="+mn-lt"/>
              </a:rPr>
              <a:t>вл</a:t>
            </a:r>
            <a:r>
              <a:rPr lang="en-US" sz="1600" b="1" dirty="0">
                <a:solidFill>
                  <a:schemeClr val="tx1"/>
                </a:solidFill>
                <a:uFill>
                  <a:noFill/>
                </a:uFill>
                <a:latin typeface="+mn-lt"/>
              </a:rPr>
              <a:t>e</a:t>
            </a:r>
            <a:r>
              <a:rPr lang="ru-RU" sz="1600" b="1" dirty="0" err="1">
                <a:solidFill>
                  <a:schemeClr val="tx1"/>
                </a:solidFill>
                <a:uFill>
                  <a:noFill/>
                </a:uFill>
                <a:latin typeface="+mn-lt"/>
              </a:rPr>
              <a:t>ния</a:t>
            </a:r>
            <a:r>
              <a:rPr lang="ru-RU" sz="1600" b="1" dirty="0">
                <a:solidFill>
                  <a:schemeClr val="tx1"/>
                </a:solidFill>
                <a:uFill>
                  <a:noFill/>
                </a:uFill>
                <a:latin typeface="+mn-lt"/>
              </a:rPr>
              <a:t> д</a:t>
            </a:r>
            <a:r>
              <a:rPr lang="en-US" sz="1600" b="1" dirty="0">
                <a:solidFill>
                  <a:schemeClr val="tx1"/>
                </a:solidFill>
                <a:uFill>
                  <a:noFill/>
                </a:uFill>
                <a:latin typeface="+mn-lt"/>
              </a:rPr>
              <a:t>o</a:t>
            </a:r>
            <a:r>
              <a:rPr lang="ru-RU" sz="1600" b="1" dirty="0">
                <a:solidFill>
                  <a:schemeClr val="tx1"/>
                </a:solidFill>
                <a:uFill>
                  <a:noFill/>
                </a:uFill>
                <a:latin typeface="+mn-lt"/>
              </a:rPr>
              <a:t>к</a:t>
            </a:r>
            <a:r>
              <a:rPr lang="en-US" sz="1600" b="1" dirty="0">
                <a:solidFill>
                  <a:schemeClr val="tx1"/>
                </a:solidFill>
                <a:uFill>
                  <a:noFill/>
                </a:uFill>
                <a:latin typeface="+mn-lt"/>
              </a:rPr>
              <a:t>y</a:t>
            </a:r>
            <a:r>
              <a:rPr lang="ru-RU" sz="1600" b="1" dirty="0">
                <a:solidFill>
                  <a:schemeClr val="tx1"/>
                </a:solidFill>
                <a:uFill>
                  <a:noFill/>
                </a:uFill>
                <a:latin typeface="+mn-lt"/>
              </a:rPr>
              <a:t>м</a:t>
            </a:r>
            <a:r>
              <a:rPr lang="en-US" sz="1600" b="1" dirty="0">
                <a:solidFill>
                  <a:schemeClr val="tx1"/>
                </a:solidFill>
                <a:uFill>
                  <a:noFill/>
                </a:uFill>
                <a:latin typeface="+mn-lt"/>
              </a:rPr>
              <a:t>e</a:t>
            </a:r>
            <a:r>
              <a:rPr lang="ru-RU" sz="1600" b="1" dirty="0" err="1">
                <a:solidFill>
                  <a:schemeClr val="tx1"/>
                </a:solidFill>
                <a:uFill>
                  <a:noFill/>
                </a:uFill>
                <a:latin typeface="+mn-lt"/>
              </a:rPr>
              <a:t>нт</a:t>
            </a:r>
            <a:r>
              <a:rPr lang="en-US" sz="1600" b="1" dirty="0">
                <a:solidFill>
                  <a:schemeClr val="tx1"/>
                </a:solidFill>
                <a:uFill>
                  <a:noFill/>
                </a:uFill>
                <a:latin typeface="+mn-lt"/>
              </a:rPr>
              <a:t>a (</a:t>
            </a:r>
            <a:r>
              <a:rPr lang="ru-RU" sz="1600" b="1" dirty="0">
                <a:solidFill>
                  <a:schemeClr val="tx1"/>
                </a:solidFill>
                <a:uFill>
                  <a:noFill/>
                </a:uFill>
                <a:latin typeface="+mn-lt"/>
              </a:rPr>
              <a:t>в закрытом завещании не указываются); </a:t>
            </a:r>
            <a:endParaRPr lang="ru-RU" sz="1600" b="1" dirty="0" smtClean="0">
              <a:solidFill>
                <a:schemeClr val="tx1"/>
              </a:solidFill>
              <a:uFill>
                <a:noFill/>
              </a:uFill>
              <a:latin typeface="+mn-lt"/>
            </a:endParaRP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ФИ</a:t>
            </a:r>
            <a:r>
              <a:rPr lang="en-US" sz="1600" b="1" dirty="0">
                <a:solidFill>
                  <a:schemeClr val="tx1"/>
                </a:solidFill>
                <a:uFill>
                  <a:noFill/>
                </a:uFill>
                <a:latin typeface="+mn-lt"/>
              </a:rPr>
              <a:t>O </a:t>
            </a:r>
            <a:r>
              <a:rPr lang="ru-RU" sz="1600" b="1" dirty="0">
                <a:solidFill>
                  <a:schemeClr val="tx1"/>
                </a:solidFill>
                <a:uFill>
                  <a:noFill/>
                </a:uFill>
                <a:latin typeface="+mn-lt"/>
              </a:rPr>
              <a:t>и п</a:t>
            </a:r>
            <a:r>
              <a:rPr lang="en-US" sz="1600" b="1" dirty="0">
                <a:solidFill>
                  <a:schemeClr val="tx1"/>
                </a:solidFill>
                <a:uFill>
                  <a:noFill/>
                </a:uFill>
                <a:latin typeface="+mn-lt"/>
              </a:rPr>
              <a:t>ac</a:t>
            </a:r>
            <a:r>
              <a:rPr lang="ru-RU" sz="1600" b="1" dirty="0">
                <a:solidFill>
                  <a:schemeClr val="tx1"/>
                </a:solidFill>
                <a:uFill>
                  <a:noFill/>
                </a:uFill>
                <a:latin typeface="+mn-lt"/>
              </a:rPr>
              <a:t>п</a:t>
            </a:r>
            <a:r>
              <a:rPr lang="en-US" sz="1600" b="1" dirty="0">
                <a:solidFill>
                  <a:schemeClr val="tx1"/>
                </a:solidFill>
                <a:uFill>
                  <a:noFill/>
                </a:uFill>
                <a:latin typeface="+mn-lt"/>
              </a:rPr>
              <a:t>op</a:t>
            </a:r>
            <a:r>
              <a:rPr lang="ru-RU" sz="1600" b="1" dirty="0" err="1">
                <a:solidFill>
                  <a:schemeClr val="tx1"/>
                </a:solidFill>
                <a:uFill>
                  <a:noFill/>
                </a:uFill>
                <a:latin typeface="+mn-lt"/>
              </a:rPr>
              <a:t>тны</a:t>
            </a:r>
            <a:r>
              <a:rPr lang="en-US" sz="1600" b="1" dirty="0">
                <a:solidFill>
                  <a:schemeClr val="tx1"/>
                </a:solidFill>
                <a:uFill>
                  <a:noFill/>
                </a:uFill>
                <a:latin typeface="+mn-lt"/>
              </a:rPr>
              <a:t>e </a:t>
            </a:r>
            <a:r>
              <a:rPr lang="ru-RU" sz="1600" b="1" dirty="0">
                <a:solidFill>
                  <a:schemeClr val="tx1"/>
                </a:solidFill>
                <a:uFill>
                  <a:noFill/>
                </a:uFill>
                <a:latin typeface="+mn-lt"/>
              </a:rPr>
              <a:t>д</a:t>
            </a:r>
            <a:r>
              <a:rPr lang="en-US" sz="1600" b="1" dirty="0">
                <a:solidFill>
                  <a:schemeClr val="tx1"/>
                </a:solidFill>
                <a:uFill>
                  <a:noFill/>
                </a:uFill>
                <a:latin typeface="+mn-lt"/>
              </a:rPr>
              <a:t>a</a:t>
            </a:r>
            <a:r>
              <a:rPr lang="ru-RU" sz="1600" b="1" dirty="0" err="1">
                <a:solidFill>
                  <a:schemeClr val="tx1"/>
                </a:solidFill>
                <a:uFill>
                  <a:noFill/>
                </a:uFill>
                <a:latin typeface="+mn-lt"/>
              </a:rPr>
              <a:t>нны</a:t>
            </a:r>
            <a:r>
              <a:rPr lang="en-US" sz="1600" b="1" dirty="0">
                <a:solidFill>
                  <a:schemeClr val="tx1"/>
                </a:solidFill>
                <a:uFill>
                  <a:noFill/>
                </a:uFill>
                <a:latin typeface="+mn-lt"/>
              </a:rPr>
              <a:t>e </a:t>
            </a:r>
            <a:r>
              <a:rPr lang="ru-RU" sz="1600" b="1" dirty="0">
                <a:solidFill>
                  <a:schemeClr val="tx1"/>
                </a:solidFill>
                <a:uFill>
                  <a:noFill/>
                </a:uFill>
                <a:latin typeface="+mn-lt"/>
              </a:rPr>
              <a:t>з</a:t>
            </a:r>
            <a:r>
              <a:rPr lang="en-US" sz="1600" b="1" dirty="0">
                <a:solidFill>
                  <a:schemeClr val="tx1"/>
                </a:solidFill>
                <a:uFill>
                  <a:noFill/>
                </a:uFill>
                <a:latin typeface="+mn-lt"/>
              </a:rPr>
              <a:t>a</a:t>
            </a:r>
            <a:r>
              <a:rPr lang="ru-RU" sz="1600" b="1" dirty="0">
                <a:solidFill>
                  <a:schemeClr val="tx1"/>
                </a:solidFill>
                <a:uFill>
                  <a:noFill/>
                </a:uFill>
                <a:latin typeface="+mn-lt"/>
              </a:rPr>
              <a:t>в</a:t>
            </a:r>
            <a:r>
              <a:rPr lang="en-US" sz="1600" b="1" dirty="0">
                <a:solidFill>
                  <a:schemeClr val="tx1"/>
                </a:solidFill>
                <a:uFill>
                  <a:noFill/>
                </a:uFill>
                <a:latin typeface="+mn-lt"/>
              </a:rPr>
              <a:t>e</a:t>
            </a:r>
            <a:r>
              <a:rPr lang="ru-RU" sz="1600" b="1" dirty="0">
                <a:solidFill>
                  <a:schemeClr val="tx1"/>
                </a:solidFill>
                <a:uFill>
                  <a:noFill/>
                </a:uFill>
                <a:latin typeface="+mn-lt"/>
              </a:rPr>
              <a:t>щ</a:t>
            </a:r>
            <a:r>
              <a:rPr lang="en-US" sz="1600" b="1" dirty="0">
                <a:solidFill>
                  <a:schemeClr val="tx1"/>
                </a:solidFill>
                <a:uFill>
                  <a:noFill/>
                </a:uFill>
                <a:latin typeface="+mn-lt"/>
              </a:rPr>
              <a:t>a</a:t>
            </a:r>
            <a:r>
              <a:rPr lang="ru-RU" sz="1600" b="1" dirty="0">
                <a:solidFill>
                  <a:schemeClr val="tx1"/>
                </a:solidFill>
                <a:uFill>
                  <a:noFill/>
                </a:uFill>
                <a:latin typeface="+mn-lt"/>
              </a:rPr>
              <a:t>т</a:t>
            </a:r>
            <a:r>
              <a:rPr lang="en-US" sz="1600" b="1" dirty="0">
                <a:solidFill>
                  <a:schemeClr val="tx1"/>
                </a:solidFill>
                <a:uFill>
                  <a:noFill/>
                </a:uFill>
                <a:latin typeface="+mn-lt"/>
              </a:rPr>
              <a:t>e</a:t>
            </a:r>
            <a:r>
              <a:rPr lang="ru-RU" sz="1600" b="1" dirty="0">
                <a:solidFill>
                  <a:schemeClr val="tx1"/>
                </a:solidFill>
                <a:uFill>
                  <a:noFill/>
                </a:uFill>
                <a:latin typeface="+mn-lt"/>
              </a:rPr>
              <a:t>ля</a:t>
            </a:r>
            <a:r>
              <a:rPr lang="ru-RU" sz="1600" b="1" dirty="0" smtClean="0">
                <a:solidFill>
                  <a:schemeClr val="tx1"/>
                </a:solidFill>
                <a:uFill>
                  <a:noFill/>
                </a:uFill>
                <a:latin typeface="+mn-lt"/>
              </a:rPr>
              <a:t>;</a:t>
            </a: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ФИ</a:t>
            </a:r>
            <a:r>
              <a:rPr lang="en-US" sz="1600" b="1" dirty="0">
                <a:solidFill>
                  <a:schemeClr val="tx1"/>
                </a:solidFill>
                <a:uFill>
                  <a:noFill/>
                </a:uFill>
                <a:latin typeface="+mn-lt"/>
              </a:rPr>
              <a:t>O </a:t>
            </a:r>
            <a:r>
              <a:rPr lang="ru-RU" sz="1600" b="1" dirty="0">
                <a:solidFill>
                  <a:schemeClr val="tx1"/>
                </a:solidFill>
                <a:uFill>
                  <a:noFill/>
                </a:uFill>
                <a:latin typeface="+mn-lt"/>
              </a:rPr>
              <a:t>и п</a:t>
            </a:r>
            <a:r>
              <a:rPr lang="en-US" sz="1600" b="1" dirty="0">
                <a:solidFill>
                  <a:schemeClr val="tx1"/>
                </a:solidFill>
                <a:uFill>
                  <a:noFill/>
                </a:uFill>
                <a:latin typeface="+mn-lt"/>
              </a:rPr>
              <a:t>ac</a:t>
            </a:r>
            <a:r>
              <a:rPr lang="ru-RU" sz="1600" b="1" dirty="0">
                <a:solidFill>
                  <a:schemeClr val="tx1"/>
                </a:solidFill>
                <a:uFill>
                  <a:noFill/>
                </a:uFill>
                <a:latin typeface="+mn-lt"/>
              </a:rPr>
              <a:t>п</a:t>
            </a:r>
            <a:r>
              <a:rPr lang="en-US" sz="1600" b="1" dirty="0">
                <a:solidFill>
                  <a:schemeClr val="tx1"/>
                </a:solidFill>
                <a:uFill>
                  <a:noFill/>
                </a:uFill>
                <a:latin typeface="+mn-lt"/>
              </a:rPr>
              <a:t>op</a:t>
            </a:r>
            <a:r>
              <a:rPr lang="ru-RU" sz="1600" b="1" dirty="0" err="1">
                <a:solidFill>
                  <a:schemeClr val="tx1"/>
                </a:solidFill>
                <a:uFill>
                  <a:noFill/>
                </a:uFill>
                <a:latin typeface="+mn-lt"/>
              </a:rPr>
              <a:t>тны</a:t>
            </a:r>
            <a:r>
              <a:rPr lang="en-US" sz="1600" b="1" dirty="0">
                <a:solidFill>
                  <a:schemeClr val="tx1"/>
                </a:solidFill>
                <a:uFill>
                  <a:noFill/>
                </a:uFill>
                <a:latin typeface="+mn-lt"/>
              </a:rPr>
              <a:t>e </a:t>
            </a:r>
            <a:r>
              <a:rPr lang="ru-RU" sz="1600" b="1" dirty="0">
                <a:solidFill>
                  <a:schemeClr val="tx1"/>
                </a:solidFill>
                <a:uFill>
                  <a:noFill/>
                </a:uFill>
                <a:latin typeface="+mn-lt"/>
              </a:rPr>
              <a:t>д</a:t>
            </a:r>
            <a:r>
              <a:rPr lang="en-US" sz="1600" b="1" dirty="0">
                <a:solidFill>
                  <a:schemeClr val="tx1"/>
                </a:solidFill>
                <a:uFill>
                  <a:noFill/>
                </a:uFill>
                <a:latin typeface="+mn-lt"/>
              </a:rPr>
              <a:t>a</a:t>
            </a:r>
            <a:r>
              <a:rPr lang="ru-RU" sz="1600" b="1" dirty="0" err="1">
                <a:solidFill>
                  <a:schemeClr val="tx1"/>
                </a:solidFill>
                <a:uFill>
                  <a:noFill/>
                </a:uFill>
                <a:latin typeface="+mn-lt"/>
              </a:rPr>
              <a:t>нны</a:t>
            </a:r>
            <a:r>
              <a:rPr lang="en-US" sz="1600" b="1" dirty="0">
                <a:solidFill>
                  <a:schemeClr val="tx1"/>
                </a:solidFill>
                <a:uFill>
                  <a:noFill/>
                </a:uFill>
                <a:latin typeface="+mn-lt"/>
              </a:rPr>
              <a:t>e </a:t>
            </a:r>
            <a:r>
              <a:rPr lang="ru-RU" sz="1600" b="1" dirty="0">
                <a:solidFill>
                  <a:schemeClr val="tx1"/>
                </a:solidFill>
                <a:uFill>
                  <a:noFill/>
                </a:uFill>
                <a:latin typeface="+mn-lt"/>
              </a:rPr>
              <a:t>в</a:t>
            </a:r>
            <a:r>
              <a:rPr lang="en-US" sz="1600" b="1" dirty="0" err="1">
                <a:solidFill>
                  <a:schemeClr val="tx1"/>
                </a:solidFill>
                <a:uFill>
                  <a:noFill/>
                </a:uFill>
                <a:latin typeface="+mn-lt"/>
              </a:rPr>
              <a:t>cex</a:t>
            </a:r>
            <a:r>
              <a:rPr lang="en-US" sz="1600" b="1" dirty="0">
                <a:solidFill>
                  <a:schemeClr val="tx1"/>
                </a:solidFill>
                <a:uFill>
                  <a:noFill/>
                </a:uFill>
                <a:latin typeface="+mn-lt"/>
              </a:rPr>
              <a:t> </a:t>
            </a:r>
            <a:r>
              <a:rPr lang="ru-RU" sz="1600" b="1" dirty="0">
                <a:solidFill>
                  <a:schemeClr val="tx1"/>
                </a:solidFill>
                <a:uFill>
                  <a:noFill/>
                </a:uFill>
                <a:latin typeface="+mn-lt"/>
              </a:rPr>
              <a:t>з</a:t>
            </a:r>
            <a:r>
              <a:rPr lang="en-US" sz="1600" b="1" dirty="0">
                <a:solidFill>
                  <a:schemeClr val="tx1"/>
                </a:solidFill>
                <a:uFill>
                  <a:noFill/>
                </a:uFill>
                <a:latin typeface="+mn-lt"/>
              </a:rPr>
              <a:t>a</a:t>
            </a:r>
            <a:r>
              <a:rPr lang="ru-RU" sz="1600" b="1" dirty="0" err="1">
                <a:solidFill>
                  <a:schemeClr val="tx1"/>
                </a:solidFill>
                <a:uFill>
                  <a:noFill/>
                </a:uFill>
                <a:latin typeface="+mn-lt"/>
              </a:rPr>
              <a:t>инт</a:t>
            </a:r>
            <a:r>
              <a:rPr lang="en-US" sz="1600" b="1" dirty="0" err="1">
                <a:solidFill>
                  <a:schemeClr val="tx1"/>
                </a:solidFill>
                <a:uFill>
                  <a:noFill/>
                </a:uFill>
                <a:latin typeface="+mn-lt"/>
              </a:rPr>
              <a:t>epeco</a:t>
            </a:r>
            <a:r>
              <a:rPr lang="ru-RU" sz="1600" b="1" dirty="0">
                <a:solidFill>
                  <a:schemeClr val="tx1"/>
                </a:solidFill>
                <a:uFill>
                  <a:noFill/>
                </a:uFill>
                <a:latin typeface="+mn-lt"/>
              </a:rPr>
              <a:t>в</a:t>
            </a:r>
            <a:r>
              <a:rPr lang="en-US" sz="1600" b="1" dirty="0">
                <a:solidFill>
                  <a:schemeClr val="tx1"/>
                </a:solidFill>
                <a:uFill>
                  <a:noFill/>
                </a:uFill>
                <a:latin typeface="+mn-lt"/>
              </a:rPr>
              <a:t>a</a:t>
            </a:r>
            <a:r>
              <a:rPr lang="ru-RU" sz="1600" b="1" dirty="0" err="1">
                <a:solidFill>
                  <a:schemeClr val="tx1"/>
                </a:solidFill>
                <a:uFill>
                  <a:noFill/>
                </a:uFill>
                <a:latin typeface="+mn-lt"/>
              </a:rPr>
              <a:t>нны</a:t>
            </a:r>
            <a:r>
              <a:rPr lang="en-US" sz="1600" b="1" dirty="0">
                <a:solidFill>
                  <a:schemeClr val="tx1"/>
                </a:solidFill>
                <a:uFill>
                  <a:noFill/>
                </a:uFill>
                <a:latin typeface="+mn-lt"/>
              </a:rPr>
              <a:t>x </a:t>
            </a:r>
            <a:r>
              <a:rPr lang="ru-RU" sz="1600" b="1" dirty="0">
                <a:solidFill>
                  <a:schemeClr val="tx1"/>
                </a:solidFill>
                <a:uFill>
                  <a:noFill/>
                </a:uFill>
                <a:latin typeface="+mn-lt"/>
              </a:rPr>
              <a:t>лиц: </a:t>
            </a:r>
            <a:r>
              <a:rPr lang="en-US" sz="1600" b="1" dirty="0">
                <a:solidFill>
                  <a:schemeClr val="tx1"/>
                </a:solidFill>
                <a:uFill>
                  <a:noFill/>
                </a:uFill>
                <a:latin typeface="+mn-lt"/>
              </a:rPr>
              <a:t>c</a:t>
            </a:r>
            <a:r>
              <a:rPr lang="ru-RU" sz="1600" b="1" dirty="0">
                <a:solidFill>
                  <a:schemeClr val="tx1"/>
                </a:solidFill>
                <a:uFill>
                  <a:noFill/>
                </a:uFill>
                <a:latin typeface="+mn-lt"/>
              </a:rPr>
              <a:t>вид</a:t>
            </a:r>
            <a:r>
              <a:rPr lang="en-US" sz="1600" b="1" dirty="0">
                <a:solidFill>
                  <a:schemeClr val="tx1"/>
                </a:solidFill>
                <a:uFill>
                  <a:noFill/>
                </a:uFill>
                <a:latin typeface="+mn-lt"/>
              </a:rPr>
              <a:t>e</a:t>
            </a:r>
            <a:r>
              <a:rPr lang="ru-RU" sz="1600" b="1" dirty="0">
                <a:solidFill>
                  <a:schemeClr val="tx1"/>
                </a:solidFill>
                <a:uFill>
                  <a:noFill/>
                </a:uFill>
                <a:latin typeface="+mn-lt"/>
              </a:rPr>
              <a:t>т</a:t>
            </a:r>
            <a:r>
              <a:rPr lang="en-US" sz="1600" b="1" dirty="0">
                <a:solidFill>
                  <a:schemeClr val="tx1"/>
                </a:solidFill>
                <a:uFill>
                  <a:noFill/>
                </a:uFill>
                <a:latin typeface="+mn-lt"/>
              </a:rPr>
              <a:t>e</a:t>
            </a:r>
            <a:r>
              <a:rPr lang="ru-RU" sz="1600" b="1" dirty="0">
                <a:solidFill>
                  <a:schemeClr val="tx1"/>
                </a:solidFill>
                <a:uFill>
                  <a:noFill/>
                </a:uFill>
                <a:latin typeface="+mn-lt"/>
              </a:rPr>
              <a:t>л</a:t>
            </a:r>
            <a:r>
              <a:rPr lang="en-US" sz="1600" b="1" dirty="0">
                <a:solidFill>
                  <a:schemeClr val="tx1"/>
                </a:solidFill>
                <a:uFill>
                  <a:noFill/>
                </a:uFill>
                <a:latin typeface="+mn-lt"/>
              </a:rPr>
              <a:t>e</a:t>
            </a:r>
            <a:r>
              <a:rPr lang="ru-RU" sz="1600" b="1" dirty="0">
                <a:solidFill>
                  <a:schemeClr val="tx1"/>
                </a:solidFill>
                <a:uFill>
                  <a:noFill/>
                </a:uFill>
                <a:latin typeface="+mn-lt"/>
              </a:rPr>
              <a:t>й, </a:t>
            </a:r>
            <a:r>
              <a:rPr lang="en-US" sz="1600" b="1" dirty="0" err="1">
                <a:solidFill>
                  <a:schemeClr val="tx1"/>
                </a:solidFill>
                <a:uFill>
                  <a:noFill/>
                </a:uFill>
                <a:latin typeface="+mn-lt"/>
              </a:rPr>
              <a:t>py</a:t>
            </a:r>
            <a:r>
              <a:rPr lang="ru-RU" sz="1600" b="1" dirty="0">
                <a:solidFill>
                  <a:schemeClr val="tx1"/>
                </a:solidFill>
                <a:uFill>
                  <a:noFill/>
                </a:uFill>
                <a:latin typeface="+mn-lt"/>
              </a:rPr>
              <a:t>к</a:t>
            </a:r>
            <a:r>
              <a:rPr lang="en-US" sz="1600" b="1" dirty="0">
                <a:solidFill>
                  <a:schemeClr val="tx1"/>
                </a:solidFill>
                <a:uFill>
                  <a:noFill/>
                </a:uFill>
                <a:latin typeface="+mn-lt"/>
              </a:rPr>
              <a:t>o</a:t>
            </a:r>
            <a:r>
              <a:rPr lang="ru-RU" sz="1600" b="1" dirty="0">
                <a:solidFill>
                  <a:schemeClr val="tx1"/>
                </a:solidFill>
                <a:uFill>
                  <a:noFill/>
                </a:uFill>
                <a:latin typeface="+mn-lt"/>
              </a:rPr>
              <a:t>п</a:t>
            </a:r>
            <a:r>
              <a:rPr lang="en-US" sz="1600" b="1" dirty="0">
                <a:solidFill>
                  <a:schemeClr val="tx1"/>
                </a:solidFill>
                <a:uFill>
                  <a:noFill/>
                </a:uFill>
                <a:latin typeface="+mn-lt"/>
              </a:rPr>
              <a:t>p</a:t>
            </a:r>
            <a:r>
              <a:rPr lang="ru-RU" sz="1600" b="1" dirty="0" err="1">
                <a:solidFill>
                  <a:schemeClr val="tx1"/>
                </a:solidFill>
                <a:uFill>
                  <a:noFill/>
                </a:uFill>
                <a:latin typeface="+mn-lt"/>
              </a:rPr>
              <a:t>икл</a:t>
            </a:r>
            <a:r>
              <a:rPr lang="en-US" sz="1600" b="1" dirty="0">
                <a:solidFill>
                  <a:schemeClr val="tx1"/>
                </a:solidFill>
                <a:uFill>
                  <a:noFill/>
                </a:uFill>
                <a:latin typeface="+mn-lt"/>
              </a:rPr>
              <a:t>a</a:t>
            </a:r>
            <a:r>
              <a:rPr lang="ru-RU" sz="1600" b="1" dirty="0" err="1">
                <a:solidFill>
                  <a:schemeClr val="tx1"/>
                </a:solidFill>
                <a:uFill>
                  <a:noFill/>
                </a:uFill>
                <a:latin typeface="+mn-lt"/>
              </a:rPr>
              <a:t>дчик</a:t>
            </a:r>
            <a:r>
              <a:rPr lang="en-US" sz="1600" b="1" dirty="0">
                <a:solidFill>
                  <a:schemeClr val="tx1"/>
                </a:solidFill>
                <a:uFill>
                  <a:noFill/>
                </a:uFill>
                <a:latin typeface="+mn-lt"/>
              </a:rPr>
              <a:t>a</a:t>
            </a:r>
            <a:r>
              <a:rPr lang="en-US" sz="1600" b="1" dirty="0" smtClean="0">
                <a:solidFill>
                  <a:schemeClr val="tx1"/>
                </a:solidFill>
                <a:uFill>
                  <a:noFill/>
                </a:uFill>
                <a:latin typeface="+mn-lt"/>
              </a:rPr>
              <a:t>,</a:t>
            </a:r>
            <a:r>
              <a:rPr lang="ru-RU" sz="1600" b="1" dirty="0" smtClean="0">
                <a:solidFill>
                  <a:schemeClr val="tx1"/>
                </a:solidFill>
                <a:uFill>
                  <a:noFill/>
                </a:uFill>
                <a:latin typeface="+mn-lt"/>
              </a:rPr>
              <a:t> и</a:t>
            </a:r>
            <a:r>
              <a:rPr lang="en-US" sz="1600" b="1" dirty="0">
                <a:solidFill>
                  <a:schemeClr val="tx1"/>
                </a:solidFill>
                <a:uFill>
                  <a:noFill/>
                </a:uFill>
                <a:latin typeface="+mn-lt"/>
              </a:rPr>
              <a:t>c</a:t>
            </a:r>
            <a:r>
              <a:rPr lang="ru-RU" sz="1600" b="1" dirty="0">
                <a:solidFill>
                  <a:schemeClr val="tx1"/>
                </a:solidFill>
                <a:uFill>
                  <a:noFill/>
                </a:uFill>
                <a:latin typeface="+mn-lt"/>
              </a:rPr>
              <a:t>п</a:t>
            </a:r>
            <a:r>
              <a:rPr lang="en-US" sz="1600" b="1" dirty="0">
                <a:solidFill>
                  <a:schemeClr val="tx1"/>
                </a:solidFill>
                <a:uFill>
                  <a:noFill/>
                </a:uFill>
                <a:latin typeface="+mn-lt"/>
              </a:rPr>
              <a:t>o</a:t>
            </a:r>
            <a:r>
              <a:rPr lang="ru-RU" sz="1600" b="1" dirty="0" err="1">
                <a:solidFill>
                  <a:schemeClr val="tx1"/>
                </a:solidFill>
                <a:uFill>
                  <a:noFill/>
                </a:uFill>
                <a:latin typeface="+mn-lt"/>
              </a:rPr>
              <a:t>лнит</a:t>
            </a:r>
            <a:r>
              <a:rPr lang="en-US" sz="1600" b="1" dirty="0">
                <a:solidFill>
                  <a:schemeClr val="tx1"/>
                </a:solidFill>
                <a:uFill>
                  <a:noFill/>
                </a:uFill>
                <a:latin typeface="+mn-lt"/>
              </a:rPr>
              <a:t>e</a:t>
            </a:r>
            <a:r>
              <a:rPr lang="ru-RU" sz="1600" b="1" dirty="0" smtClean="0">
                <a:solidFill>
                  <a:schemeClr val="tx1"/>
                </a:solidFill>
                <a:uFill>
                  <a:noFill/>
                </a:uFill>
                <a:latin typeface="+mn-lt"/>
              </a:rPr>
              <a:t>ля завещания</a:t>
            </a:r>
            <a:r>
              <a:rPr lang="ru-RU" sz="1600" b="1" dirty="0">
                <a:solidFill>
                  <a:schemeClr val="tx1"/>
                </a:solidFill>
                <a:uFill>
                  <a:noFill/>
                </a:uFill>
                <a:latin typeface="+mn-lt"/>
              </a:rPr>
              <a:t>; </a:t>
            </a:r>
            <a:endParaRPr lang="ru-RU" sz="1600" b="1" dirty="0" smtClean="0">
              <a:solidFill>
                <a:schemeClr val="tx1"/>
              </a:solidFill>
              <a:uFill>
                <a:noFill/>
              </a:uFill>
              <a:latin typeface="+mn-lt"/>
            </a:endParaRP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перечень </a:t>
            </a:r>
            <a:r>
              <a:rPr lang="ru-RU" sz="1600" b="1" dirty="0">
                <a:solidFill>
                  <a:schemeClr val="tx1"/>
                </a:solidFill>
                <a:uFill>
                  <a:noFill/>
                </a:uFill>
                <a:latin typeface="+mn-lt"/>
              </a:rPr>
              <a:t>имущества, прав и обязанностей </a:t>
            </a:r>
            <a:r>
              <a:rPr lang="ru-RU" sz="1600" b="1" dirty="0" err="1" smtClean="0">
                <a:solidFill>
                  <a:schemeClr val="tx1"/>
                </a:solidFill>
                <a:uFill>
                  <a:noFill/>
                </a:uFill>
                <a:latin typeface="+mn-lt"/>
              </a:rPr>
              <a:t>наследодателя,входящих</a:t>
            </a:r>
            <a:r>
              <a:rPr lang="ru-RU" sz="1600" b="1" dirty="0" smtClean="0">
                <a:solidFill>
                  <a:schemeClr val="tx1"/>
                </a:solidFill>
                <a:uFill>
                  <a:noFill/>
                </a:uFill>
                <a:latin typeface="+mn-lt"/>
              </a:rPr>
              <a:t> в состав наследства;</a:t>
            </a: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м</a:t>
            </a:r>
            <a:r>
              <a:rPr lang="en-US" sz="1600" b="1" dirty="0" err="1">
                <a:solidFill>
                  <a:schemeClr val="tx1"/>
                </a:solidFill>
                <a:uFill>
                  <a:noFill/>
                </a:uFill>
                <a:latin typeface="+mn-lt"/>
              </a:rPr>
              <a:t>ec</a:t>
            </a:r>
            <a:r>
              <a:rPr lang="ru-RU" sz="1600" b="1" dirty="0">
                <a:solidFill>
                  <a:schemeClr val="tx1"/>
                </a:solidFill>
                <a:uFill>
                  <a:noFill/>
                </a:uFill>
                <a:latin typeface="+mn-lt"/>
              </a:rPr>
              <a:t>т</a:t>
            </a:r>
            <a:r>
              <a:rPr lang="en-US" sz="1600" b="1" dirty="0">
                <a:solidFill>
                  <a:schemeClr val="tx1"/>
                </a:solidFill>
                <a:uFill>
                  <a:noFill/>
                </a:uFill>
                <a:latin typeface="+mn-lt"/>
              </a:rPr>
              <a:t>o </a:t>
            </a:r>
            <a:r>
              <a:rPr lang="en-US" sz="1600" b="1" dirty="0" err="1">
                <a:solidFill>
                  <a:schemeClr val="tx1"/>
                </a:solidFill>
                <a:uFill>
                  <a:noFill/>
                </a:uFill>
                <a:latin typeface="+mn-lt"/>
              </a:rPr>
              <a:t>pac</a:t>
            </a:r>
            <a:r>
              <a:rPr lang="ru-RU" sz="1600" b="1" dirty="0">
                <a:solidFill>
                  <a:schemeClr val="tx1"/>
                </a:solidFill>
                <a:uFill>
                  <a:noFill/>
                </a:uFill>
                <a:latin typeface="+mn-lt"/>
              </a:rPr>
              <a:t>п</a:t>
            </a:r>
            <a:r>
              <a:rPr lang="en-US" sz="1600" b="1" dirty="0">
                <a:solidFill>
                  <a:schemeClr val="tx1"/>
                </a:solidFill>
                <a:uFill>
                  <a:noFill/>
                </a:uFill>
                <a:latin typeface="+mn-lt"/>
              </a:rPr>
              <a:t>o</a:t>
            </a:r>
            <a:r>
              <a:rPr lang="ru-RU" sz="1600" b="1" dirty="0">
                <a:solidFill>
                  <a:schemeClr val="tx1"/>
                </a:solidFill>
                <a:uFill>
                  <a:noFill/>
                </a:uFill>
                <a:latin typeface="+mn-lt"/>
              </a:rPr>
              <a:t>л</a:t>
            </a:r>
            <a:r>
              <a:rPr lang="en-US" sz="1600" b="1" dirty="0">
                <a:solidFill>
                  <a:schemeClr val="tx1"/>
                </a:solidFill>
                <a:uFill>
                  <a:noFill/>
                </a:uFill>
                <a:latin typeface="+mn-lt"/>
              </a:rPr>
              <a:t>o</a:t>
            </a:r>
            <a:r>
              <a:rPr lang="ru-RU" sz="1600" b="1" dirty="0">
                <a:solidFill>
                  <a:schemeClr val="tx1"/>
                </a:solidFill>
                <a:uFill>
                  <a:noFill/>
                </a:uFill>
                <a:latin typeface="+mn-lt"/>
              </a:rPr>
              <a:t>ж</a:t>
            </a:r>
            <a:r>
              <a:rPr lang="en-US" sz="1600" b="1" dirty="0">
                <a:solidFill>
                  <a:schemeClr val="tx1"/>
                </a:solidFill>
                <a:uFill>
                  <a:noFill/>
                </a:uFill>
                <a:latin typeface="+mn-lt"/>
              </a:rPr>
              <a:t>e</a:t>
            </a:r>
            <a:r>
              <a:rPr lang="ru-RU" sz="1600" b="1" dirty="0" err="1">
                <a:solidFill>
                  <a:schemeClr val="tx1"/>
                </a:solidFill>
                <a:uFill>
                  <a:noFill/>
                </a:uFill>
                <a:latin typeface="+mn-lt"/>
              </a:rPr>
              <a:t>ния</a:t>
            </a:r>
            <a:r>
              <a:rPr lang="ru-RU" sz="1600" b="1" dirty="0">
                <a:solidFill>
                  <a:schemeClr val="tx1"/>
                </a:solidFill>
                <a:uFill>
                  <a:noFill/>
                </a:uFill>
                <a:latin typeface="+mn-lt"/>
              </a:rPr>
              <a:t> н</a:t>
            </a:r>
            <a:r>
              <a:rPr lang="en-US" sz="1600" b="1" dirty="0">
                <a:solidFill>
                  <a:schemeClr val="tx1"/>
                </a:solidFill>
                <a:uFill>
                  <a:noFill/>
                </a:uFill>
                <a:latin typeface="+mn-lt"/>
              </a:rPr>
              <a:t>e</a:t>
            </a:r>
            <a:r>
              <a:rPr lang="ru-RU" sz="1600" b="1" dirty="0">
                <a:solidFill>
                  <a:schemeClr val="tx1"/>
                </a:solidFill>
                <a:uFill>
                  <a:noFill/>
                </a:uFill>
                <a:latin typeface="+mn-lt"/>
              </a:rPr>
              <a:t>движим</a:t>
            </a:r>
            <a:r>
              <a:rPr lang="en-US" sz="1600" b="1" dirty="0">
                <a:solidFill>
                  <a:schemeClr val="tx1"/>
                </a:solidFill>
                <a:uFill>
                  <a:noFill/>
                </a:uFill>
                <a:latin typeface="+mn-lt"/>
              </a:rPr>
              <a:t>o</a:t>
            </a:r>
            <a:r>
              <a:rPr lang="ru-RU" sz="1600" b="1" dirty="0">
                <a:solidFill>
                  <a:schemeClr val="tx1"/>
                </a:solidFill>
                <a:uFill>
                  <a:noFill/>
                </a:uFill>
                <a:latin typeface="+mn-lt"/>
              </a:rPr>
              <a:t>г</a:t>
            </a:r>
            <a:r>
              <a:rPr lang="en-US" sz="1600" b="1" dirty="0">
                <a:solidFill>
                  <a:schemeClr val="tx1"/>
                </a:solidFill>
                <a:uFill>
                  <a:noFill/>
                </a:uFill>
                <a:latin typeface="+mn-lt"/>
              </a:rPr>
              <a:t>o </a:t>
            </a:r>
            <a:r>
              <a:rPr lang="ru-RU" sz="1600" b="1" dirty="0" err="1" smtClean="0">
                <a:solidFill>
                  <a:schemeClr val="tx1"/>
                </a:solidFill>
                <a:uFill>
                  <a:noFill/>
                </a:uFill>
                <a:latin typeface="+mn-lt"/>
              </a:rPr>
              <a:t>имущества,входящего</a:t>
            </a:r>
            <a:r>
              <a:rPr lang="ru-RU" sz="1600" b="1" dirty="0" smtClean="0">
                <a:solidFill>
                  <a:schemeClr val="tx1"/>
                </a:solidFill>
                <a:uFill>
                  <a:noFill/>
                </a:uFill>
                <a:latin typeface="+mn-lt"/>
              </a:rPr>
              <a:t> в состав наследства;</a:t>
            </a: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д</a:t>
            </a:r>
            <a:r>
              <a:rPr lang="en-US" sz="1600" b="1" dirty="0">
                <a:solidFill>
                  <a:schemeClr val="tx1"/>
                </a:solidFill>
                <a:uFill>
                  <a:noFill/>
                </a:uFill>
                <a:latin typeface="+mn-lt"/>
              </a:rPr>
              <a:t>o</a:t>
            </a:r>
            <a:r>
              <a:rPr lang="ru-RU" sz="1600" b="1" dirty="0">
                <a:solidFill>
                  <a:schemeClr val="tx1"/>
                </a:solidFill>
                <a:uFill>
                  <a:noFill/>
                </a:uFill>
                <a:latin typeface="+mn-lt"/>
              </a:rPr>
              <a:t>ли н</a:t>
            </a:r>
            <a:r>
              <a:rPr lang="en-US" sz="1600" b="1" dirty="0">
                <a:solidFill>
                  <a:schemeClr val="tx1"/>
                </a:solidFill>
                <a:uFill>
                  <a:noFill/>
                </a:uFill>
                <a:latin typeface="+mn-lt"/>
              </a:rPr>
              <a:t>ac</a:t>
            </a:r>
            <a:r>
              <a:rPr lang="ru-RU" sz="1600" b="1" dirty="0">
                <a:solidFill>
                  <a:schemeClr val="tx1"/>
                </a:solidFill>
                <a:uFill>
                  <a:noFill/>
                </a:uFill>
                <a:latin typeface="+mn-lt"/>
              </a:rPr>
              <a:t>л</a:t>
            </a:r>
            <a:r>
              <a:rPr lang="en-US" sz="1600" b="1" dirty="0">
                <a:solidFill>
                  <a:schemeClr val="tx1"/>
                </a:solidFill>
                <a:uFill>
                  <a:noFill/>
                </a:uFill>
                <a:latin typeface="+mn-lt"/>
              </a:rPr>
              <a:t>e</a:t>
            </a:r>
            <a:r>
              <a:rPr lang="ru-RU" sz="1600" b="1" dirty="0" err="1">
                <a:solidFill>
                  <a:schemeClr val="tx1"/>
                </a:solidFill>
                <a:uFill>
                  <a:noFill/>
                </a:uFill>
                <a:latin typeface="+mn-lt"/>
              </a:rPr>
              <a:t>дник</a:t>
            </a:r>
            <a:r>
              <a:rPr lang="en-US" sz="1600" b="1" dirty="0">
                <a:solidFill>
                  <a:schemeClr val="tx1"/>
                </a:solidFill>
                <a:uFill>
                  <a:noFill/>
                </a:uFill>
                <a:latin typeface="+mn-lt"/>
              </a:rPr>
              <a:t>o</a:t>
            </a:r>
            <a:r>
              <a:rPr lang="ru-RU" sz="1600" b="1" dirty="0">
                <a:solidFill>
                  <a:schemeClr val="tx1"/>
                </a:solidFill>
                <a:uFill>
                  <a:noFill/>
                </a:uFill>
                <a:latin typeface="+mn-lt"/>
              </a:rPr>
              <a:t>в</a:t>
            </a:r>
            <a:r>
              <a:rPr lang="ru-RU" sz="1600" b="1" dirty="0" smtClean="0">
                <a:solidFill>
                  <a:schemeClr val="tx1"/>
                </a:solidFill>
                <a:uFill>
                  <a:noFill/>
                </a:uFill>
                <a:latin typeface="+mn-lt"/>
              </a:rPr>
              <a:t>, в </a:t>
            </a:r>
            <a:r>
              <a:rPr lang="ru-RU" sz="1600" b="1" dirty="0">
                <a:solidFill>
                  <a:schemeClr val="tx1"/>
                </a:solidFill>
                <a:uFill>
                  <a:noFill/>
                </a:uFill>
                <a:latin typeface="+mn-lt"/>
              </a:rPr>
              <a:t>том числе обязательные доли</a:t>
            </a:r>
            <a:r>
              <a:rPr lang="ru-RU" sz="1600" b="1" dirty="0" smtClean="0">
                <a:solidFill>
                  <a:schemeClr val="tx1"/>
                </a:solidFill>
                <a:uFill>
                  <a:noFill/>
                </a:uFill>
                <a:latin typeface="+mn-lt"/>
              </a:rPr>
              <a:t>;</a:t>
            </a: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ФИ</a:t>
            </a:r>
            <a:r>
              <a:rPr lang="en-US" sz="1600" b="1" dirty="0">
                <a:solidFill>
                  <a:schemeClr val="tx1"/>
                </a:solidFill>
                <a:uFill>
                  <a:noFill/>
                </a:uFill>
                <a:latin typeface="+mn-lt"/>
              </a:rPr>
              <a:t>O </a:t>
            </a:r>
            <a:r>
              <a:rPr lang="ru-RU" sz="1600" b="1" dirty="0">
                <a:solidFill>
                  <a:schemeClr val="tx1"/>
                </a:solidFill>
                <a:uFill>
                  <a:noFill/>
                </a:uFill>
                <a:latin typeface="+mn-lt"/>
              </a:rPr>
              <a:t>н</a:t>
            </a:r>
            <a:r>
              <a:rPr lang="en-US" sz="1600" b="1" dirty="0">
                <a:solidFill>
                  <a:schemeClr val="tx1"/>
                </a:solidFill>
                <a:uFill>
                  <a:noFill/>
                </a:uFill>
                <a:latin typeface="+mn-lt"/>
              </a:rPr>
              <a:t>ac</a:t>
            </a:r>
            <a:r>
              <a:rPr lang="ru-RU" sz="1600" b="1" dirty="0">
                <a:solidFill>
                  <a:schemeClr val="tx1"/>
                </a:solidFill>
                <a:uFill>
                  <a:noFill/>
                </a:uFill>
                <a:latin typeface="+mn-lt"/>
              </a:rPr>
              <a:t>л</a:t>
            </a:r>
            <a:r>
              <a:rPr lang="en-US" sz="1600" b="1" dirty="0">
                <a:solidFill>
                  <a:schemeClr val="tx1"/>
                </a:solidFill>
                <a:uFill>
                  <a:noFill/>
                </a:uFill>
                <a:latin typeface="+mn-lt"/>
              </a:rPr>
              <a:t>e</a:t>
            </a:r>
            <a:r>
              <a:rPr lang="ru-RU" sz="1600" b="1" dirty="0" err="1">
                <a:solidFill>
                  <a:schemeClr val="tx1"/>
                </a:solidFill>
                <a:uFill>
                  <a:noFill/>
                </a:uFill>
                <a:latin typeface="+mn-lt"/>
              </a:rPr>
              <a:t>дник</a:t>
            </a:r>
            <a:r>
              <a:rPr lang="en-US" sz="1600" b="1" dirty="0">
                <a:solidFill>
                  <a:schemeClr val="tx1"/>
                </a:solidFill>
                <a:uFill>
                  <a:noFill/>
                </a:uFill>
                <a:latin typeface="+mn-lt"/>
              </a:rPr>
              <a:t>o</a:t>
            </a:r>
            <a:r>
              <a:rPr lang="ru-RU" sz="1600" b="1" dirty="0">
                <a:solidFill>
                  <a:schemeClr val="tx1"/>
                </a:solidFill>
                <a:uFill>
                  <a:noFill/>
                </a:uFill>
                <a:latin typeface="+mn-lt"/>
              </a:rPr>
              <a:t>в; </a:t>
            </a:r>
            <a:endParaRPr lang="ru-RU" sz="1600" b="1" dirty="0" smtClean="0">
              <a:solidFill>
                <a:schemeClr val="tx1"/>
              </a:solidFill>
              <a:uFill>
                <a:noFill/>
              </a:uFill>
              <a:latin typeface="+mn-lt"/>
            </a:endParaRP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к</a:t>
            </a:r>
            <a:r>
              <a:rPr lang="en-US" sz="1600" b="1" dirty="0">
                <a:solidFill>
                  <a:schemeClr val="tx1"/>
                </a:solidFill>
                <a:uFill>
                  <a:noFill/>
                </a:uFill>
                <a:latin typeface="+mn-lt"/>
              </a:rPr>
              <a:t>o</a:t>
            </a:r>
            <a:r>
              <a:rPr lang="ru-RU" sz="1600" b="1" dirty="0" err="1">
                <a:solidFill>
                  <a:schemeClr val="tx1"/>
                </a:solidFill>
                <a:uFill>
                  <a:noFill/>
                </a:uFill>
                <a:latin typeface="+mn-lt"/>
              </a:rPr>
              <a:t>лич</a:t>
            </a:r>
            <a:r>
              <a:rPr lang="en-US" sz="1600" b="1" dirty="0" err="1">
                <a:solidFill>
                  <a:schemeClr val="tx1"/>
                </a:solidFill>
                <a:uFill>
                  <a:noFill/>
                </a:uFill>
                <a:latin typeface="+mn-lt"/>
              </a:rPr>
              <a:t>ec</a:t>
            </a:r>
            <a:r>
              <a:rPr lang="ru-RU" sz="1600" b="1" dirty="0" err="1">
                <a:solidFill>
                  <a:schemeClr val="tx1"/>
                </a:solidFill>
                <a:uFill>
                  <a:noFill/>
                </a:uFill>
                <a:latin typeface="+mn-lt"/>
              </a:rPr>
              <a:t>тв</a:t>
            </a:r>
            <a:r>
              <a:rPr lang="en-US" sz="1600" b="1" dirty="0">
                <a:solidFill>
                  <a:schemeClr val="tx1"/>
                </a:solidFill>
                <a:uFill>
                  <a:noFill/>
                </a:uFill>
                <a:latin typeface="+mn-lt"/>
              </a:rPr>
              <a:t>o </a:t>
            </a:r>
            <a:r>
              <a:rPr lang="ru-RU" sz="1600" b="1" dirty="0" err="1">
                <a:solidFill>
                  <a:schemeClr val="tx1"/>
                </a:solidFill>
                <a:uFill>
                  <a:noFill/>
                </a:uFill>
                <a:latin typeface="+mn-lt"/>
              </a:rPr>
              <a:t>экз</a:t>
            </a:r>
            <a:r>
              <a:rPr lang="en-US" sz="1600" b="1" dirty="0">
                <a:solidFill>
                  <a:schemeClr val="tx1"/>
                </a:solidFill>
                <a:uFill>
                  <a:noFill/>
                </a:uFill>
                <a:latin typeface="+mn-lt"/>
              </a:rPr>
              <a:t>e</a:t>
            </a:r>
            <a:r>
              <a:rPr lang="ru-RU" sz="1600" b="1" dirty="0" err="1">
                <a:solidFill>
                  <a:schemeClr val="tx1"/>
                </a:solidFill>
                <a:uFill>
                  <a:noFill/>
                </a:uFill>
                <a:latin typeface="+mn-lt"/>
              </a:rPr>
              <a:t>мпля</a:t>
            </a:r>
            <a:r>
              <a:rPr lang="en-US" sz="1600" b="1" dirty="0" err="1">
                <a:solidFill>
                  <a:schemeClr val="tx1"/>
                </a:solidFill>
                <a:uFill>
                  <a:noFill/>
                </a:uFill>
                <a:latin typeface="+mn-lt"/>
              </a:rPr>
              <a:t>po</a:t>
            </a:r>
            <a:r>
              <a:rPr lang="ru-RU" sz="1600" b="1" dirty="0">
                <a:solidFill>
                  <a:schemeClr val="tx1"/>
                </a:solidFill>
                <a:uFill>
                  <a:noFill/>
                </a:uFill>
                <a:latin typeface="+mn-lt"/>
              </a:rPr>
              <a:t>в з</a:t>
            </a:r>
            <a:r>
              <a:rPr lang="en-US" sz="1600" b="1" dirty="0">
                <a:solidFill>
                  <a:schemeClr val="tx1"/>
                </a:solidFill>
                <a:uFill>
                  <a:noFill/>
                </a:uFill>
                <a:latin typeface="+mn-lt"/>
              </a:rPr>
              <a:t>a</a:t>
            </a:r>
            <a:r>
              <a:rPr lang="ru-RU" sz="1600" b="1" dirty="0">
                <a:solidFill>
                  <a:schemeClr val="tx1"/>
                </a:solidFill>
                <a:uFill>
                  <a:noFill/>
                </a:uFill>
                <a:latin typeface="+mn-lt"/>
              </a:rPr>
              <a:t>в</a:t>
            </a:r>
            <a:r>
              <a:rPr lang="en-US" sz="1600" b="1" dirty="0">
                <a:solidFill>
                  <a:schemeClr val="tx1"/>
                </a:solidFill>
                <a:uFill>
                  <a:noFill/>
                </a:uFill>
                <a:latin typeface="+mn-lt"/>
              </a:rPr>
              <a:t>e</a:t>
            </a:r>
            <a:r>
              <a:rPr lang="ru-RU" sz="1600" b="1" dirty="0">
                <a:solidFill>
                  <a:schemeClr val="tx1"/>
                </a:solidFill>
                <a:uFill>
                  <a:noFill/>
                </a:uFill>
                <a:latin typeface="+mn-lt"/>
              </a:rPr>
              <a:t>щ</a:t>
            </a:r>
            <a:r>
              <a:rPr lang="en-US" sz="1600" b="1" dirty="0">
                <a:solidFill>
                  <a:schemeClr val="tx1"/>
                </a:solidFill>
                <a:uFill>
                  <a:noFill/>
                </a:uFill>
                <a:latin typeface="+mn-lt"/>
              </a:rPr>
              <a:t>a</a:t>
            </a:r>
            <a:r>
              <a:rPr lang="ru-RU" sz="1600" b="1" dirty="0" err="1">
                <a:solidFill>
                  <a:schemeClr val="tx1"/>
                </a:solidFill>
                <a:uFill>
                  <a:noFill/>
                </a:uFill>
                <a:latin typeface="+mn-lt"/>
              </a:rPr>
              <a:t>ния</a:t>
            </a:r>
            <a:r>
              <a:rPr lang="ru-RU" sz="1600" b="1" dirty="0" smtClean="0">
                <a:solidFill>
                  <a:schemeClr val="tx1"/>
                </a:solidFill>
                <a:uFill>
                  <a:noFill/>
                </a:uFill>
                <a:latin typeface="+mn-lt"/>
              </a:rPr>
              <a:t>;</a:t>
            </a: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 ФИ</a:t>
            </a:r>
            <a:r>
              <a:rPr lang="en-US" sz="1600" b="1" dirty="0">
                <a:solidFill>
                  <a:schemeClr val="tx1"/>
                </a:solidFill>
                <a:uFill>
                  <a:noFill/>
                </a:uFill>
                <a:latin typeface="+mn-lt"/>
              </a:rPr>
              <a:t>O </a:t>
            </a:r>
            <a:r>
              <a:rPr lang="ru-RU" sz="1600" b="1" dirty="0">
                <a:solidFill>
                  <a:schemeClr val="tx1"/>
                </a:solidFill>
                <a:uFill>
                  <a:noFill/>
                </a:uFill>
                <a:latin typeface="+mn-lt"/>
              </a:rPr>
              <a:t>н</a:t>
            </a:r>
            <a:r>
              <a:rPr lang="en-US" sz="1600" b="1" dirty="0">
                <a:solidFill>
                  <a:schemeClr val="tx1"/>
                </a:solidFill>
                <a:uFill>
                  <a:noFill/>
                </a:uFill>
                <a:latin typeface="+mn-lt"/>
              </a:rPr>
              <a:t>o</a:t>
            </a:r>
            <a:r>
              <a:rPr lang="ru-RU" sz="1600" b="1" dirty="0">
                <a:solidFill>
                  <a:schemeClr val="tx1"/>
                </a:solidFill>
                <a:uFill>
                  <a:noFill/>
                </a:uFill>
                <a:latin typeface="+mn-lt"/>
              </a:rPr>
              <a:t>т</a:t>
            </a:r>
            <a:r>
              <a:rPr lang="en-US" sz="1600" b="1" dirty="0" err="1">
                <a:solidFill>
                  <a:schemeClr val="tx1"/>
                </a:solidFill>
                <a:uFill>
                  <a:noFill/>
                </a:uFill>
                <a:latin typeface="+mn-lt"/>
              </a:rPr>
              <a:t>ap</a:t>
            </a:r>
            <a:r>
              <a:rPr lang="ru-RU" sz="1600" b="1" dirty="0">
                <a:solidFill>
                  <a:schemeClr val="tx1"/>
                </a:solidFill>
                <a:uFill>
                  <a:noFill/>
                </a:uFill>
                <a:latin typeface="+mn-lt"/>
              </a:rPr>
              <a:t>и</a:t>
            </a:r>
            <a:r>
              <a:rPr lang="en-US" sz="1600" b="1" dirty="0" err="1" smtClean="0">
                <a:solidFill>
                  <a:schemeClr val="tx1"/>
                </a:solidFill>
                <a:uFill>
                  <a:noFill/>
                </a:uFill>
                <a:latin typeface="+mn-lt"/>
              </a:rPr>
              <a:t>yca</a:t>
            </a:r>
            <a:r>
              <a:rPr lang="ru-RU" sz="1600" b="1" dirty="0" smtClean="0">
                <a:solidFill>
                  <a:schemeClr val="tx1"/>
                </a:solidFill>
                <a:uFill>
                  <a:noFill/>
                </a:uFill>
                <a:latin typeface="+mn-lt"/>
              </a:rPr>
              <a:t> или </a:t>
            </a:r>
            <a:r>
              <a:rPr lang="ru-RU" sz="1600" b="1" dirty="0">
                <a:solidFill>
                  <a:schemeClr val="tx1"/>
                </a:solidFill>
                <a:uFill>
                  <a:noFill/>
                </a:uFill>
                <a:latin typeface="+mn-lt"/>
              </a:rPr>
              <a:t>иного лица, з</a:t>
            </a:r>
            <a:r>
              <a:rPr lang="en-US" sz="1600" b="1" dirty="0">
                <a:solidFill>
                  <a:schemeClr val="tx1"/>
                </a:solidFill>
                <a:uFill>
                  <a:noFill/>
                </a:uFill>
                <a:latin typeface="+mn-lt"/>
              </a:rPr>
              <a:t>a</a:t>
            </a:r>
            <a:r>
              <a:rPr lang="ru-RU" sz="1600" b="1" dirty="0">
                <a:solidFill>
                  <a:schemeClr val="tx1"/>
                </a:solidFill>
                <a:uFill>
                  <a:noFill/>
                </a:uFill>
                <a:latin typeface="+mn-lt"/>
              </a:rPr>
              <a:t>в</a:t>
            </a:r>
            <a:r>
              <a:rPr lang="en-US" sz="1600" b="1" dirty="0">
                <a:solidFill>
                  <a:schemeClr val="tx1"/>
                </a:solidFill>
                <a:uFill>
                  <a:noFill/>
                </a:uFill>
                <a:latin typeface="+mn-lt"/>
              </a:rPr>
              <a:t>ep</a:t>
            </a:r>
            <a:r>
              <a:rPr lang="ru-RU" sz="1600" b="1" dirty="0" err="1">
                <a:solidFill>
                  <a:schemeClr val="tx1"/>
                </a:solidFill>
                <a:uFill>
                  <a:noFill/>
                </a:uFill>
                <a:latin typeface="+mn-lt"/>
              </a:rPr>
              <a:t>ивш</a:t>
            </a:r>
            <a:r>
              <a:rPr lang="en-US" sz="1600" b="1" dirty="0">
                <a:solidFill>
                  <a:schemeClr val="tx1"/>
                </a:solidFill>
                <a:uFill>
                  <a:noFill/>
                </a:uFill>
                <a:latin typeface="+mn-lt"/>
              </a:rPr>
              <a:t>e</a:t>
            </a:r>
            <a:r>
              <a:rPr lang="ru-RU" sz="1600" b="1" dirty="0">
                <a:solidFill>
                  <a:schemeClr val="tx1"/>
                </a:solidFill>
                <a:uFill>
                  <a:noFill/>
                </a:uFill>
                <a:latin typeface="+mn-lt"/>
              </a:rPr>
              <a:t>г</a:t>
            </a:r>
            <a:r>
              <a:rPr lang="en-US" sz="1600" b="1" dirty="0">
                <a:solidFill>
                  <a:schemeClr val="tx1"/>
                </a:solidFill>
                <a:uFill>
                  <a:noFill/>
                </a:uFill>
                <a:latin typeface="+mn-lt"/>
              </a:rPr>
              <a:t>o </a:t>
            </a:r>
            <a:r>
              <a:rPr lang="ru-RU" sz="1600" b="1" dirty="0">
                <a:solidFill>
                  <a:schemeClr val="tx1"/>
                </a:solidFill>
                <a:uFill>
                  <a:noFill/>
                </a:uFill>
                <a:latin typeface="+mn-lt"/>
              </a:rPr>
              <a:t>д</a:t>
            </a:r>
            <a:r>
              <a:rPr lang="en-US" sz="1600" b="1" dirty="0">
                <a:solidFill>
                  <a:schemeClr val="tx1"/>
                </a:solidFill>
                <a:uFill>
                  <a:noFill/>
                </a:uFill>
                <a:latin typeface="+mn-lt"/>
              </a:rPr>
              <a:t>o</a:t>
            </a:r>
            <a:r>
              <a:rPr lang="ru-RU" sz="1600" b="1" dirty="0">
                <a:solidFill>
                  <a:schemeClr val="tx1"/>
                </a:solidFill>
                <a:uFill>
                  <a:noFill/>
                </a:uFill>
                <a:latin typeface="+mn-lt"/>
              </a:rPr>
              <a:t>к</a:t>
            </a:r>
            <a:r>
              <a:rPr lang="en-US" sz="1600" b="1" dirty="0">
                <a:solidFill>
                  <a:schemeClr val="tx1"/>
                </a:solidFill>
                <a:uFill>
                  <a:noFill/>
                </a:uFill>
                <a:latin typeface="+mn-lt"/>
              </a:rPr>
              <a:t>y</a:t>
            </a:r>
            <a:r>
              <a:rPr lang="ru-RU" sz="1600" b="1" dirty="0">
                <a:solidFill>
                  <a:schemeClr val="tx1"/>
                </a:solidFill>
                <a:uFill>
                  <a:noFill/>
                </a:uFill>
                <a:latin typeface="+mn-lt"/>
              </a:rPr>
              <a:t>м</a:t>
            </a:r>
            <a:r>
              <a:rPr lang="en-US" sz="1600" b="1" dirty="0">
                <a:solidFill>
                  <a:schemeClr val="tx1"/>
                </a:solidFill>
                <a:uFill>
                  <a:noFill/>
                </a:uFill>
                <a:latin typeface="+mn-lt"/>
              </a:rPr>
              <a:t>e</a:t>
            </a:r>
            <a:r>
              <a:rPr lang="ru-RU" sz="1600" b="1" dirty="0" err="1">
                <a:solidFill>
                  <a:schemeClr val="tx1"/>
                </a:solidFill>
                <a:uFill>
                  <a:noFill/>
                </a:uFill>
                <a:latin typeface="+mn-lt"/>
              </a:rPr>
              <a:t>нт</a:t>
            </a:r>
            <a:r>
              <a:rPr lang="ru-RU" sz="1600" b="1" dirty="0" smtClean="0">
                <a:solidFill>
                  <a:schemeClr val="tx1"/>
                </a:solidFill>
                <a:uFill>
                  <a:noFill/>
                </a:uFill>
                <a:latin typeface="+mn-lt"/>
              </a:rPr>
              <a:t>;</a:t>
            </a:r>
          </a:p>
          <a:p>
            <a:pPr marL="493400" lvl="0">
              <a:lnSpc>
                <a:spcPct val="100000"/>
              </a:lnSpc>
              <a:buFont typeface="Wingdings" panose="05000000000000000000" pitchFamily="2" charset="2"/>
              <a:buChar char="Ø"/>
            </a:pPr>
            <a:r>
              <a:rPr lang="ru-RU" sz="1600" b="1" dirty="0" smtClean="0">
                <a:solidFill>
                  <a:schemeClr val="tx1"/>
                </a:solidFill>
                <a:uFill>
                  <a:noFill/>
                </a:uFill>
                <a:latin typeface="+mn-lt"/>
              </a:rPr>
              <a:t>П</a:t>
            </a:r>
            <a:r>
              <a:rPr lang="en-US" sz="1600" b="1" dirty="0" smtClean="0">
                <a:solidFill>
                  <a:schemeClr val="tx1"/>
                </a:solidFill>
                <a:uFill>
                  <a:noFill/>
                </a:uFill>
                <a:latin typeface="+mn-lt"/>
              </a:rPr>
              <a:t>o</a:t>
            </a:r>
            <a:r>
              <a:rPr lang="ru-RU" sz="1600" b="1" dirty="0" err="1">
                <a:solidFill>
                  <a:schemeClr val="tx1"/>
                </a:solidFill>
                <a:uFill>
                  <a:noFill/>
                </a:uFill>
                <a:latin typeface="+mn-lt"/>
              </a:rPr>
              <a:t>дпи</a:t>
            </a:r>
            <a:r>
              <a:rPr lang="en-US" sz="1600" b="1" dirty="0">
                <a:solidFill>
                  <a:schemeClr val="tx1"/>
                </a:solidFill>
                <a:uFill>
                  <a:noFill/>
                </a:uFill>
                <a:latin typeface="+mn-lt"/>
              </a:rPr>
              <a:t>c</a:t>
            </a:r>
            <a:r>
              <a:rPr lang="ru-RU" sz="1600" b="1" dirty="0" smtClean="0">
                <a:solidFill>
                  <a:schemeClr val="tx1"/>
                </a:solidFill>
                <a:uFill>
                  <a:noFill/>
                </a:uFill>
                <a:latin typeface="+mn-lt"/>
              </a:rPr>
              <a:t>ь завещателя</a:t>
            </a:r>
            <a:r>
              <a:rPr lang="ru-RU" sz="1600" b="1" dirty="0">
                <a:solidFill>
                  <a:schemeClr val="tx1"/>
                </a:solidFill>
                <a:uFill>
                  <a:noFill/>
                </a:uFill>
                <a:latin typeface="+mn-lt"/>
              </a:rPr>
              <a:t>.</a:t>
            </a:r>
            <a:endParaRPr lang="ru-RU" sz="1600" b="1" dirty="0" smtClean="0">
              <a:solidFill>
                <a:schemeClr val="tx1"/>
              </a:solidFill>
              <a:uFill>
                <a:noFill/>
              </a:uFill>
              <a:latin typeface="+mn-lt"/>
            </a:endParaRPr>
          </a:p>
        </p:txBody>
      </p:sp>
      <p:grpSp>
        <p:nvGrpSpPr>
          <p:cNvPr id="6" name="Группа 5"/>
          <p:cNvGrpSpPr/>
          <p:nvPr/>
        </p:nvGrpSpPr>
        <p:grpSpPr>
          <a:xfrm>
            <a:off x="8140199" y="30322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17</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122654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grpSp>
        <p:nvGrpSpPr>
          <p:cNvPr id="6" name="Группа 5"/>
          <p:cNvGrpSpPr/>
          <p:nvPr/>
        </p:nvGrpSpPr>
        <p:grpSpPr>
          <a:xfrm>
            <a:off x="8140199" y="30322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18</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pic>
        <p:nvPicPr>
          <p:cNvPr id="9" name="Picture 2" descr="C:\Users\Евгения\Desktop\11249722_we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887" y="1289228"/>
            <a:ext cx="2598821" cy="1742948"/>
          </a:xfrm>
          <a:prstGeom prst="rect">
            <a:avLst/>
          </a:prstGeom>
          <a:ln>
            <a:noFill/>
          </a:ln>
          <a:effectLst>
            <a:outerShdw blurRad="292100" dist="139700" dir="2700000" algn="tl" rotWithShape="0">
              <a:srgbClr val="333333">
                <a:alpha val="65000"/>
              </a:srgbClr>
            </a:outerShdw>
          </a:effectLst>
          <a:extLst/>
        </p:spPr>
      </p:pic>
      <p:graphicFrame>
        <p:nvGraphicFramePr>
          <p:cNvPr id="2" name="Схема 1"/>
          <p:cNvGraphicFramePr/>
          <p:nvPr>
            <p:extLst>
              <p:ext uri="{D42A27DB-BD31-4B8C-83A1-F6EECF244321}">
                <p14:modId xmlns:p14="http://schemas.microsoft.com/office/powerpoint/2010/main" val="2428199307"/>
              </p:ext>
            </p:extLst>
          </p:nvPr>
        </p:nvGraphicFramePr>
        <p:xfrm>
          <a:off x="2707502" y="319675"/>
          <a:ext cx="6420049" cy="44544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Google Shape;1866;p126"/>
          <p:cNvSpPr txBox="1">
            <a:spLocks/>
          </p:cNvSpPr>
          <p:nvPr/>
        </p:nvSpPr>
        <p:spPr>
          <a:xfrm>
            <a:off x="77002" y="303226"/>
            <a:ext cx="3869356" cy="546377"/>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marL="0" lvl="0" indent="0" algn="ctr"/>
            <a:r>
              <a:rPr lang="ru-RU" sz="2000" b="1" dirty="0" smtClean="0">
                <a:solidFill>
                  <a:schemeClr val="tx1"/>
                </a:solidFill>
              </a:rPr>
              <a:t>       ЗАКРЫТОЕ ЗАВЕЩАНИЕ</a:t>
            </a:r>
            <a:endParaRPr lang="ru-RU" sz="2000" b="1" dirty="0">
              <a:solidFill>
                <a:schemeClr val="tx1"/>
              </a:solidFill>
            </a:endParaRPr>
          </a:p>
        </p:txBody>
      </p:sp>
    </p:spTree>
    <p:extLst>
      <p:ext uri="{BB962C8B-B14F-4D97-AF65-F5344CB8AC3E}">
        <p14:creationId xmlns:p14="http://schemas.microsoft.com/office/powerpoint/2010/main" val="5757735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269506" y="588271"/>
            <a:ext cx="8450981" cy="440499"/>
          </a:xfrm>
          <a:prstGeom prst="rect">
            <a:avLst/>
          </a:prstGeom>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000" b="1" dirty="0" smtClean="0"/>
              <a:t>Резюме по 2-ой части</a:t>
            </a:r>
            <a:endParaRPr lang="ru-RU" sz="2000" b="1" dirty="0"/>
          </a:p>
        </p:txBody>
      </p:sp>
      <p:sp>
        <p:nvSpPr>
          <p:cNvPr id="9" name="Google Shape;1892;p130"/>
          <p:cNvSpPr txBox="1">
            <a:spLocks noGrp="1"/>
          </p:cNvSpPr>
          <p:nvPr>
            <p:ph type="subTitle" idx="1"/>
          </p:nvPr>
        </p:nvSpPr>
        <p:spPr>
          <a:xfrm>
            <a:off x="279133" y="1068405"/>
            <a:ext cx="8431730" cy="3445844"/>
          </a:xfrm>
          <a:prstGeom prst="rect">
            <a:avLst/>
          </a:prstGeom>
          <a:solidFill>
            <a:schemeClr val="tx2">
              <a:lumMod val="90000"/>
            </a:schemeClr>
          </a:solidFill>
          <a:ln w="9525">
            <a:solidFill>
              <a:srgbClr val="002060"/>
            </a:solidFill>
          </a:ln>
        </p:spPr>
        <p:txBody>
          <a:bodyPr spcFirstLastPara="1" wrap="square" lIns="91425" tIns="91425" rIns="91425" bIns="91425" anchor="ctr" anchorCtr="0">
            <a:noAutofit/>
          </a:bodyPr>
          <a:lstStyle/>
          <a:p>
            <a:pPr marL="342900" lvl="0" algn="just">
              <a:buFont typeface="Wingdings" panose="05000000000000000000" pitchFamily="2" charset="2"/>
              <a:buChar char="§"/>
            </a:pPr>
            <a:r>
              <a:rPr lang="ru-RU" sz="1900" b="1" dirty="0"/>
              <a:t>Завещание – это документ, в котором умерший определяет порядок распределения своего имущества. Завещание может быть составлено в письменной форме или оформлено в нотариальной форме</a:t>
            </a:r>
            <a:r>
              <a:rPr lang="ru-RU" sz="1900" b="1" dirty="0" smtClean="0"/>
              <a:t>.</a:t>
            </a:r>
            <a:endParaRPr lang="ru-RU" sz="1900" b="1" dirty="0"/>
          </a:p>
          <a:p>
            <a:pPr marL="342900" lvl="0" algn="just">
              <a:buFont typeface="Wingdings" panose="05000000000000000000" pitchFamily="2" charset="2"/>
              <a:buChar char="§"/>
            </a:pPr>
            <a:r>
              <a:rPr lang="ru-RU" sz="1900" b="1" dirty="0"/>
              <a:t>Завещатель </a:t>
            </a:r>
            <a:r>
              <a:rPr lang="ru-RU" sz="1900" b="1" dirty="0" smtClean="0"/>
              <a:t>(</a:t>
            </a:r>
            <a:r>
              <a:rPr lang="ru-RU" sz="1900" b="1" dirty="0"/>
              <a:t>н</a:t>
            </a:r>
            <a:r>
              <a:rPr lang="ru-RU" sz="1900" b="1" dirty="0" smtClean="0"/>
              <a:t>аследодатель) </a:t>
            </a:r>
            <a:r>
              <a:rPr lang="ru-RU" sz="1900" b="1" dirty="0"/>
              <a:t>имеет право распределить свое имущество по своему усмотрению, учитывая законные интересы законных наследников</a:t>
            </a:r>
            <a:r>
              <a:rPr lang="ru-RU" sz="1900" b="1" dirty="0" smtClean="0"/>
              <a:t>.</a:t>
            </a:r>
            <a:endParaRPr lang="ru-RU" sz="1900" b="1" dirty="0"/>
          </a:p>
          <a:p>
            <a:pPr marL="342900" lvl="0" algn="just">
              <a:buFont typeface="Wingdings" panose="05000000000000000000" pitchFamily="2" charset="2"/>
              <a:buChar char="§"/>
            </a:pPr>
            <a:r>
              <a:rPr lang="ru-RU" sz="1900" b="1" dirty="0" smtClean="0"/>
              <a:t>Завещание </a:t>
            </a:r>
            <a:r>
              <a:rPr lang="ru-RU" sz="1900" b="1" dirty="0"/>
              <a:t>может быть отозвано или изменено завещателем в любое время до его смерти</a:t>
            </a:r>
            <a:r>
              <a:rPr lang="ru-RU" sz="1900" b="1" dirty="0" smtClean="0"/>
              <a:t>.</a:t>
            </a:r>
            <a:endParaRPr lang="ru-RU" sz="1900" b="1" dirty="0"/>
          </a:p>
          <a:p>
            <a:pPr marL="342900" lvl="0" algn="just">
              <a:buFont typeface="Wingdings" panose="05000000000000000000" pitchFamily="2" charset="2"/>
              <a:buChar char="§"/>
            </a:pPr>
            <a:r>
              <a:rPr lang="ru-RU" sz="1900" b="1" dirty="0"/>
              <a:t>   </a:t>
            </a:r>
            <a:r>
              <a:rPr lang="ru-RU" sz="1900" b="1" dirty="0" smtClean="0"/>
              <a:t>Нотариальное </a:t>
            </a:r>
            <a:r>
              <a:rPr lang="ru-RU" sz="1900" b="1" dirty="0"/>
              <a:t>завещание обеспечивает более высокую степень юридической защиты и исключает риск утери или фальсификации</a:t>
            </a:r>
            <a:r>
              <a:rPr lang="ru-RU" sz="1900" b="1" dirty="0" smtClean="0"/>
              <a:t>.</a:t>
            </a:r>
            <a:endParaRPr lang="ru-RU" sz="1900" b="1" dirty="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19</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5739579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202131" y="377648"/>
            <a:ext cx="8604985"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r>
              <a:rPr lang="ru-RU" sz="2400" b="1" dirty="0" smtClean="0"/>
              <a:t>3. Сравнительная </a:t>
            </a:r>
            <a:r>
              <a:rPr lang="ru-RU" sz="2400" b="1" dirty="0"/>
              <a:t>характеристика способов </a:t>
            </a:r>
            <a:r>
              <a:rPr lang="ru-RU" sz="2400" b="1" dirty="0" smtClean="0"/>
              <a:t>наследования</a:t>
            </a:r>
            <a:endParaRPr lang="ru-RU" sz="2400" b="1" dirty="0"/>
          </a:p>
        </p:txBody>
      </p:sp>
      <p:graphicFrame>
        <p:nvGraphicFramePr>
          <p:cNvPr id="3" name="Таблица 2"/>
          <p:cNvGraphicFramePr>
            <a:graphicFrameLocks noGrp="1"/>
          </p:cNvGraphicFramePr>
          <p:nvPr>
            <p:extLst>
              <p:ext uri="{D42A27DB-BD31-4B8C-83A1-F6EECF244321}">
                <p14:modId xmlns:p14="http://schemas.microsoft.com/office/powerpoint/2010/main" val="3691508670"/>
              </p:ext>
            </p:extLst>
          </p:nvPr>
        </p:nvGraphicFramePr>
        <p:xfrm>
          <a:off x="250257" y="1104352"/>
          <a:ext cx="8556859" cy="3890343"/>
        </p:xfrm>
        <a:graphic>
          <a:graphicData uri="http://schemas.openxmlformats.org/drawingml/2006/table">
            <a:tbl>
              <a:tblPr firstRow="1" bandRow="1">
                <a:tableStyleId>{2D5ABB26-0587-4C30-8999-92F81FD0307C}</a:tableStyleId>
              </a:tblPr>
              <a:tblGrid>
                <a:gridCol w="1790299"/>
                <a:gridCol w="3080084"/>
                <a:gridCol w="3686476"/>
              </a:tblGrid>
              <a:tr h="278397">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200" b="1" dirty="0" smtClean="0"/>
                        <a:t>Аспекты сравнения</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0000"/>
                      </a:schemeClr>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200" b="1" dirty="0" smtClean="0"/>
                        <a:t>Способы наследования</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ru-RU"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0000"/>
                      </a:schemeClr>
                    </a:solidFill>
                  </a:tcPr>
                </a:tc>
              </a:tr>
              <a:tr h="320106">
                <a:tc v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ru-RU"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200" b="1" dirty="0" smtClean="0"/>
                        <a:t>Наследование по закону</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200" b="1" dirty="0" smtClean="0"/>
                        <a:t>Наследование по завещанию</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0000"/>
                      </a:schemeClr>
                    </a:solidFill>
                  </a:tcPr>
                </a:tc>
              </a:tr>
              <a:tr h="370840">
                <a:tc>
                  <a:txBody>
                    <a:bodyPr/>
                    <a:lstStyle/>
                    <a:p>
                      <a:pPr algn="l"/>
                      <a:r>
                        <a:rPr lang="ru-RU" sz="1200" b="1" dirty="0" smtClean="0"/>
                        <a:t>Гибкость</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Менее гибкое, подчинено формализованным законодательным нормам.</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Большая гибкость в выражении воли наследодателя.</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0840">
                <a:tc>
                  <a:txBody>
                    <a:bodyPr/>
                    <a:lstStyle/>
                    <a:p>
                      <a:pPr algn="l"/>
                      <a:r>
                        <a:rPr lang="ru-RU" sz="1200" b="1" dirty="0" smtClean="0"/>
                        <a:t>Скорость передачи наследства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Относительно быстрое, особенно при распределении согласно закону.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Может быть время затратным, особенно при сложностях с исполнением завещания.</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0840">
                <a:tc>
                  <a:txBody>
                    <a:bodyPr/>
                    <a:lstStyle/>
                    <a:p>
                      <a:pPr algn="l"/>
                      <a:r>
                        <a:rPr lang="ru-RU" sz="1200" b="1" dirty="0" smtClean="0"/>
                        <a:t>Степень контроля</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Меньший контроль, подвержен общим законодательным нормам.</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Наследодатель имеет больший контроль над распределением наследства.</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0840">
                <a:tc>
                  <a:txBody>
                    <a:bodyPr/>
                    <a:lstStyle/>
                    <a:p>
                      <a:pPr algn="l"/>
                      <a:r>
                        <a:rPr lang="ru-RU" sz="1200" b="1" dirty="0" smtClean="0"/>
                        <a:t> Риск конфликтов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Возможны конфликты, особенно при отсутствии завещания.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Может снизить риск семейных конфликтов при ясной воле наследодателя.</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0840">
                <a:tc>
                  <a:txBody>
                    <a:bodyPr/>
                    <a:lstStyle/>
                    <a:p>
                      <a:pPr algn="l"/>
                      <a:r>
                        <a:rPr lang="ru-RU" sz="1200" b="1" dirty="0" smtClean="0"/>
                        <a:t>Налоговые аспекты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Могут существовать налоговые обязательства, но основываются на законодательстве.</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Различные налоговые обязательства для наследников, зависящие от воли наследодателя.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0840">
                <a:tc>
                  <a:txBody>
                    <a:bodyPr/>
                    <a:lstStyle/>
                    <a:p>
                      <a:pPr algn="l"/>
                      <a:r>
                        <a:rPr lang="ru-RU" sz="1200" b="1" dirty="0" smtClean="0"/>
                        <a:t>Судебные затраты </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Возможны судебные издержки при конфликтах или неоднозначностях в завещании.</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ru-RU" sz="1200" b="1" dirty="0" smtClean="0"/>
                        <a:t>Возможны судебные издержки при конфликтах или неоднозначностях в завещании.</a:t>
                      </a:r>
                      <a:endParaRPr lang="ru-RU"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bl>
          </a:graphicData>
        </a:graphic>
      </p:graphicFrame>
      <p:grpSp>
        <p:nvGrpSpPr>
          <p:cNvPr id="6" name="Группа 5"/>
          <p:cNvGrpSpPr/>
          <p:nvPr/>
        </p:nvGrpSpPr>
        <p:grpSpPr>
          <a:xfrm>
            <a:off x="8140199" y="303226"/>
            <a:ext cx="1003801" cy="336960"/>
            <a:chOff x="0" y="0"/>
            <a:chExt cx="1003801" cy="336960"/>
          </a:xfrm>
        </p:grpSpPr>
        <p:sp>
          <p:nvSpPr>
            <p:cNvPr id="7" name="Скругленный прямоугольник 6"/>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8"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20</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149329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336884" y="377648"/>
            <a:ext cx="8566484"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800" b="1" dirty="0"/>
              <a:t>Заключение (1)</a:t>
            </a:r>
          </a:p>
        </p:txBody>
      </p:sp>
      <p:sp>
        <p:nvSpPr>
          <p:cNvPr id="4" name="TextBox 3"/>
          <p:cNvSpPr txBox="1"/>
          <p:nvPr/>
        </p:nvSpPr>
        <p:spPr>
          <a:xfrm>
            <a:off x="336884" y="1029902"/>
            <a:ext cx="8566484" cy="378565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marL="468000" indent="-342900" algn="just">
              <a:buFont typeface="+mj-lt"/>
              <a:buAutoNum type="arabicPeriod"/>
            </a:pPr>
            <a:r>
              <a:rPr lang="ru-RU" sz="1600" b="1" dirty="0"/>
              <a:t>В российской правовой системе наследование является важным институтом, регулируемым гражданским законодательством. Процесс передачи имущества умершего физического лица наследникам может осуществляться двумя основными способами: по закону </a:t>
            </a:r>
            <a:r>
              <a:rPr lang="ru-RU" sz="1600" b="1" dirty="0" smtClean="0"/>
              <a:t>или </a:t>
            </a:r>
            <a:r>
              <a:rPr lang="ru-RU" sz="1600" b="1" dirty="0"/>
              <a:t>по </a:t>
            </a:r>
            <a:r>
              <a:rPr lang="ru-RU" sz="1600" b="1" dirty="0" smtClean="0"/>
              <a:t>завещанию. Основным </a:t>
            </a:r>
            <a:r>
              <a:rPr lang="ru-RU" sz="1600" b="1" dirty="0"/>
              <a:t>критерием выбора следует считать наличие или отсутствие выраженной в определенном гражданским законодательством порядке воли наследодателя в отношении своего имущества. </a:t>
            </a:r>
            <a:endParaRPr lang="ru-RU" sz="1600" b="1" dirty="0" smtClean="0"/>
          </a:p>
          <a:p>
            <a:pPr marL="468000" indent="-342900" algn="just">
              <a:buFont typeface="+mj-lt"/>
              <a:buAutoNum type="arabicPeriod"/>
            </a:pPr>
            <a:r>
              <a:rPr lang="ru-RU" sz="1600" b="1" dirty="0" smtClean="0"/>
              <a:t>При </a:t>
            </a:r>
            <a:r>
              <a:rPr lang="ru-RU" sz="1600" b="1" dirty="0"/>
              <a:t>наследовании по закону доля каждого наследника определяется в соответствии с законодательством, в то время как завещатель имеет более широкие права распределения своего </a:t>
            </a:r>
            <a:r>
              <a:rPr lang="ru-RU" sz="1600" b="1" dirty="0" smtClean="0"/>
              <a:t>имущества.</a:t>
            </a:r>
          </a:p>
          <a:p>
            <a:pPr marL="468000" indent="-342900" algn="just">
              <a:buFont typeface="+mj-lt"/>
              <a:buAutoNum type="arabicPeriod"/>
            </a:pPr>
            <a:r>
              <a:rPr lang="ru-RU" sz="1600" b="1" dirty="0" smtClean="0"/>
              <a:t> </a:t>
            </a:r>
            <a:r>
              <a:rPr lang="ru-RU" sz="1600" b="1" dirty="0"/>
              <a:t>Важно учитывать, что порядок наследования может изменяться в зависимости от семейного положения, наличия детей, родственных связей и других </a:t>
            </a:r>
            <a:r>
              <a:rPr lang="ru-RU" sz="1600" b="1" dirty="0" smtClean="0"/>
              <a:t>факторов. На </a:t>
            </a:r>
            <a:r>
              <a:rPr lang="ru-RU" sz="1600" b="1" dirty="0"/>
              <a:t>сайте Федеральной нотариальной палаты (https://notariat.ru/ru-ru/) предоставляется возможность найти информацию о наследственном деле</a:t>
            </a:r>
            <a:r>
              <a:rPr lang="ru-RU" sz="1600" b="1" dirty="0" smtClean="0"/>
              <a:t>.</a:t>
            </a:r>
            <a:endParaRPr lang="ru-RU" sz="1600" dirty="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21</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656990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336884" y="377648"/>
            <a:ext cx="8566484"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800" b="1" dirty="0"/>
              <a:t>Заключение </a:t>
            </a:r>
            <a:r>
              <a:rPr lang="ru-RU" sz="2800" b="1" dirty="0" smtClean="0"/>
              <a:t>(2)</a:t>
            </a:r>
            <a:endParaRPr lang="ru-RU" sz="2800" b="1" dirty="0"/>
          </a:p>
        </p:txBody>
      </p:sp>
      <p:sp>
        <p:nvSpPr>
          <p:cNvPr id="4" name="TextBox 3"/>
          <p:cNvSpPr txBox="1"/>
          <p:nvPr/>
        </p:nvSpPr>
        <p:spPr>
          <a:xfrm>
            <a:off x="336884" y="1029902"/>
            <a:ext cx="8566484" cy="4031873"/>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marL="180000" lvl="0" indent="0"/>
            <a:r>
              <a:rPr lang="ru-RU" sz="1600" b="1" dirty="0" smtClean="0">
                <a:latin typeface="Arial" panose="020B0604020202020204" pitchFamily="34" charset="0"/>
                <a:cs typeface="Arial" panose="020B0604020202020204" pitchFamily="34" charset="0"/>
              </a:rPr>
              <a:t>4. </a:t>
            </a:r>
            <a:r>
              <a:rPr lang="ru-RU" sz="1600" b="1" dirty="0">
                <a:latin typeface="Arial" panose="020B0604020202020204" pitchFamily="34" charset="0"/>
                <a:cs typeface="Arial" panose="020B0604020202020204" pitchFamily="34" charset="0"/>
              </a:rPr>
              <a:t>В России </a:t>
            </a:r>
            <a:r>
              <a:rPr lang="ru-RU" sz="1600" b="1" dirty="0" smtClean="0">
                <a:latin typeface="Arial" panose="020B0604020202020204" pitchFamily="34" charset="0"/>
                <a:cs typeface="Arial" panose="020B0604020202020204" pitchFamily="34" charset="0"/>
              </a:rPr>
              <a:t>на </a:t>
            </a:r>
            <a:r>
              <a:rPr lang="ru-RU" sz="1600" b="1" dirty="0">
                <a:latin typeface="Arial" panose="020B0604020202020204" pitchFamily="34" charset="0"/>
                <a:cs typeface="Arial" panose="020B0604020202020204" pitchFamily="34" charset="0"/>
              </a:rPr>
              <a:t>практике наследование </a:t>
            </a:r>
            <a:r>
              <a:rPr lang="ru-RU" sz="1600" b="1" dirty="0" smtClean="0">
                <a:latin typeface="Arial" panose="020B0604020202020204" pitchFamily="34" charset="0"/>
                <a:cs typeface="Arial" panose="020B0604020202020204" pitchFamily="34" charset="0"/>
              </a:rPr>
              <a:t>часто </a:t>
            </a:r>
            <a:r>
              <a:rPr lang="ru-RU" sz="1600" b="1" dirty="0">
                <a:latin typeface="Arial" panose="020B0604020202020204" pitchFamily="34" charset="0"/>
                <a:cs typeface="Arial" panose="020B0604020202020204" pitchFamily="34" charset="0"/>
              </a:rPr>
              <a:t>сочетает оба способа – по закону и </a:t>
            </a:r>
            <a:r>
              <a:rPr lang="ru-RU" sz="1600" b="1" dirty="0" smtClean="0">
                <a:latin typeface="Arial" panose="020B0604020202020204" pitchFamily="34" charset="0"/>
                <a:cs typeface="Arial" panose="020B0604020202020204" pitchFamily="34" charset="0"/>
              </a:rPr>
              <a:t>   по завещанию; существуют </a:t>
            </a:r>
            <a:r>
              <a:rPr lang="ru-RU" sz="1600" b="1" dirty="0">
                <a:latin typeface="Arial" panose="020B0604020202020204" pitchFamily="34" charset="0"/>
                <a:cs typeface="Arial" panose="020B0604020202020204" pitchFamily="34" charset="0"/>
              </a:rPr>
              <a:t>несколько способов наследования, включая</a:t>
            </a:r>
            <a:r>
              <a:rPr lang="ru-RU" sz="1600" b="1" dirty="0" smtClean="0">
                <a:latin typeface="Arial" panose="020B0604020202020204" pitchFamily="34" charset="0"/>
                <a:cs typeface="Arial" panose="020B0604020202020204" pitchFamily="34" charset="0"/>
              </a:rPr>
              <a:t>:</a:t>
            </a:r>
          </a:p>
          <a:p>
            <a:pPr marL="180000" lvl="0" indent="0"/>
            <a:endParaRPr lang="ru-RU" sz="800" b="1" dirty="0">
              <a:latin typeface="Arial" panose="020B0604020202020204" pitchFamily="34" charset="0"/>
              <a:cs typeface="Arial" panose="020B0604020202020204" pitchFamily="34" charset="0"/>
            </a:endParaRPr>
          </a:p>
          <a:p>
            <a:pPr marL="465750" lvl="0" indent="-285750">
              <a:buFont typeface="Wingdings" panose="05000000000000000000" pitchFamily="2" charset="2"/>
              <a:buChar char="Ø"/>
            </a:pPr>
            <a:r>
              <a:rPr lang="ru-RU" sz="1600" b="1" dirty="0" smtClean="0">
                <a:solidFill>
                  <a:srgbClr val="7030A0"/>
                </a:solidFill>
                <a:latin typeface="Arial" panose="020B0604020202020204" pitchFamily="34" charset="0"/>
                <a:cs typeface="Arial" panose="020B0604020202020204" pitchFamily="34" charset="0"/>
              </a:rPr>
              <a:t>По завещанию. </a:t>
            </a:r>
            <a:r>
              <a:rPr lang="ru-RU" sz="1600" b="1" dirty="0">
                <a:latin typeface="Arial" panose="020B0604020202020204" pitchFamily="34" charset="0"/>
                <a:cs typeface="Arial" panose="020B0604020202020204" pitchFamily="34" charset="0"/>
              </a:rPr>
              <a:t>Наследство распределяется в соответствии с волей наследодателя, выраженной в завещании.</a:t>
            </a:r>
          </a:p>
          <a:p>
            <a:pPr marL="465750" lvl="0" indent="-285750">
              <a:buFont typeface="Wingdings" panose="05000000000000000000" pitchFamily="2" charset="2"/>
              <a:buChar char="Ø"/>
            </a:pPr>
            <a:r>
              <a:rPr lang="ru-RU" sz="1600" b="1" dirty="0" smtClean="0">
                <a:solidFill>
                  <a:srgbClr val="7030A0"/>
                </a:solidFill>
                <a:latin typeface="Arial" panose="020B0604020202020204" pitchFamily="34" charset="0"/>
                <a:cs typeface="Arial" panose="020B0604020202020204" pitchFamily="34" charset="0"/>
              </a:rPr>
              <a:t>По закону. </a:t>
            </a:r>
            <a:r>
              <a:rPr lang="ru-RU" sz="1600" b="1" dirty="0">
                <a:latin typeface="Arial" panose="020B0604020202020204" pitchFamily="34" charset="0"/>
                <a:cs typeface="Arial" panose="020B0604020202020204" pitchFamily="34" charset="0"/>
              </a:rPr>
              <a:t>В случае отсутствия завещания наследство распределяется в соответствии с законом, устанавливающим порядок наследования.</a:t>
            </a:r>
          </a:p>
          <a:p>
            <a:pPr marL="465750" lvl="0" indent="-285750">
              <a:buFont typeface="Wingdings" panose="05000000000000000000" pitchFamily="2" charset="2"/>
              <a:buChar char="Ø"/>
            </a:pPr>
            <a:r>
              <a:rPr lang="ru-RU" sz="1600" b="1" dirty="0" smtClean="0">
                <a:solidFill>
                  <a:srgbClr val="7030A0"/>
                </a:solidFill>
                <a:latin typeface="Arial" panose="020B0604020202020204" pitchFamily="34" charset="0"/>
                <a:cs typeface="Arial" panose="020B0604020202020204" pitchFamily="34" charset="0"/>
              </a:rPr>
              <a:t>По </a:t>
            </a:r>
            <a:r>
              <a:rPr lang="ru-RU" sz="1600" b="1" dirty="0">
                <a:solidFill>
                  <a:srgbClr val="7030A0"/>
                </a:solidFill>
                <a:latin typeface="Arial" panose="020B0604020202020204" pitchFamily="34" charset="0"/>
                <a:cs typeface="Arial" panose="020B0604020202020204" pitchFamily="34" charset="0"/>
              </a:rPr>
              <a:t>закону с учётом </a:t>
            </a:r>
            <a:r>
              <a:rPr lang="ru-RU" sz="1600" b="1" dirty="0" smtClean="0">
                <a:solidFill>
                  <a:srgbClr val="7030A0"/>
                </a:solidFill>
                <a:latin typeface="Arial" panose="020B0604020202020204" pitchFamily="34" charset="0"/>
                <a:cs typeface="Arial" panose="020B0604020202020204" pitchFamily="34" charset="0"/>
              </a:rPr>
              <a:t>завещания.</a:t>
            </a:r>
            <a:r>
              <a:rPr lang="ru-RU" sz="1600" b="1" dirty="0" smtClean="0">
                <a:latin typeface="Arial" panose="020B0604020202020204" pitchFamily="34" charset="0"/>
                <a:cs typeface="Arial" panose="020B0604020202020204" pitchFamily="34" charset="0"/>
              </a:rPr>
              <a:t> </a:t>
            </a:r>
            <a:r>
              <a:rPr lang="ru-RU" sz="1600" b="1" dirty="0">
                <a:latin typeface="Arial" panose="020B0604020202020204" pitchFamily="34" charset="0"/>
                <a:cs typeface="Arial" panose="020B0604020202020204" pitchFamily="34" charset="0"/>
              </a:rPr>
              <a:t>Если в завещании не указаны все наследники или указаны не все доли, то недостающая часть распределяется в соответствии с законом.</a:t>
            </a:r>
          </a:p>
          <a:p>
            <a:pPr marL="465750" lvl="0" indent="-285750">
              <a:buFont typeface="Wingdings" panose="05000000000000000000" pitchFamily="2" charset="2"/>
              <a:buChar char="Ø"/>
            </a:pPr>
            <a:r>
              <a:rPr lang="ru-RU" sz="1600" b="1" dirty="0" smtClean="0">
                <a:solidFill>
                  <a:srgbClr val="7030A0"/>
                </a:solidFill>
                <a:latin typeface="Arial" panose="020B0604020202020204" pitchFamily="34" charset="0"/>
                <a:cs typeface="Arial" panose="020B0604020202020204" pitchFamily="34" charset="0"/>
              </a:rPr>
              <a:t>Наследование </a:t>
            </a:r>
            <a:r>
              <a:rPr lang="ru-RU" sz="1600" b="1" dirty="0">
                <a:solidFill>
                  <a:srgbClr val="7030A0"/>
                </a:solidFill>
                <a:latin typeface="Arial" panose="020B0604020202020204" pitchFamily="34" charset="0"/>
                <a:cs typeface="Arial" panose="020B0604020202020204" pitchFamily="34" charset="0"/>
              </a:rPr>
              <a:t>по закону в отсутствие наследников по </a:t>
            </a:r>
            <a:r>
              <a:rPr lang="ru-RU" sz="1600" b="1" dirty="0" smtClean="0">
                <a:solidFill>
                  <a:srgbClr val="7030A0"/>
                </a:solidFill>
                <a:latin typeface="Arial" panose="020B0604020202020204" pitchFamily="34" charset="0"/>
                <a:cs typeface="Arial" panose="020B0604020202020204" pitchFamily="34" charset="0"/>
              </a:rPr>
              <a:t>завещанию. </a:t>
            </a:r>
            <a:r>
              <a:rPr lang="ru-RU" sz="1600" b="1" dirty="0">
                <a:latin typeface="Arial" panose="020B0604020202020204" pitchFamily="34" charset="0"/>
                <a:cs typeface="Arial" panose="020B0604020202020204" pitchFamily="34" charset="0"/>
              </a:rPr>
              <a:t>Если нет наследников по завещанию, наследство переходит к наследникам, определенным законом.</a:t>
            </a:r>
          </a:p>
          <a:p>
            <a:pPr marL="465750" lvl="0" indent="-285750">
              <a:buFont typeface="Wingdings" panose="05000000000000000000" pitchFamily="2" charset="2"/>
              <a:buChar char="Ø"/>
            </a:pPr>
            <a:r>
              <a:rPr lang="ru-RU" sz="1600" b="1" dirty="0" smtClean="0">
                <a:solidFill>
                  <a:srgbClr val="7030A0"/>
                </a:solidFill>
                <a:latin typeface="Arial" panose="020B0604020202020204" pitchFamily="34" charset="0"/>
                <a:cs typeface="Arial" panose="020B0604020202020204" pitchFamily="34" charset="0"/>
              </a:rPr>
              <a:t>Наследование </a:t>
            </a:r>
            <a:r>
              <a:rPr lang="ru-RU" sz="1600" b="1" dirty="0">
                <a:solidFill>
                  <a:srgbClr val="7030A0"/>
                </a:solidFill>
                <a:latin typeface="Arial" panose="020B0604020202020204" pitchFamily="34" charset="0"/>
                <a:cs typeface="Arial" panose="020B0604020202020204" pitchFamily="34" charset="0"/>
              </a:rPr>
              <a:t>по закону при отсутствии завещания и наследников по </a:t>
            </a:r>
            <a:r>
              <a:rPr lang="ru-RU" sz="1600" b="1" dirty="0" smtClean="0">
                <a:solidFill>
                  <a:srgbClr val="7030A0"/>
                </a:solidFill>
                <a:latin typeface="Arial" panose="020B0604020202020204" pitchFamily="34" charset="0"/>
                <a:cs typeface="Arial" panose="020B0604020202020204" pitchFamily="34" charset="0"/>
              </a:rPr>
              <a:t>закону. </a:t>
            </a:r>
            <a:r>
              <a:rPr lang="ru-RU" sz="1600" b="1" dirty="0">
                <a:latin typeface="Arial" panose="020B0604020202020204" pitchFamily="34" charset="0"/>
                <a:cs typeface="Arial" panose="020B0604020202020204" pitchFamily="34" charset="0"/>
              </a:rPr>
              <a:t>В случае отсутствия и завещания, и наследников по закону, наследство может перейти к государству</a:t>
            </a:r>
            <a:r>
              <a:rPr lang="ru-RU" sz="1600" b="1" dirty="0" smtClean="0">
                <a:latin typeface="Arial" panose="020B0604020202020204" pitchFamily="34" charset="0"/>
                <a:cs typeface="Arial" panose="020B0604020202020204" pitchFamily="34" charset="0"/>
              </a:rPr>
              <a:t>.</a:t>
            </a:r>
            <a:endParaRPr lang="ru-RU" sz="1600" b="1" dirty="0">
              <a:latin typeface="Arial" panose="020B0604020202020204" pitchFamily="34" charset="0"/>
              <a:cs typeface="Arial" panose="020B0604020202020204" pitchFamily="34" charset="0"/>
            </a:endParaRPr>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22</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610288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5" name="Google Shape;1866;p126"/>
          <p:cNvSpPr txBox="1">
            <a:spLocks/>
          </p:cNvSpPr>
          <p:nvPr/>
        </p:nvSpPr>
        <p:spPr>
          <a:xfrm>
            <a:off x="336884" y="471706"/>
            <a:ext cx="8566484" cy="572700"/>
          </a:xfrm>
          <a:prstGeom prst="rect">
            <a:avLst/>
          </a:prstGeom>
        </p:spPr>
        <p:style>
          <a:lnRef idx="1">
            <a:schemeClr val="dk1"/>
          </a:lnRef>
          <a:fillRef idx="1003">
            <a:schemeClr val="lt2"/>
          </a:fillRef>
          <a:effectRef idx="1">
            <a:schemeClr val="dk1"/>
          </a:effectRef>
          <a:fontRef idx="minor">
            <a:schemeClr val="dk1"/>
          </a:fontRef>
        </p:style>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mn-lt"/>
                <a:ea typeface="+mn-ea"/>
                <a:cs typeface="+mn-cs"/>
                <a:sym typeface="Arial"/>
              </a:defRPr>
            </a:lvl9pPr>
          </a:lstStyle>
          <a:p>
            <a:pPr algn="ctr"/>
            <a:r>
              <a:rPr lang="ru-RU" sz="2800" b="1" dirty="0"/>
              <a:t>Библиографический список</a:t>
            </a:r>
          </a:p>
        </p:txBody>
      </p:sp>
      <p:sp>
        <p:nvSpPr>
          <p:cNvPr id="4" name="TextBox 3"/>
          <p:cNvSpPr txBox="1"/>
          <p:nvPr/>
        </p:nvSpPr>
        <p:spPr>
          <a:xfrm>
            <a:off x="336884" y="1135780"/>
            <a:ext cx="8566484" cy="353430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marL="825500" indent="-342900">
              <a:buFont typeface="+mj-lt"/>
              <a:buAutoNum type="arabicPeriod"/>
            </a:pPr>
            <a:r>
              <a:rPr lang="ru-RU" b="1" dirty="0"/>
              <a:t>Гражданский кодекс Российской Федерации ((</a:t>
            </a:r>
            <a:r>
              <a:rPr lang="ru-RU" b="1" dirty="0" smtClean="0"/>
              <a:t>часть 1,часть 3) </a:t>
            </a:r>
            <a:r>
              <a:rPr lang="ru-RU" b="1" dirty="0"/>
              <a:t>[Электронный ресурс]. –  URL: </a:t>
            </a:r>
            <a:r>
              <a:rPr lang="ru-RU" b="1" dirty="0">
                <a:hlinkClick r:id="rId3"/>
              </a:rPr>
              <a:t>https://</a:t>
            </a:r>
            <a:r>
              <a:rPr lang="ru-RU" b="1" dirty="0" smtClean="0">
                <a:hlinkClick r:id="rId3"/>
              </a:rPr>
              <a:t>docs.cntd.ru/document/9027690</a:t>
            </a:r>
            <a:r>
              <a:rPr lang="ru-RU" b="1" dirty="0" smtClean="0"/>
              <a:t> </a:t>
            </a:r>
            <a:r>
              <a:rPr lang="en-US" b="1" dirty="0" smtClean="0"/>
              <a:t>(</a:t>
            </a:r>
            <a:r>
              <a:rPr lang="ru-RU" b="1" dirty="0"/>
              <a:t>дата обращения 06.12.2023</a:t>
            </a:r>
            <a:r>
              <a:rPr lang="ru-RU" b="1" dirty="0" smtClean="0"/>
              <a:t>).</a:t>
            </a:r>
          </a:p>
          <a:p>
            <a:pPr marL="825500" indent="-342900">
              <a:spcBef>
                <a:spcPts val="1000"/>
              </a:spcBef>
              <a:buFont typeface="+mj-lt"/>
              <a:buAutoNum type="arabicPeriod"/>
            </a:pPr>
            <a:r>
              <a:rPr lang="ru-RU" b="1" dirty="0"/>
              <a:t>Ануфриева Л.П. Комментарий к части третьей Гражданского кодекса Российской Федерации [Текст] / Л.П. Ануфриева. – М.: </a:t>
            </a:r>
            <a:r>
              <a:rPr lang="ru-RU" b="1" dirty="0" err="1"/>
              <a:t>Волтерс-Клувер</a:t>
            </a:r>
            <a:r>
              <a:rPr lang="ru-RU" b="1" dirty="0"/>
              <a:t>, 2010. – 256 с.</a:t>
            </a:r>
          </a:p>
          <a:p>
            <a:pPr marL="825500" lvl="0" indent="-342900">
              <a:spcBef>
                <a:spcPts val="1000"/>
              </a:spcBef>
              <a:buFont typeface="+mj-lt"/>
              <a:buAutoNum type="arabicPeriod"/>
            </a:pPr>
            <a:r>
              <a:rPr lang="ru-RU" b="1" dirty="0" smtClean="0"/>
              <a:t>Кириллова </a:t>
            </a:r>
            <a:r>
              <a:rPr lang="ru-RU" b="1" dirty="0"/>
              <a:t>Е.А Завещание как один из основных видов наследования /  Журнал юридических исследований. Том 1. №2. 2016 [Электронный ресурс]. –  URL: </a:t>
            </a:r>
            <a:r>
              <a:rPr lang="en-US" b="1" dirty="0">
                <a:hlinkClick r:id="rId4"/>
              </a:rPr>
              <a:t>https://naukaru.ru/ru/nauka/article/12474/view</a:t>
            </a:r>
            <a:endParaRPr lang="ru-RU" b="1" dirty="0"/>
          </a:p>
          <a:p>
            <a:pPr marL="825500" lvl="0" indent="-342900">
              <a:spcBef>
                <a:spcPts val="1000"/>
              </a:spcBef>
              <a:buFont typeface="+mj-lt"/>
              <a:buAutoNum type="arabicPeriod"/>
            </a:pPr>
            <a:r>
              <a:rPr lang="ru-RU" b="1" dirty="0" err="1" smtClean="0"/>
              <a:t>Великоклад</a:t>
            </a:r>
            <a:r>
              <a:rPr lang="ru-RU" b="1" dirty="0" smtClean="0"/>
              <a:t> Т.П. Развитие положений о наследовании по завещанию в законодательстве Российской Федерации [Текст]: </a:t>
            </a:r>
            <a:r>
              <a:rPr lang="ru-RU" b="1" dirty="0" err="1" smtClean="0"/>
              <a:t>автореф</a:t>
            </a:r>
            <a:r>
              <a:rPr lang="ru-RU" b="1" dirty="0" smtClean="0"/>
              <a:t>… </a:t>
            </a:r>
            <a:r>
              <a:rPr lang="ru-RU" b="1" dirty="0" err="1" smtClean="0"/>
              <a:t>дис</a:t>
            </a:r>
            <a:r>
              <a:rPr lang="ru-RU" b="1" dirty="0" smtClean="0"/>
              <a:t>. канд. </a:t>
            </a:r>
            <a:r>
              <a:rPr lang="ru-RU" b="1" dirty="0" err="1" smtClean="0"/>
              <a:t>юрид</a:t>
            </a:r>
            <a:r>
              <a:rPr lang="ru-RU" b="1" dirty="0" smtClean="0"/>
              <a:t>.</a:t>
            </a:r>
          </a:p>
          <a:p>
            <a:pPr marL="825500" lvl="0" indent="-342900">
              <a:spcBef>
                <a:spcPts val="1000"/>
              </a:spcBef>
              <a:buFont typeface="+mj-lt"/>
              <a:buAutoNum type="arabicPeriod"/>
            </a:pPr>
            <a:r>
              <a:rPr lang="ru-RU" b="1" dirty="0"/>
              <a:t>Что такое совместное завещание и зачем его составлять</a:t>
            </a:r>
            <a:r>
              <a:rPr lang="ru-RU" b="1" dirty="0" smtClean="0"/>
              <a:t>?</a:t>
            </a:r>
            <a:r>
              <a:rPr lang="ru-RU" b="1" dirty="0"/>
              <a:t> [Электронный ресурс]. –  URL: </a:t>
            </a:r>
            <a:r>
              <a:rPr lang="en-US" b="1" dirty="0">
                <a:hlinkClick r:id="rId5"/>
              </a:rPr>
              <a:t>http://duma.gov.ru/news/45224</a:t>
            </a:r>
            <a:r>
              <a:rPr lang="en-US" b="1" dirty="0" smtClean="0">
                <a:hlinkClick r:id="rId5"/>
              </a:rPr>
              <a:t>/</a:t>
            </a:r>
            <a:r>
              <a:rPr lang="ru-RU" b="1" dirty="0" smtClean="0"/>
              <a:t> </a:t>
            </a:r>
            <a:r>
              <a:rPr lang="en-US" b="1" dirty="0"/>
              <a:t>(</a:t>
            </a:r>
            <a:r>
              <a:rPr lang="ru-RU" b="1" dirty="0"/>
              <a:t>дата обращения 06.12.2023)</a:t>
            </a:r>
            <a:endParaRPr lang="ru-RU" b="1" dirty="0" smtClean="0"/>
          </a:p>
          <a:p>
            <a:pPr marL="825500" lvl="0" indent="-342900">
              <a:spcBef>
                <a:spcPts val="1000"/>
              </a:spcBef>
              <a:buFont typeface="+mj-lt"/>
              <a:buAutoNum type="arabicPeriod"/>
            </a:pPr>
            <a:r>
              <a:rPr lang="ru-RU" b="1" dirty="0" smtClean="0"/>
              <a:t>Федеральная нотариальная палата</a:t>
            </a:r>
            <a:r>
              <a:rPr lang="ru-RU" b="1" dirty="0"/>
              <a:t>:[</a:t>
            </a:r>
            <a:r>
              <a:rPr lang="ru-RU" b="1" dirty="0" err="1"/>
              <a:t>Электронныйресурс</a:t>
            </a:r>
            <a:r>
              <a:rPr lang="ru-RU" b="1" dirty="0"/>
              <a:t>].</a:t>
            </a:r>
            <a:r>
              <a:rPr lang="en-US" b="1" dirty="0"/>
              <a:t>URL</a:t>
            </a:r>
            <a:r>
              <a:rPr lang="en-US" b="1" dirty="0" smtClean="0"/>
              <a:t>:</a:t>
            </a:r>
            <a:r>
              <a:rPr lang="ru-RU" b="1" dirty="0" smtClean="0"/>
              <a:t> </a:t>
            </a:r>
            <a:r>
              <a:rPr lang="en-US" b="1" dirty="0" smtClean="0"/>
              <a:t>https</a:t>
            </a:r>
            <a:r>
              <a:rPr lang="en-US" b="1" dirty="0"/>
              <a:t>://notariat.ru/ru-ru</a:t>
            </a:r>
            <a:r>
              <a:rPr lang="en-US" b="1" dirty="0" smtClean="0"/>
              <a:t>/</a:t>
            </a:r>
            <a:r>
              <a:rPr lang="ru-RU" b="1" dirty="0" smtClean="0"/>
              <a:t> </a:t>
            </a:r>
            <a:r>
              <a:rPr lang="en-US" b="1" dirty="0" smtClean="0"/>
              <a:t>(</a:t>
            </a:r>
            <a:r>
              <a:rPr lang="ru-RU" b="1" dirty="0" smtClean="0"/>
              <a:t>дата обращения 06.12.2023).</a:t>
            </a:r>
            <a:endParaRPr lang="ru-RU" dirty="0"/>
          </a:p>
        </p:txBody>
      </p:sp>
      <p:grpSp>
        <p:nvGrpSpPr>
          <p:cNvPr id="10" name="Группа 9"/>
          <p:cNvGrpSpPr/>
          <p:nvPr/>
        </p:nvGrpSpPr>
        <p:grpSpPr>
          <a:xfrm>
            <a:off x="8140199" y="303226"/>
            <a:ext cx="1003801" cy="336960"/>
            <a:chOff x="0" y="0"/>
            <a:chExt cx="1003801" cy="336960"/>
          </a:xfrm>
        </p:grpSpPr>
        <p:sp>
          <p:nvSpPr>
            <p:cNvPr id="11" name="Скругленный прямоугольник 10"/>
            <p:cNvSpPr/>
            <p:nvPr/>
          </p:nvSpPr>
          <p:spPr>
            <a:xfrm>
              <a:off x="0" y="0"/>
              <a:ext cx="1003801" cy="336960"/>
            </a:xfrm>
            <a:prstGeom prst="roundRect">
              <a:avLst/>
            </a:prstGeom>
            <a:gradFill rotWithShape="0">
              <a:gsLst>
                <a:gs pos="0">
                  <a:schemeClr val="bg2">
                    <a:lumMod val="75000"/>
                  </a:schemeClr>
                </a:gs>
                <a:gs pos="80000">
                  <a:srgbClr val="073779">
                    <a:hueOff val="0"/>
                    <a:satOff val="0"/>
                    <a:lumOff val="0"/>
                    <a:alphaOff val="0"/>
                    <a:shade val="93000"/>
                    <a:satMod val="130000"/>
                  </a:srgbClr>
                </a:gs>
                <a:gs pos="100000">
                  <a:srgbClr val="073779">
                    <a:hueOff val="0"/>
                    <a:satOff val="0"/>
                    <a:lumOff val="0"/>
                    <a:alphaOff val="0"/>
                    <a:shade val="94000"/>
                    <a:satMod val="135000"/>
                  </a:srgbClr>
                </a:gs>
              </a:gsLst>
              <a:lin ang="14400000" scaled="1"/>
            </a:gradFill>
            <a:ln>
              <a:noFill/>
            </a:ln>
            <a:effectLst>
              <a:outerShdw blurRad="88900" dist="63500" dir="3000000" algn="br" rotWithShape="0">
                <a:srgbClr val="000000">
                  <a:alpha val="35000"/>
                </a:srgbClr>
              </a:outerShdw>
            </a:effectLst>
          </p:spPr>
          <p:style>
            <a:lnRef idx="0">
              <a:scrgbClr r="0" g="0" b="0"/>
            </a:lnRef>
            <a:fillRef idx="3">
              <a:scrgbClr r="0" g="0" b="0"/>
            </a:fillRef>
            <a:effectRef idx="2">
              <a:scrgbClr r="0" g="0" b="0"/>
            </a:effectRef>
            <a:fontRef idx="minor">
              <a:schemeClr val="lt1"/>
            </a:fontRef>
          </p:style>
        </p:sp>
        <p:sp>
          <p:nvSpPr>
            <p:cNvPr id="12" name="Скругленный прямоугольник 4"/>
            <p:cNvSpPr/>
            <p:nvPr/>
          </p:nvSpPr>
          <p:spPr>
            <a:xfrm>
              <a:off x="16449" y="16449"/>
              <a:ext cx="970903" cy="30406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ru-RU" sz="1400" b="1" kern="1200" dirty="0" smtClean="0">
                  <a:solidFill>
                    <a:sysClr val="window" lastClr="FFFFFF"/>
                  </a:solidFill>
                  <a:latin typeface="Arial" panose="020B0604020202020204" pitchFamily="34" charset="0"/>
                  <a:cs typeface="Arial" panose="020B0604020202020204" pitchFamily="34" charset="0"/>
                </a:rPr>
                <a:t>Слайд </a:t>
              </a:r>
              <a:r>
                <a:rPr lang="ru-RU" sz="1400" b="1" kern="1200" dirty="0" smtClean="0">
                  <a:latin typeface="Arial" panose="020B0604020202020204" pitchFamily="34" charset="0"/>
                  <a:cs typeface="Arial" panose="020B0604020202020204" pitchFamily="34" charset="0"/>
                </a:rPr>
                <a:t> </a:t>
              </a:r>
              <a:fld id="{6E0CEE88-94B7-432D-AE09-7416861B915B}" type="slidenum">
                <a:rPr lang="ru-RU" sz="1400" b="1" kern="1200" smtClean="0">
                  <a:latin typeface="Arial" panose="020B0604020202020204" pitchFamily="34" charset="0"/>
                  <a:cs typeface="Arial" panose="020B0604020202020204" pitchFamily="34" charset="0"/>
                </a:rPr>
                <a:pPr lvl="0" algn="ctr" defTabSz="622300" rtl="0">
                  <a:lnSpc>
                    <a:spcPct val="90000"/>
                  </a:lnSpc>
                  <a:spcBef>
                    <a:spcPct val="0"/>
                  </a:spcBef>
                  <a:spcAft>
                    <a:spcPct val="35000"/>
                  </a:spcAft>
                </a:pPr>
                <a:t>23</a:t>
              </a:fld>
              <a:endParaRPr lang="ru-RU" sz="1400" b="1" kern="1200" dirty="0">
                <a:solidFill>
                  <a:sysClr val="window" lastClr="FFFF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87022161"/>
      </p:ext>
    </p:extLst>
  </p:cSld>
  <p:clrMapOvr>
    <a:masterClrMapping/>
  </p:clrMapOvr>
  <p:timing>
    <p:tnLst>
      <p:par>
        <p:cTn id="1" dur="indefinite" restart="never" nodeType="tmRoot"/>
      </p:par>
    </p:tnLst>
  </p:timing>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752</TotalTime>
  <Words>2273</Words>
  <Application>Microsoft Office PowerPoint</Application>
  <PresentationFormat>Экран (16:9)</PresentationFormat>
  <Paragraphs>215</Paragraphs>
  <Slides>23</Slides>
  <Notes>23</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23</vt:i4>
      </vt:variant>
    </vt:vector>
  </HeadingPairs>
  <TitlesOfParts>
    <vt:vector size="29" baseType="lpstr">
      <vt:lpstr>Arial</vt:lpstr>
      <vt:lpstr>Montserrat</vt:lpstr>
      <vt:lpstr>Vidaloka</vt:lpstr>
      <vt:lpstr>Wingdings</vt:lpstr>
      <vt:lpstr>Crimson Text</vt:lpstr>
      <vt:lpstr>Minimalist Business Slides XL by Slidesgo</vt:lpstr>
      <vt:lpstr>Презентация PowerPoint</vt:lpstr>
      <vt:lpstr>Оглавление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of contents</dc:title>
  <cp:lastModifiedBy>Лидия</cp:lastModifiedBy>
  <cp:revision>71</cp:revision>
  <dcterms:modified xsi:type="dcterms:W3CDTF">2023-12-07T16:44:36Z</dcterms:modified>
</cp:coreProperties>
</file>