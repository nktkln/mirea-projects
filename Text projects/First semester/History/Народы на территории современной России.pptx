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57" r:id="rId4"/>
    <p:sldId id="284" r:id="rId5"/>
    <p:sldId id="272" r:id="rId6"/>
    <p:sldId id="288" r:id="rId7"/>
    <p:sldId id="287" r:id="rId8"/>
    <p:sldId id="286" r:id="rId9"/>
    <p:sldId id="283" r:id="rId10"/>
    <p:sldId id="268" r:id="rId11"/>
  </p:sldIdLst>
  <p:sldSz cx="18288000" cy="10287000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Montserrat Semi-Bold Bold" panose="020B0604020202020204" charset="-5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495" autoAdjust="0"/>
  </p:normalViewPr>
  <p:slideViewPr>
    <p:cSldViewPr>
      <p:cViewPr>
        <p:scale>
          <a:sx n="40" d="100"/>
          <a:sy n="40" d="100"/>
        </p:scale>
        <p:origin x="-78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4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39000" y="-27214"/>
            <a:ext cx="11038114" cy="10287000"/>
          </a:xfrm>
          <a:prstGeom prst="rect">
            <a:avLst/>
          </a:prstGeom>
          <a:solidFill>
            <a:srgbClr val="706951"/>
          </a:solidFill>
        </p:spPr>
      </p:sp>
      <p:sp>
        <p:nvSpPr>
          <p:cNvPr id="4" name="TextBox 4"/>
          <p:cNvSpPr txBox="1"/>
          <p:nvPr/>
        </p:nvSpPr>
        <p:spPr>
          <a:xfrm>
            <a:off x="7238999" y="5443"/>
            <a:ext cx="10591801" cy="12282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endParaRPr lang="ru-RU" sz="20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МИНИСТЕРСТВО НАУКИ И ВЫСШЕГО ОБРАЗОВАНИЯ </a:t>
            </a:r>
          </a:p>
          <a:p>
            <a:pPr algn="ctr">
              <a:lnSpc>
                <a:spcPct val="150000"/>
              </a:lnSpc>
            </a:pP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РОССИЙСКОЙ ФЕДЕРАЦИИ</a:t>
            </a:r>
          </a:p>
          <a:p>
            <a:pPr algn="ctr">
              <a:lnSpc>
                <a:spcPct val="150000"/>
              </a:lnSpc>
            </a:pP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МИРЭА – РОССИЙСКИЙ ТЕХНОЛОГИЧЕСКИЙ УНИВЕРСИТЕТ</a:t>
            </a:r>
          </a:p>
          <a:p>
            <a:pPr algn="ctr">
              <a:lnSpc>
                <a:spcPct val="150000"/>
              </a:lnSpc>
            </a:pPr>
            <a:endParaRPr lang="ru-RU" sz="20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Кафедра гуманитарных и социальных наук</a:t>
            </a:r>
          </a:p>
          <a:p>
            <a:pPr algn="ctr">
              <a:lnSpc>
                <a:spcPct val="150000"/>
              </a:lnSpc>
            </a:pPr>
            <a:endParaRPr lang="ru-RU" sz="24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 Дисциплина: история России</a:t>
            </a:r>
          </a:p>
          <a:p>
            <a:pPr algn="ctr">
              <a:lnSpc>
                <a:spcPct val="150000"/>
              </a:lnSpc>
            </a:pPr>
            <a:endParaRPr lang="ru-RU" spc="108" dirty="0">
              <a:solidFill>
                <a:srgbClr val="FFFFFF"/>
              </a:solidFill>
              <a:latin typeface="Montserrat Semi-Bold Bold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600" spc="108" dirty="0">
                <a:solidFill>
                  <a:schemeClr val="bg1"/>
                </a:solidFill>
                <a:latin typeface="Montserrat Semi-Bold Bold"/>
              </a:rPr>
              <a:t>«</a:t>
            </a:r>
            <a:r>
              <a:rPr lang="ru-RU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Народы на территории современной России </a:t>
            </a:r>
            <a:endParaRPr lang="ru-RU" sz="3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древности и в период Раннего Средневековья. </a:t>
            </a:r>
            <a:endParaRPr lang="ru-RU" sz="3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Взаимодействие восточнославянских и финно-угорских племён</a:t>
            </a:r>
            <a:r>
              <a:rPr lang="ru-RU" sz="3600" spc="108" dirty="0">
                <a:solidFill>
                  <a:schemeClr val="bg1"/>
                </a:solidFill>
                <a:latin typeface="Montserrat Semi-Bold Bold"/>
              </a:rPr>
              <a:t>»</a:t>
            </a:r>
          </a:p>
          <a:p>
            <a:pPr algn="ctr">
              <a:lnSpc>
                <a:spcPct val="150000"/>
              </a:lnSpc>
            </a:pPr>
            <a:endParaRPr lang="ru-RU" sz="20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Выполнил</a:t>
            </a:r>
            <a:r>
              <a:rPr lang="en-US" sz="2200" spc="108" dirty="0">
                <a:solidFill>
                  <a:srgbClr val="FFFFFF"/>
                </a:solidFill>
                <a:latin typeface="Montserrat Semi-Bold Bold"/>
              </a:rPr>
              <a:t>:</a:t>
            </a: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 студент группы ЭФБО-09-23</a:t>
            </a:r>
          </a:p>
          <a:p>
            <a:pPr algn="ctr">
              <a:lnSpc>
                <a:spcPct val="150000"/>
              </a:lnSpc>
            </a:pP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Калинин Никита Викторович</a:t>
            </a:r>
          </a:p>
          <a:p>
            <a:pPr algn="ctr">
              <a:lnSpc>
                <a:spcPct val="150000"/>
              </a:lnSpc>
            </a:pP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Проверил</a:t>
            </a:r>
            <a:r>
              <a:rPr lang="en-US" sz="2200" spc="108" dirty="0">
                <a:solidFill>
                  <a:srgbClr val="FFFFFF"/>
                </a:solidFill>
                <a:latin typeface="Montserrat Semi-Bold Bold"/>
              </a:rPr>
              <a:t>:</a:t>
            </a: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  преподаватель истории России</a:t>
            </a:r>
          </a:p>
          <a:p>
            <a:pPr algn="ctr">
              <a:lnSpc>
                <a:spcPct val="150000"/>
              </a:lnSpc>
            </a:pPr>
            <a:r>
              <a:rPr lang="ru-RU" sz="2200" spc="108" dirty="0" err="1">
                <a:solidFill>
                  <a:srgbClr val="FFFFFF"/>
                </a:solidFill>
                <a:latin typeface="Montserrat Semi-Bold Bold"/>
              </a:rPr>
              <a:t>к.и.н</a:t>
            </a: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. Солощенко Наталья Владимировна</a:t>
            </a:r>
          </a:p>
          <a:p>
            <a:pPr algn="ctr">
              <a:lnSpc>
                <a:spcPct val="150000"/>
              </a:lnSpc>
            </a:pP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  </a:t>
            </a:r>
          </a:p>
          <a:p>
            <a:pPr algn="ctr">
              <a:lnSpc>
                <a:spcPct val="150000"/>
              </a:lnSpc>
            </a:pPr>
            <a:r>
              <a:rPr lang="ru-RU" sz="2200" spc="108" dirty="0">
                <a:solidFill>
                  <a:srgbClr val="FFFFFF"/>
                </a:solidFill>
                <a:latin typeface="Montserrat Semi-Bold Bold"/>
              </a:rPr>
              <a:t>Москва - 2023 г.</a:t>
            </a:r>
          </a:p>
          <a:p>
            <a:pPr>
              <a:lnSpc>
                <a:spcPct val="150000"/>
              </a:lnSpc>
            </a:pPr>
            <a:endParaRPr lang="ru-RU" spc="108" dirty="0">
              <a:solidFill>
                <a:srgbClr val="FFFFFF"/>
              </a:solidFill>
              <a:latin typeface="Montserrat Semi-Bold Bold"/>
            </a:endParaRPr>
          </a:p>
          <a:p>
            <a:pPr>
              <a:lnSpc>
                <a:spcPts val="6199"/>
              </a:lnSpc>
            </a:pPr>
            <a:endParaRPr lang="en-US" sz="5437" spc="108" dirty="0">
              <a:solidFill>
                <a:srgbClr val="FFFFFF"/>
              </a:solidFill>
              <a:latin typeface="Montserrat Semi-Bold Bold"/>
            </a:endParaRPr>
          </a:p>
          <a:p>
            <a:pPr>
              <a:lnSpc>
                <a:spcPts val="6199"/>
              </a:lnSpc>
            </a:pPr>
            <a:endParaRPr lang="en-US" sz="5437" spc="108" dirty="0">
              <a:solidFill>
                <a:srgbClr val="FFFFFF"/>
              </a:solidFill>
              <a:latin typeface="Montserrat Semi-Bold Bold"/>
            </a:endParaRPr>
          </a:p>
        </p:txBody>
      </p:sp>
      <p:pic>
        <p:nvPicPr>
          <p:cNvPr id="3078" name="Picture 6" descr="8 9 век восточные славяне: Восточные славяне. VI–VIII век. От Гипербореи к  Руси. Нетрадиционная история славян">
            <a:extLst>
              <a:ext uri="{FF2B5EF4-FFF2-40B4-BE49-F238E27FC236}">
                <a16:creationId xmlns:a16="http://schemas.microsoft.com/office/drawing/2014/main" xmlns="" id="{64B55D56-E605-4C17-8F98-C9EB72C3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" y="319841"/>
            <a:ext cx="7127073" cy="400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Быт восточные славяне: Быт и занятия восточных славян. История России с  древнейших времен до конца XX века">
            <a:extLst>
              <a:ext uri="{FF2B5EF4-FFF2-40B4-BE49-F238E27FC236}">
                <a16:creationId xmlns:a16="http://schemas.microsoft.com/office/drawing/2014/main" xmlns="" id="{D024E071-F2BD-4D62-BE5C-3A38A161C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0" y="4762500"/>
            <a:ext cx="6948488" cy="520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9692680" y="1714500"/>
            <a:ext cx="4283528" cy="45746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indent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История России – это не только история нашего государства, но и история народов, проживающих и проживавших на её территории.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692680" y="258954"/>
            <a:ext cx="691103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ВВЕДЕНИЕ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423E301-CE3A-4765-93E2-04272F2096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79960" y="1714500"/>
            <a:ext cx="3811299" cy="6547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5BD1158-C89D-4321-9818-B68971B1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" y="42862"/>
            <a:ext cx="9338667" cy="10287000"/>
          </a:xfrm>
          <a:prstGeom prst="rect">
            <a:avLst/>
          </a:prstGeom>
        </p:spPr>
      </p:pic>
      <p:sp>
        <p:nvSpPr>
          <p:cNvPr id="10" name="Прямоугольник 22">
            <a:extLst>
              <a:ext uri="{FF2B5EF4-FFF2-40B4-BE49-F238E27FC236}">
                <a16:creationId xmlns:a16="http://schemas.microsoft.com/office/drawing/2014/main" xmlns="" id="{1923C406-FC6D-43B6-872E-7DBFD7F9EB48}"/>
              </a:ext>
            </a:extLst>
          </p:cNvPr>
          <p:cNvSpPr/>
          <p:nvPr/>
        </p:nvSpPr>
        <p:spPr>
          <a:xfrm>
            <a:off x="14173200" y="8415178"/>
            <a:ext cx="3918059" cy="145272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Женщина из восточнославянского племени вятичей. </a:t>
            </a: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Реконструкция.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1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3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761999" y="1866900"/>
            <a:ext cx="17145001" cy="34588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/>
              <a:t>     Современная наука делит все народы, в зависимости от того, на каких языках они говорят, на языковые семьи (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</a:rPr>
              <a:t>Индоевропейская, Урало-самодийская, Алтайская</a:t>
            </a:r>
            <a:r>
              <a:rPr lang="ru-RU" sz="4000" b="1" dirty="0"/>
              <a:t>), а семьи — на группы.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/>
              <a:t>Крупнейшей по географической распространенности и числу говорящих является индоевропейская языковая семья.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39" y="541774"/>
            <a:ext cx="6768261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4800" b="1" dirty="0"/>
              <a:t>Классификация народов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5A664B-A712-4308-958D-6599D5D07367}"/>
              </a:ext>
            </a:extLst>
          </p:cNvPr>
          <p:cNvSpPr txBox="1"/>
          <p:nvPr/>
        </p:nvSpPr>
        <p:spPr>
          <a:xfrm>
            <a:off x="733424" y="5467132"/>
            <a:ext cx="17145001" cy="42780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Индоевропейская языковая семья: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включает 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романскую, германскую, балтийскую, </a:t>
            </a:r>
            <a:r>
              <a:rPr kumimoji="0" lang="ru-RU" sz="32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славянскую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иранскую и индийскую группы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Кроме того, к индоевропейской семье относятся языки, не входящие ни в одну группу: греческий, армянский, албанский.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Некоторые индоевропейские языки и даже группы давно исчезли. Близка к исчезновению некогда чрезвычайно обширная кельтская языковая группа, к которой относятся валлийский и ирландский языки.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35400" y="54177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761999" y="1866900"/>
            <a:ext cx="17145001" cy="20390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/>
              <a:t>     Современная наука делит все народы, в зависимости от того, на каких языках они говорят, на языковые семьи (</a:t>
            </a:r>
            <a:r>
              <a:rPr lang="ru-RU" sz="4000" b="1" dirty="0">
                <a:solidFill>
                  <a:schemeClr val="accent6">
                    <a:lumMod val="75000"/>
                  </a:schemeClr>
                </a:solidFill>
              </a:rPr>
              <a:t>Индоевропейская, Урало-самодийская, Алтайская</a:t>
            </a:r>
            <a:r>
              <a:rPr lang="ru-RU" sz="4000" b="1" dirty="0"/>
              <a:t>), а семьи — на группы.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39" y="541774"/>
            <a:ext cx="6768261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Классификация народов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5A664B-A712-4308-958D-6599D5D07367}"/>
              </a:ext>
            </a:extLst>
          </p:cNvPr>
          <p:cNvSpPr txBox="1"/>
          <p:nvPr/>
        </p:nvSpPr>
        <p:spPr>
          <a:xfrm>
            <a:off x="761999" y="4787908"/>
            <a:ext cx="17145001" cy="47705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Урало-самодийская языковая семья: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включает </a:t>
            </a:r>
            <a:r>
              <a:rPr lang="ru-RU" sz="3200" b="1" kern="0" dirty="0">
                <a:solidFill>
                  <a:srgbClr val="0070C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ф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инно-угорскую языковую группу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. </a:t>
            </a:r>
            <a:r>
              <a:rPr kumimoji="0" lang="ru-RU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Это 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финны, эстонцы (эсты), венгры (угры), коми, удмурты, марийцы, мордва, ханты, манси и многие другие племена и народы, многие из которых давно исчезли.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 defTabSz="796077">
              <a:defRPr/>
            </a:pPr>
            <a:r>
              <a:rPr kumimoji="0" lang="ru-RU" sz="40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Алтайская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языковая семья:</a:t>
            </a:r>
          </a:p>
          <a:p>
            <a:pPr marL="0" marR="0" lvl="0" indent="0" defTabSz="7960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включает </a:t>
            </a:r>
            <a:r>
              <a:rPr lang="ru-RU" sz="3200" b="1" kern="0" dirty="0">
                <a:solidFill>
                  <a:srgbClr val="0070C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тюркск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ую языковую группу</a:t>
            </a: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. К этой группе относятся азербайджанский, башкирский, татарский, киргизский, казахский, туркменский, узбекский и многие другие языки.</a:t>
            </a:r>
          </a:p>
        </p:txBody>
      </p:sp>
    </p:spTree>
    <p:extLst>
      <p:ext uri="{BB962C8B-B14F-4D97-AF65-F5344CB8AC3E}">
        <p14:creationId xmlns:p14="http://schemas.microsoft.com/office/powerpoint/2010/main" val="6768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5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pic>
        <p:nvPicPr>
          <p:cNvPr id="14" name="Picture 2" descr="https://www.culture.ru/storage/images/89e18e22-8acd-5719-9e84-13fdb23b5f8e/c_fill,g_center/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3100"/>
            <a:ext cx="12367845" cy="695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13019313" y="2324100"/>
            <a:ext cx="4994869" cy="569386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В IV веке на земли готов и римлян вторглись гунны — азиатские 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кочевники,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занявшие Юго-Восточную и Центральную Европу. Спасаясь от них, европейцы массово бежали на запад, тесня другие племена. Так на протяжении почти трех веков проходило Великое переселение народов.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BD2FC73-7311-42DC-9E01-30E61E3AC131}"/>
              </a:ext>
            </a:extLst>
          </p:cNvPr>
          <p:cNvSpPr txBox="1"/>
          <p:nvPr/>
        </p:nvSpPr>
        <p:spPr>
          <a:xfrm>
            <a:off x="685800" y="123754"/>
            <a:ext cx="1607031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ru-RU" sz="4800" b="1" dirty="0">
                <a:solidFill>
                  <a:schemeClr val="tx1"/>
                </a:solidFill>
                <a:cs typeface="Arial" panose="020B0604020202020204" pitchFamily="34" charset="0"/>
              </a:rPr>
              <a:t>«Великая славянская миграция»</a:t>
            </a: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 smtClean="0">
                <a:solidFill>
                  <a:srgbClr val="323232"/>
                </a:solidFill>
                <a:latin typeface="Veleka"/>
              </a:rPr>
              <a:t>6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10439399" y="1516353"/>
            <a:ext cx="7126357" cy="791588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Западные славяне: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Польский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Словацкий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Чешский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Южные славяне :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Болгарский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Сербско-хорватский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Македонский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Восточные славяне :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Русский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Белорусский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Украинский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439263"/>
            <a:ext cx="7865358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0070C0"/>
                </a:solidFill>
              </a:rPr>
              <a:t>Славянская языковая группа</a:t>
            </a:r>
          </a:p>
        </p:txBody>
      </p:sp>
      <p:pic>
        <p:nvPicPr>
          <p:cNvPr id="1026" name="Picture 2" descr="https://upload.wikimedia.org/wikipedia/commons/thumb/8/89/Living_of_East_Slavs_by_Ivanov.jpg/220px-Living_of_East_Slavs_by_Ivano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83" y="2057399"/>
            <a:ext cx="8704385" cy="617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210968" y="8355020"/>
            <a:ext cx="57367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/>
              <a:t>«Древние славяне»</a:t>
            </a:r>
            <a:br>
              <a:rPr lang="ru-RU" sz="3200" b="1" i="1" dirty="0"/>
            </a:br>
            <a:r>
              <a:rPr lang="ru-RU" sz="3200" b="1" i="1" dirty="0"/>
              <a:t>С. В. Иванов, 1909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xmlns="" id="{657BC3B0-B796-436F-A0D8-BEB2D6C3D7FE}"/>
              </a:ext>
            </a:extLst>
          </p:cNvPr>
          <p:cNvSpPr/>
          <p:nvPr/>
        </p:nvSpPr>
        <p:spPr>
          <a:xfrm>
            <a:off x="13335000" y="2476500"/>
            <a:ext cx="228600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xmlns="" id="{C331041E-DEE1-443E-9B27-56379830E58B}"/>
              </a:ext>
            </a:extLst>
          </p:cNvPr>
          <p:cNvSpPr/>
          <p:nvPr/>
        </p:nvSpPr>
        <p:spPr>
          <a:xfrm>
            <a:off x="15246772" y="5301471"/>
            <a:ext cx="304800" cy="1371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xmlns="" id="{877F2FB1-9512-4F1D-A2CA-943ACDCEE551}"/>
              </a:ext>
            </a:extLst>
          </p:cNvPr>
          <p:cNvSpPr/>
          <p:nvPr/>
        </p:nvSpPr>
        <p:spPr>
          <a:xfrm>
            <a:off x="13794482" y="7734300"/>
            <a:ext cx="685800" cy="15697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61A36DB-DA72-4742-8246-0EC987407978}"/>
              </a:ext>
            </a:extLst>
          </p:cNvPr>
          <p:cNvSpPr txBox="1"/>
          <p:nvPr/>
        </p:nvSpPr>
        <p:spPr>
          <a:xfrm>
            <a:off x="13984982" y="2908012"/>
            <a:ext cx="15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языки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DD33E76-378B-40EB-92FA-B27BE9CDCAC0}"/>
              </a:ext>
            </a:extLst>
          </p:cNvPr>
          <p:cNvSpPr txBox="1"/>
          <p:nvPr/>
        </p:nvSpPr>
        <p:spPr>
          <a:xfrm>
            <a:off x="15739551" y="5694883"/>
            <a:ext cx="15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языки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693A38D-6BE7-446D-B671-A0A15DE34424}"/>
              </a:ext>
            </a:extLst>
          </p:cNvPr>
          <p:cNvSpPr txBox="1"/>
          <p:nvPr/>
        </p:nvSpPr>
        <p:spPr>
          <a:xfrm>
            <a:off x="14768277" y="8182984"/>
            <a:ext cx="15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языки</a:t>
            </a:r>
          </a:p>
        </p:txBody>
      </p:sp>
    </p:spTree>
    <p:extLst>
      <p:ext uri="{BB962C8B-B14F-4D97-AF65-F5344CB8AC3E}">
        <p14:creationId xmlns:p14="http://schemas.microsoft.com/office/powerpoint/2010/main" val="347126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7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11424543" y="1876078"/>
            <a:ext cx="6711057" cy="74789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400" b="1" dirty="0"/>
              <a:t>    </a:t>
            </a:r>
            <a:r>
              <a:rPr lang="ru-RU" sz="2400" b="1" dirty="0">
                <a:solidFill>
                  <a:srgbClr val="C0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Славяно-балтское единство </a:t>
            </a:r>
            <a:r>
              <a:rPr lang="ru-RU" sz="2400" b="1" dirty="0"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существует с первых веков н.э.</a:t>
            </a:r>
          </a:p>
          <a:p>
            <a:pPr algn="ctr"/>
            <a:endParaRPr lang="ru-RU" sz="2400" b="1" dirty="0"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Выделение славян из славяно-балтского единства – 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рубеж V–VI вв.</a:t>
            </a:r>
          </a:p>
          <a:p>
            <a:pPr algn="ctr"/>
            <a:endParaRPr lang="ru-RU" sz="2400" b="1" dirty="0">
              <a:solidFill>
                <a:srgbClr val="FF000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Древнейшая бесспорно славянская </a:t>
            </a:r>
            <a:b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</a:b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археологическая культура — </a:t>
            </a:r>
            <a:r>
              <a:rPr lang="ru-RU" sz="2400" b="1" dirty="0">
                <a:solidFill>
                  <a:srgbClr val="C0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пражско-корчакская </a:t>
            </a:r>
            <a:r>
              <a:rPr lang="ru-RU" sz="2400" b="1" i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(см. карту)</a:t>
            </a:r>
            <a:r>
              <a:rPr lang="ru-RU" sz="2400" b="1" dirty="0">
                <a:solidFill>
                  <a:srgbClr val="C0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ru-RU" sz="2400" b="1" dirty="0">
              <a:solidFill>
                <a:srgbClr val="C0000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Древнейшая прародина славян – Центральная Европа, район верховий 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Дуная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Эльбы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Одера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и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Вислы.</a:t>
            </a:r>
          </a:p>
          <a:p>
            <a:pPr algn="ctr"/>
            <a:endParaRPr lang="ru-RU" sz="2400" b="1" dirty="0">
              <a:solidFill>
                <a:srgbClr val="00206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Отсюда славяне расселялись по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Европе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:  западные – на север, вплоть до 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Балтийского моря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южные – на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Балканский полуостров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восточные – на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Карпаты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Днестр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Днепр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Припять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Волхов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Оку.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xmlns="" id="{E0FF85A4-FA85-4610-94A8-D05CFCC19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33500"/>
            <a:ext cx="11110218" cy="85641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D2FC73-7311-42DC-9E01-30E61E3AC131}"/>
              </a:ext>
            </a:extLst>
          </p:cNvPr>
          <p:cNvSpPr txBox="1"/>
          <p:nvPr/>
        </p:nvSpPr>
        <p:spPr>
          <a:xfrm>
            <a:off x="685800" y="123754"/>
            <a:ext cx="1607031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Происхождение восточных славян</a:t>
            </a:r>
          </a:p>
        </p:txBody>
      </p:sp>
    </p:spTree>
    <p:extLst>
      <p:ext uri="{BB962C8B-B14F-4D97-AF65-F5344CB8AC3E}">
        <p14:creationId xmlns:p14="http://schemas.microsoft.com/office/powerpoint/2010/main" val="203814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 smtClean="0">
                <a:solidFill>
                  <a:srgbClr val="323232"/>
                </a:solidFill>
                <a:latin typeface="Veleka"/>
              </a:rPr>
              <a:t>8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11424543" y="1876078"/>
            <a:ext cx="6711057" cy="60016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400" b="1" dirty="0"/>
              <a:t>    </a:t>
            </a:r>
            <a:r>
              <a:rPr lang="ru-RU" sz="2400" b="1" dirty="0">
                <a:solidFill>
                  <a:srgbClr val="C0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Славяно-балтское единство </a:t>
            </a:r>
            <a:r>
              <a:rPr lang="ru-RU" sz="2400" b="1" dirty="0"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существует с первых веков н.э.</a:t>
            </a:r>
          </a:p>
          <a:p>
            <a:pPr algn="ctr"/>
            <a:endParaRPr lang="ru-RU" sz="2400" b="1" dirty="0"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Выделение славян из славяно-балтского единства – </a:t>
            </a:r>
            <a:r>
              <a:rPr lang="ru-RU" sz="2400" b="1" dirty="0">
                <a:solidFill>
                  <a:srgbClr val="FF000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рубеж V–VI вв.</a:t>
            </a:r>
          </a:p>
          <a:p>
            <a:pPr algn="ctr"/>
            <a:endParaRPr lang="ru-RU" sz="2400" b="1" dirty="0">
              <a:solidFill>
                <a:srgbClr val="FF000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Древнейшая прародина славян – Центральная Европа, район верховий 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Дуная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Эльбы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Одера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и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Вислы.</a:t>
            </a:r>
          </a:p>
          <a:p>
            <a:pPr algn="ctr"/>
            <a:endParaRPr lang="ru-RU" sz="2400" b="1" dirty="0">
              <a:solidFill>
                <a:srgbClr val="002060"/>
              </a:solidFill>
              <a:latin typeface="Arial" panose="020B0604020202020204" pitchFamily="34" charset="0"/>
              <a:ea typeface="Segoe UI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Отсюда славяне расселялись по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Европе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:  западные – на север, вплоть до 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Балтийского моря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южные – на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Балканский полуостров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восточные – на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Карпаты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Днестр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Днепр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Припять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Волхов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Оку.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D2FC73-7311-42DC-9E01-30E61E3AC131}"/>
              </a:ext>
            </a:extLst>
          </p:cNvPr>
          <p:cNvSpPr txBox="1"/>
          <p:nvPr/>
        </p:nvSpPr>
        <p:spPr>
          <a:xfrm>
            <a:off x="685800" y="123754"/>
            <a:ext cx="1607031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ru-RU" sz="4800" b="1" dirty="0">
                <a:solidFill>
                  <a:schemeClr val="tx1"/>
                </a:solidFill>
                <a:cs typeface="Arial" panose="020B0604020202020204" pitchFamily="34" charset="0"/>
              </a:rPr>
              <a:t>Миграции восточных славян в </a:t>
            </a:r>
            <a:r>
              <a:rPr lang="en-US" sz="4800" b="1" dirty="0">
                <a:solidFill>
                  <a:schemeClr val="tx1"/>
                </a:solidFill>
                <a:cs typeface="Arial" panose="020B0604020202020204" pitchFamily="34" charset="0"/>
              </a:rPr>
              <a:t>VII-VIII</a:t>
            </a:r>
            <a:r>
              <a:rPr lang="ru-RU" sz="4800" b="1" dirty="0">
                <a:solidFill>
                  <a:schemeClr val="tx1"/>
                </a:solidFill>
                <a:cs typeface="Arial" panose="020B0604020202020204" pitchFamily="34" charset="0"/>
              </a:rPr>
              <a:t> вв.</a:t>
            </a: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94F54619-2CED-44AF-A4A6-F5D21A0E498D}"/>
              </a:ext>
            </a:extLst>
          </p:cNvPr>
          <p:cNvGrpSpPr/>
          <p:nvPr/>
        </p:nvGrpSpPr>
        <p:grpSpPr>
          <a:xfrm>
            <a:off x="152400" y="1718030"/>
            <a:ext cx="10972800" cy="8226070"/>
            <a:chOff x="533400" y="1718030"/>
            <a:chExt cx="9348717" cy="6865118"/>
          </a:xfrm>
        </p:grpSpPr>
        <p:pic>
          <p:nvPicPr>
            <p:cNvPr id="12" name="Рисунок 5">
              <a:extLst>
                <a:ext uri="{FF2B5EF4-FFF2-40B4-BE49-F238E27FC236}">
                  <a16:creationId xmlns:a16="http://schemas.microsoft.com/office/drawing/2014/main" xmlns="" id="{B2FCFABF-9474-470E-AF10-C3B42878B7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  <a14:imgEffect>
                        <a14:colorTemperature colorTemp="8324"/>
                      </a14:imgEffect>
                      <a14:imgEffect>
                        <a14:brightnessContrast bright="-16000" contrast="33000"/>
                      </a14:imgEffect>
                    </a14:imgLayer>
                  </a14:imgProps>
                </a:ext>
              </a:extLst>
            </a:blip>
            <a:srcRect r="4293"/>
            <a:stretch/>
          </p:blipFill>
          <p:spPr>
            <a:xfrm>
              <a:off x="533400" y="1718030"/>
              <a:ext cx="9348717" cy="68509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27F62B4E-531F-4F6B-AC04-8F9F6B632FA5}"/>
                </a:ext>
              </a:extLst>
            </p:cNvPr>
            <p:cNvSpPr txBox="1"/>
            <p:nvPr/>
          </p:nvSpPr>
          <p:spPr>
            <a:xfrm>
              <a:off x="2552119" y="5843026"/>
              <a:ext cx="110967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Королевство франков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A452A791-117F-4D9D-89D0-7957F8C56CBD}"/>
                </a:ext>
              </a:extLst>
            </p:cNvPr>
            <p:cNvSpPr txBox="1"/>
            <p:nvPr/>
          </p:nvSpPr>
          <p:spPr>
            <a:xfrm>
              <a:off x="7923962" y="5408151"/>
              <a:ext cx="1142163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Хазарский каганат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D7176429-9886-4C3B-94CA-B6649EBB65C7}"/>
                </a:ext>
              </a:extLst>
            </p:cNvPr>
            <p:cNvSpPr txBox="1"/>
            <p:nvPr/>
          </p:nvSpPr>
          <p:spPr>
            <a:xfrm>
              <a:off x="5251519" y="6470029"/>
              <a:ext cx="104168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Болгария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400EF18F-6820-45B9-9ADA-5471180B94DF}"/>
                </a:ext>
              </a:extLst>
            </p:cNvPr>
            <p:cNvSpPr txBox="1"/>
            <p:nvPr/>
          </p:nvSpPr>
          <p:spPr>
            <a:xfrm>
              <a:off x="5181769" y="7416840"/>
              <a:ext cx="181372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Византийская империя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C0B7988-BF3C-4548-9190-8F2A49132671}"/>
                </a:ext>
              </a:extLst>
            </p:cNvPr>
            <p:cNvSpPr txBox="1"/>
            <p:nvPr/>
          </p:nvSpPr>
          <p:spPr>
            <a:xfrm>
              <a:off x="1227418" y="7159859"/>
              <a:ext cx="1041681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Кордовский эмират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AE031693-4526-4EA7-9073-3DE052AE6942}"/>
                </a:ext>
              </a:extLst>
            </p:cNvPr>
            <p:cNvSpPr txBox="1"/>
            <p:nvPr/>
          </p:nvSpPr>
          <p:spPr>
            <a:xfrm>
              <a:off x="1565027" y="4795473"/>
              <a:ext cx="10416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Англы и саксы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22E4DAB-0864-4017-8556-28ECB9653402}"/>
                </a:ext>
              </a:extLst>
            </p:cNvPr>
            <p:cNvSpPr txBox="1"/>
            <p:nvPr/>
          </p:nvSpPr>
          <p:spPr>
            <a:xfrm>
              <a:off x="947381" y="6817827"/>
              <a:ext cx="104168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Астурия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774903BC-C73F-4EC5-8A50-1162A87E0064}"/>
                </a:ext>
              </a:extLst>
            </p:cNvPr>
            <p:cNvSpPr txBox="1"/>
            <p:nvPr/>
          </p:nvSpPr>
          <p:spPr>
            <a:xfrm>
              <a:off x="1310264" y="5765731"/>
              <a:ext cx="79001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Бретань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01FFDAF3-1884-4C08-B72B-6E9ECF702F40}"/>
                </a:ext>
              </a:extLst>
            </p:cNvPr>
            <p:cNvSpPr txBox="1"/>
            <p:nvPr/>
          </p:nvSpPr>
          <p:spPr>
            <a:xfrm>
              <a:off x="1310264" y="8361741"/>
              <a:ext cx="104168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Идрисиды</a:t>
              </a: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540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87C3278C-EE00-4DE6-AF2A-55533F515724}"/>
                </a:ext>
              </a:extLst>
            </p:cNvPr>
            <p:cNvSpPr txBox="1"/>
            <p:nvPr/>
          </p:nvSpPr>
          <p:spPr>
            <a:xfrm>
              <a:off x="8063612" y="8009129"/>
              <a:ext cx="104168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Абассиды</a:t>
              </a: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540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A08EDA68-2E58-4E65-B650-9C290616B4B8}"/>
                </a:ext>
              </a:extLst>
            </p:cNvPr>
            <p:cNvSpPr txBox="1"/>
            <p:nvPr/>
          </p:nvSpPr>
          <p:spPr>
            <a:xfrm>
              <a:off x="3950152" y="7151056"/>
              <a:ext cx="92185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Беневенто</a:t>
              </a: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540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5466BF06-1D7A-4349-AA9B-9E6D893F7735}"/>
                </a:ext>
              </a:extLst>
            </p:cNvPr>
            <p:cNvSpPr txBox="1"/>
            <p:nvPr/>
          </p:nvSpPr>
          <p:spPr>
            <a:xfrm>
              <a:off x="3490184" y="6711588"/>
              <a:ext cx="75507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2540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Папская обл.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8C2D7F8D-51C6-4D56-A240-B01CE1B035E5}"/>
                </a:ext>
              </a:extLst>
            </p:cNvPr>
            <p:cNvSpPr txBox="1"/>
            <p:nvPr/>
          </p:nvSpPr>
          <p:spPr>
            <a:xfrm>
              <a:off x="5308254" y="3245890"/>
              <a:ext cx="10416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Эсты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3D9EF30-CC05-4DE2-B2F7-B042824FB734}"/>
                </a:ext>
              </a:extLst>
            </p:cNvPr>
            <p:cNvSpPr txBox="1"/>
            <p:nvPr/>
          </p:nvSpPr>
          <p:spPr>
            <a:xfrm>
              <a:off x="788522" y="4692878"/>
              <a:ext cx="818547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Ирландия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E2E58CA8-3C23-4285-8C70-2675712BA732}"/>
                </a:ext>
              </a:extLst>
            </p:cNvPr>
            <p:cNvSpPr txBox="1"/>
            <p:nvPr/>
          </p:nvSpPr>
          <p:spPr>
            <a:xfrm>
              <a:off x="3850802" y="3670410"/>
              <a:ext cx="81316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Свевы</a:t>
              </a:r>
              <a:endPara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3175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9A0273B0-AF1B-4A0D-9656-14F3D9A3BDFF}"/>
                </a:ext>
              </a:extLst>
            </p:cNvPr>
            <p:cNvSpPr txBox="1"/>
            <p:nvPr/>
          </p:nvSpPr>
          <p:spPr>
            <a:xfrm>
              <a:off x="3403723" y="4190613"/>
              <a:ext cx="4941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Даны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72C8CED5-7148-46AB-B586-3DB836AB68C2}"/>
                </a:ext>
              </a:extLst>
            </p:cNvPr>
            <p:cNvSpPr txBox="1"/>
            <p:nvPr/>
          </p:nvSpPr>
          <p:spPr>
            <a:xfrm>
              <a:off x="5375683" y="3823103"/>
              <a:ext cx="74047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Балты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1BE88DCC-C202-4F35-A978-FBC85AA3C7D0}"/>
                </a:ext>
              </a:extLst>
            </p:cNvPr>
            <p:cNvSpPr txBox="1"/>
            <p:nvPr/>
          </p:nvSpPr>
          <p:spPr>
            <a:xfrm>
              <a:off x="5160665" y="2566693"/>
              <a:ext cx="10416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Финны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B80ED7D4-483E-4D30-8F0C-9BC6D692933E}"/>
                </a:ext>
              </a:extLst>
            </p:cNvPr>
            <p:cNvSpPr txBox="1"/>
            <p:nvPr/>
          </p:nvSpPr>
          <p:spPr>
            <a:xfrm>
              <a:off x="8652454" y="3770584"/>
              <a:ext cx="1041681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 Black" panose="020B0A04020102020204" pitchFamily="34" charset="0"/>
                  <a:ea typeface="+mn-ea"/>
                  <a:cs typeface="Arial" panose="020B0604020202020204" pitchFamily="34" charset="0"/>
                </a:rPr>
                <a:t>Волжская Болгария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253F5101-E2A0-4625-AC9B-FE7F07F5EA58}"/>
                </a:ext>
              </a:extLst>
            </p:cNvPr>
            <p:cNvSpPr txBox="1"/>
            <p:nvPr/>
          </p:nvSpPr>
          <p:spPr>
            <a:xfrm>
              <a:off x="5207851" y="5984181"/>
              <a:ext cx="61772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825500">
                      <a:srgbClr val="00FFFF">
                        <a:alpha val="50000"/>
                      </a:srgb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Южные славяне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FC8AC3A9-EA6E-4C04-AE5B-22382A74D379}"/>
                </a:ext>
              </a:extLst>
            </p:cNvPr>
            <p:cNvSpPr txBox="1"/>
            <p:nvPr/>
          </p:nvSpPr>
          <p:spPr>
            <a:xfrm>
              <a:off x="6823492" y="3148059"/>
              <a:ext cx="9148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Финно-</a:t>
              </a:r>
              <a:r>
                <a:rPr kumimoji="0" lang="ru-RU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угры</a:t>
              </a:r>
              <a:endPara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3175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D6F308F2-DA1C-4E8F-B22E-270B81E7FC65}"/>
                </a:ext>
              </a:extLst>
            </p:cNvPr>
            <p:cNvSpPr txBox="1"/>
            <p:nvPr/>
          </p:nvSpPr>
          <p:spPr>
            <a:xfrm>
              <a:off x="6249486" y="4674449"/>
              <a:ext cx="897911" cy="338554"/>
            </a:xfrm>
            <a:prstGeom prst="rect">
              <a:avLst/>
            </a:prstGeom>
            <a:noFill/>
            <a:effectLst>
              <a:glow rad="127000">
                <a:srgbClr val="FF0000"/>
              </a:glo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825500">
                      <a:srgbClr val="FF9797">
                        <a:alpha val="49804"/>
                      </a:srgb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Восточные славяне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AFBB2A7A-5BFD-4042-9152-01145C55C223}"/>
                </a:ext>
              </a:extLst>
            </p:cNvPr>
            <p:cNvSpPr txBox="1"/>
            <p:nvPr/>
          </p:nvSpPr>
          <p:spPr>
            <a:xfrm>
              <a:off x="7463872" y="7026320"/>
              <a:ext cx="10416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Абхазы</a:t>
              </a:r>
            </a:p>
          </p:txBody>
        </p:sp>
        <p:sp>
          <p:nvSpPr>
            <p:cNvPr id="36" name="Прямоугольник 34">
              <a:extLst>
                <a:ext uri="{FF2B5EF4-FFF2-40B4-BE49-F238E27FC236}">
                  <a16:creationId xmlns:a16="http://schemas.microsoft.com/office/drawing/2014/main" xmlns="" id="{089B1941-F8D2-4148-9BA3-8076EAFF9BE3}"/>
                </a:ext>
              </a:extLst>
            </p:cNvPr>
            <p:cNvSpPr/>
            <p:nvPr/>
          </p:nvSpPr>
          <p:spPr>
            <a:xfrm>
              <a:off x="8393506" y="8534609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Прямоугольник 35">
              <a:extLst>
                <a:ext uri="{FF2B5EF4-FFF2-40B4-BE49-F238E27FC236}">
                  <a16:creationId xmlns:a16="http://schemas.microsoft.com/office/drawing/2014/main" xmlns="" id="{75F026EA-669C-43CF-B4D7-F0484A7658D2}"/>
                </a:ext>
              </a:extLst>
            </p:cNvPr>
            <p:cNvSpPr/>
            <p:nvPr/>
          </p:nvSpPr>
          <p:spPr>
            <a:xfrm>
              <a:off x="8441539" y="8493148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Багдад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8CC07459-9097-4A74-AFC6-991C2D6CAF9A}"/>
                </a:ext>
              </a:extLst>
            </p:cNvPr>
            <p:cNvSpPr txBox="1"/>
            <p:nvPr/>
          </p:nvSpPr>
          <p:spPr>
            <a:xfrm>
              <a:off x="2100276" y="3961212"/>
              <a:ext cx="120801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Северное море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3B7432-DA3A-4849-9437-07773ACD9875}"/>
                </a:ext>
              </a:extLst>
            </p:cNvPr>
            <p:cNvSpPr txBox="1"/>
            <p:nvPr/>
          </p:nvSpPr>
          <p:spPr>
            <a:xfrm>
              <a:off x="947381" y="6356107"/>
              <a:ext cx="1208011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Бискайский залив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0FB6D6DB-F4A2-464B-B655-D47184DF943F}"/>
                </a:ext>
              </a:extLst>
            </p:cNvPr>
            <p:cNvSpPr txBox="1"/>
            <p:nvPr/>
          </p:nvSpPr>
          <p:spPr>
            <a:xfrm>
              <a:off x="6419124" y="6786506"/>
              <a:ext cx="120801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Черное море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9D75E55E-A726-46E7-B74A-698F0C4096DE}"/>
                </a:ext>
              </a:extLst>
            </p:cNvPr>
            <p:cNvSpPr txBox="1"/>
            <p:nvPr/>
          </p:nvSpPr>
          <p:spPr>
            <a:xfrm>
              <a:off x="4245254" y="4074409"/>
              <a:ext cx="105675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Балтийское море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4D114F3B-1893-4BFE-8BC9-AB2EA0AF061E}"/>
                </a:ext>
              </a:extLst>
            </p:cNvPr>
            <p:cNvSpPr txBox="1"/>
            <p:nvPr/>
          </p:nvSpPr>
          <p:spPr>
            <a:xfrm>
              <a:off x="8923260" y="6974159"/>
              <a:ext cx="55879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Каспийское море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1A0F65B8-A1C3-4BE7-979B-5F9E9A7C4698}"/>
                </a:ext>
              </a:extLst>
            </p:cNvPr>
            <p:cNvSpPr txBox="1"/>
            <p:nvPr/>
          </p:nvSpPr>
          <p:spPr>
            <a:xfrm>
              <a:off x="4018546" y="8104600"/>
              <a:ext cx="120801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Средиземное море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5070BB05-6BA2-4934-BB5D-933C3AF5B3D9}"/>
                </a:ext>
              </a:extLst>
            </p:cNvPr>
            <p:cNvSpPr txBox="1"/>
            <p:nvPr/>
          </p:nvSpPr>
          <p:spPr>
            <a:xfrm>
              <a:off x="5557804" y="7909663"/>
              <a:ext cx="55894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Эгейское море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A215FDF4-9D4B-4B40-89F4-713198C741C8}"/>
                </a:ext>
              </a:extLst>
            </p:cNvPr>
            <p:cNvSpPr txBox="1"/>
            <p:nvPr/>
          </p:nvSpPr>
          <p:spPr>
            <a:xfrm>
              <a:off x="4533345" y="7518340"/>
              <a:ext cx="69041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Ионическое море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B9ED4C51-546F-4153-B083-1CF4A88B8F20}"/>
                </a:ext>
              </a:extLst>
            </p:cNvPr>
            <p:cNvSpPr txBox="1"/>
            <p:nvPr/>
          </p:nvSpPr>
          <p:spPr>
            <a:xfrm rot="2464904">
              <a:off x="3813882" y="6799978"/>
              <a:ext cx="104788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Адриатическое море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88FF0BB6-06B8-40CF-B973-4EF48A684865}"/>
                </a:ext>
              </a:extLst>
            </p:cNvPr>
            <p:cNvSpPr txBox="1"/>
            <p:nvPr/>
          </p:nvSpPr>
          <p:spPr>
            <a:xfrm>
              <a:off x="3661796" y="7434822"/>
              <a:ext cx="69041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Тирренское море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D041928-A1DA-42B1-B238-D1C611ED099D}"/>
                </a:ext>
              </a:extLst>
            </p:cNvPr>
            <p:cNvSpPr txBox="1"/>
            <p:nvPr/>
          </p:nvSpPr>
          <p:spPr>
            <a:xfrm>
              <a:off x="1565027" y="5450809"/>
              <a:ext cx="66726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Ла-Манш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A3AF1CFF-0968-48A4-B53F-7CC040E383A0}"/>
                </a:ext>
              </a:extLst>
            </p:cNvPr>
            <p:cNvSpPr txBox="1"/>
            <p:nvPr/>
          </p:nvSpPr>
          <p:spPr>
            <a:xfrm>
              <a:off x="6534427" y="5493478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Днепр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1838FFB4-E74C-4F7A-B0C7-1BF0536CF629}"/>
                </a:ext>
              </a:extLst>
            </p:cNvPr>
            <p:cNvSpPr txBox="1"/>
            <p:nvPr/>
          </p:nvSpPr>
          <p:spPr>
            <a:xfrm>
              <a:off x="7552196" y="5270861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Дон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D1A1CDE9-38FA-48DC-B9F1-2660224D2390}"/>
                </a:ext>
              </a:extLst>
            </p:cNvPr>
            <p:cNvSpPr txBox="1"/>
            <p:nvPr/>
          </p:nvSpPr>
          <p:spPr>
            <a:xfrm>
              <a:off x="9321149" y="5642821"/>
              <a:ext cx="3105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Урал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5C6E7B21-51F5-4E43-AC01-E581DDC47BAC}"/>
                </a:ext>
              </a:extLst>
            </p:cNvPr>
            <p:cNvSpPr txBox="1"/>
            <p:nvPr/>
          </p:nvSpPr>
          <p:spPr>
            <a:xfrm>
              <a:off x="8495043" y="5911268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Волга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D7DA7369-0F15-4776-8521-ED3EEBC8E24B}"/>
                </a:ext>
              </a:extLst>
            </p:cNvPr>
            <p:cNvSpPr txBox="1"/>
            <p:nvPr/>
          </p:nvSpPr>
          <p:spPr>
            <a:xfrm>
              <a:off x="9075151" y="4230273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Кама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A9EB7BA1-11E5-4C55-B234-843F9D85F5C2}"/>
                </a:ext>
              </a:extLst>
            </p:cNvPr>
            <p:cNvSpPr txBox="1"/>
            <p:nvPr/>
          </p:nvSpPr>
          <p:spPr>
            <a:xfrm>
              <a:off x="8338454" y="3948067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Волга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64B1C36D-63F9-4311-96AF-C5138FB89320}"/>
                </a:ext>
              </a:extLst>
            </p:cNvPr>
            <p:cNvSpPr txBox="1"/>
            <p:nvPr/>
          </p:nvSpPr>
          <p:spPr>
            <a:xfrm>
              <a:off x="6276767" y="3088187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Нева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3AE63177-6BA6-4CD4-BBB9-A15CCCF04999}"/>
                </a:ext>
              </a:extLst>
            </p:cNvPr>
            <p:cNvSpPr txBox="1"/>
            <p:nvPr/>
          </p:nvSpPr>
          <p:spPr>
            <a:xfrm>
              <a:off x="5464003" y="6666273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Дунай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B208AC41-A5FC-44B3-89BF-F9673B199E7A}"/>
                </a:ext>
              </a:extLst>
            </p:cNvPr>
            <p:cNvSpPr txBox="1"/>
            <p:nvPr/>
          </p:nvSpPr>
          <p:spPr>
            <a:xfrm>
              <a:off x="4663968" y="4644837"/>
              <a:ext cx="104168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825500">
                      <a:srgbClr val="0DFF7A">
                        <a:alpha val="50000"/>
                      </a:srgb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Западные славяне</a:t>
              </a:r>
            </a:p>
          </p:txBody>
        </p:sp>
        <p:cxnSp>
          <p:nvCxnSpPr>
            <p:cNvPr id="58" name="Прямая со стрелкой 2">
              <a:extLst>
                <a:ext uri="{FF2B5EF4-FFF2-40B4-BE49-F238E27FC236}">
                  <a16:creationId xmlns:a16="http://schemas.microsoft.com/office/drawing/2014/main" xmlns="" id="{7AB2E18D-5C76-4931-BA80-63CEB1BF2CD4}"/>
                </a:ext>
              </a:extLst>
            </p:cNvPr>
            <p:cNvCxnSpPr/>
            <p:nvPr/>
          </p:nvCxnSpPr>
          <p:spPr>
            <a:xfrm flipV="1">
              <a:off x="5705649" y="5272858"/>
              <a:ext cx="785966" cy="217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6">
              <a:extLst>
                <a:ext uri="{FF2B5EF4-FFF2-40B4-BE49-F238E27FC236}">
                  <a16:creationId xmlns:a16="http://schemas.microsoft.com/office/drawing/2014/main" xmlns="" id="{7DDEF3B5-B3EA-4BFD-B0D7-664156D5F1C4}"/>
                </a:ext>
              </a:extLst>
            </p:cNvPr>
            <p:cNvCxnSpPr/>
            <p:nvPr/>
          </p:nvCxnSpPr>
          <p:spPr>
            <a:xfrm flipH="1">
              <a:off x="5571119" y="5493478"/>
              <a:ext cx="109396" cy="4698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8">
              <a:extLst>
                <a:ext uri="{FF2B5EF4-FFF2-40B4-BE49-F238E27FC236}">
                  <a16:creationId xmlns:a16="http://schemas.microsoft.com/office/drawing/2014/main" xmlns="" id="{2BEA36A4-A48F-4B33-A9E4-572858E8012A}"/>
                </a:ext>
              </a:extLst>
            </p:cNvPr>
            <p:cNvCxnSpPr>
              <a:cxnSpLocks/>
              <a:stCxn id="150" idx="2"/>
            </p:cNvCxnSpPr>
            <p:nvPr/>
          </p:nvCxnSpPr>
          <p:spPr>
            <a:xfrm flipH="1" flipV="1">
              <a:off x="5302007" y="4928824"/>
              <a:ext cx="382102" cy="549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Прямоугольник 68">
              <a:extLst>
                <a:ext uri="{FF2B5EF4-FFF2-40B4-BE49-F238E27FC236}">
                  <a16:creationId xmlns:a16="http://schemas.microsoft.com/office/drawing/2014/main" xmlns="" id="{BAB5B351-A0EA-42AE-873B-C65F946B5DC0}"/>
                </a:ext>
              </a:extLst>
            </p:cNvPr>
            <p:cNvSpPr/>
            <p:nvPr/>
          </p:nvSpPr>
          <p:spPr>
            <a:xfrm>
              <a:off x="1125629" y="772935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" name="Прямоугольник 69">
              <a:extLst>
                <a:ext uri="{FF2B5EF4-FFF2-40B4-BE49-F238E27FC236}">
                  <a16:creationId xmlns:a16="http://schemas.microsoft.com/office/drawing/2014/main" xmlns="" id="{1BDE98B4-ECC9-487E-9ADE-5CBEDD6E0E83}"/>
                </a:ext>
              </a:extLst>
            </p:cNvPr>
            <p:cNvSpPr/>
            <p:nvPr/>
          </p:nvSpPr>
          <p:spPr>
            <a:xfrm>
              <a:off x="1174432" y="7699797"/>
              <a:ext cx="428264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Севилья</a:t>
              </a:r>
            </a:p>
          </p:txBody>
        </p:sp>
        <p:sp>
          <p:nvSpPr>
            <p:cNvPr id="63" name="Прямоугольник 70">
              <a:extLst>
                <a:ext uri="{FF2B5EF4-FFF2-40B4-BE49-F238E27FC236}">
                  <a16:creationId xmlns:a16="http://schemas.microsoft.com/office/drawing/2014/main" xmlns="" id="{13BEE46E-8841-4550-8564-3E8796CB25A8}"/>
                </a:ext>
              </a:extLst>
            </p:cNvPr>
            <p:cNvSpPr/>
            <p:nvPr/>
          </p:nvSpPr>
          <p:spPr>
            <a:xfrm>
              <a:off x="1950867" y="795882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" name="Прямоугольник 71">
              <a:extLst>
                <a:ext uri="{FF2B5EF4-FFF2-40B4-BE49-F238E27FC236}">
                  <a16:creationId xmlns:a16="http://schemas.microsoft.com/office/drawing/2014/main" xmlns="" id="{041AFF12-97A9-4395-BDB8-7E3E27C5855D}"/>
                </a:ext>
              </a:extLst>
            </p:cNvPr>
            <p:cNvSpPr/>
            <p:nvPr/>
          </p:nvSpPr>
          <p:spPr>
            <a:xfrm>
              <a:off x="2013100" y="7945717"/>
              <a:ext cx="509098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Картахена</a:t>
              </a:r>
            </a:p>
          </p:txBody>
        </p:sp>
        <p:sp>
          <p:nvSpPr>
            <p:cNvPr id="65" name="Прямоугольник 72">
              <a:extLst>
                <a:ext uri="{FF2B5EF4-FFF2-40B4-BE49-F238E27FC236}">
                  <a16:creationId xmlns:a16="http://schemas.microsoft.com/office/drawing/2014/main" xmlns="" id="{52882617-C394-44C2-BB05-36DFA77EBDE2}"/>
                </a:ext>
              </a:extLst>
            </p:cNvPr>
            <p:cNvSpPr/>
            <p:nvPr/>
          </p:nvSpPr>
          <p:spPr>
            <a:xfrm>
              <a:off x="2230006" y="7606649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" name="Прямоугольник 73">
              <a:extLst>
                <a:ext uri="{FF2B5EF4-FFF2-40B4-BE49-F238E27FC236}">
                  <a16:creationId xmlns:a16="http://schemas.microsoft.com/office/drawing/2014/main" xmlns="" id="{B1557CDF-8ACC-45FB-8E04-1A9FD815DB7E}"/>
                </a:ext>
              </a:extLst>
            </p:cNvPr>
            <p:cNvSpPr/>
            <p:nvPr/>
          </p:nvSpPr>
          <p:spPr>
            <a:xfrm>
              <a:off x="2283185" y="7572413"/>
              <a:ext cx="469369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Валенсия</a:t>
              </a:r>
            </a:p>
          </p:txBody>
        </p:sp>
        <p:sp>
          <p:nvSpPr>
            <p:cNvPr id="67" name="Прямоугольник 74">
              <a:extLst>
                <a:ext uri="{FF2B5EF4-FFF2-40B4-BE49-F238E27FC236}">
                  <a16:creationId xmlns:a16="http://schemas.microsoft.com/office/drawing/2014/main" xmlns="" id="{15F16AEE-B25B-41DF-B1AF-F1972DE0C784}"/>
                </a:ext>
              </a:extLst>
            </p:cNvPr>
            <p:cNvSpPr/>
            <p:nvPr/>
          </p:nvSpPr>
          <p:spPr>
            <a:xfrm>
              <a:off x="2471636" y="7221042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Прямоугольник 75">
              <a:extLst>
                <a:ext uri="{FF2B5EF4-FFF2-40B4-BE49-F238E27FC236}">
                  <a16:creationId xmlns:a16="http://schemas.microsoft.com/office/drawing/2014/main" xmlns="" id="{CFA3523F-B5F2-4EC4-ADBB-DF6416408518}"/>
                </a:ext>
              </a:extLst>
            </p:cNvPr>
            <p:cNvSpPr/>
            <p:nvPr/>
          </p:nvSpPr>
          <p:spPr>
            <a:xfrm>
              <a:off x="2529131" y="7198456"/>
              <a:ext cx="54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Барселона</a:t>
              </a:r>
            </a:p>
          </p:txBody>
        </p:sp>
        <p:sp>
          <p:nvSpPr>
            <p:cNvPr id="69" name="Прямоугольник 76">
              <a:extLst>
                <a:ext uri="{FF2B5EF4-FFF2-40B4-BE49-F238E27FC236}">
                  <a16:creationId xmlns:a16="http://schemas.microsoft.com/office/drawing/2014/main" xmlns="" id="{DAF1F13A-2369-4462-9D28-A8B9FD579070}"/>
                </a:ext>
              </a:extLst>
            </p:cNvPr>
            <p:cNvSpPr/>
            <p:nvPr/>
          </p:nvSpPr>
          <p:spPr>
            <a:xfrm>
              <a:off x="1606056" y="7541059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Прямоугольник 77">
              <a:extLst>
                <a:ext uri="{FF2B5EF4-FFF2-40B4-BE49-F238E27FC236}">
                  <a16:creationId xmlns:a16="http://schemas.microsoft.com/office/drawing/2014/main" xmlns="" id="{D6F9FE41-546F-4ACE-8175-FE730892F771}"/>
                </a:ext>
              </a:extLst>
            </p:cNvPr>
            <p:cNvSpPr/>
            <p:nvPr/>
          </p:nvSpPr>
          <p:spPr>
            <a:xfrm>
              <a:off x="1653100" y="7505785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Толедо</a:t>
              </a:r>
            </a:p>
          </p:txBody>
        </p:sp>
        <p:sp>
          <p:nvSpPr>
            <p:cNvPr id="71" name="Прямоугольник 78">
              <a:extLst>
                <a:ext uri="{FF2B5EF4-FFF2-40B4-BE49-F238E27FC236}">
                  <a16:creationId xmlns:a16="http://schemas.microsoft.com/office/drawing/2014/main" xmlns="" id="{4869085B-D9B2-4D53-A691-BC04FC9EAEE8}"/>
                </a:ext>
              </a:extLst>
            </p:cNvPr>
            <p:cNvSpPr/>
            <p:nvPr/>
          </p:nvSpPr>
          <p:spPr>
            <a:xfrm>
              <a:off x="1797403" y="78351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2" name="Прямоугольник 79">
              <a:extLst>
                <a:ext uri="{FF2B5EF4-FFF2-40B4-BE49-F238E27FC236}">
                  <a16:creationId xmlns:a16="http://schemas.microsoft.com/office/drawing/2014/main" xmlns="" id="{51719F1B-E3BE-4F1D-B2EE-AA721CE4475D}"/>
                </a:ext>
              </a:extLst>
            </p:cNvPr>
            <p:cNvSpPr/>
            <p:nvPr/>
          </p:nvSpPr>
          <p:spPr>
            <a:xfrm>
              <a:off x="1859636" y="7812520"/>
              <a:ext cx="423549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Кордова</a:t>
              </a:r>
            </a:p>
          </p:txBody>
        </p:sp>
        <p:sp>
          <p:nvSpPr>
            <p:cNvPr id="73" name="Прямоугольник 80">
              <a:extLst>
                <a:ext uri="{FF2B5EF4-FFF2-40B4-BE49-F238E27FC236}">
                  <a16:creationId xmlns:a16="http://schemas.microsoft.com/office/drawing/2014/main" xmlns="" id="{50AD3172-EEFA-4A84-8243-E3CDBEA1C122}"/>
                </a:ext>
              </a:extLst>
            </p:cNvPr>
            <p:cNvSpPr/>
            <p:nvPr/>
          </p:nvSpPr>
          <p:spPr>
            <a:xfrm>
              <a:off x="2155889" y="6498658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4" name="Прямоугольник 81">
              <a:extLst>
                <a:ext uri="{FF2B5EF4-FFF2-40B4-BE49-F238E27FC236}">
                  <a16:creationId xmlns:a16="http://schemas.microsoft.com/office/drawing/2014/main" xmlns="" id="{F6C337F1-1549-436C-BF03-F736EF9999C0}"/>
                </a:ext>
              </a:extLst>
            </p:cNvPr>
            <p:cNvSpPr/>
            <p:nvPr/>
          </p:nvSpPr>
          <p:spPr>
            <a:xfrm>
              <a:off x="2213384" y="6476072"/>
              <a:ext cx="315747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Бордо</a:t>
              </a:r>
            </a:p>
          </p:txBody>
        </p:sp>
        <p:sp>
          <p:nvSpPr>
            <p:cNvPr id="75" name="Прямоугольник 82">
              <a:extLst>
                <a:ext uri="{FF2B5EF4-FFF2-40B4-BE49-F238E27FC236}">
                  <a16:creationId xmlns:a16="http://schemas.microsoft.com/office/drawing/2014/main" xmlns="" id="{C00CB932-170F-49A9-BCEE-DA8E9CD48768}"/>
                </a:ext>
              </a:extLst>
            </p:cNvPr>
            <p:cNvSpPr/>
            <p:nvPr/>
          </p:nvSpPr>
          <p:spPr>
            <a:xfrm>
              <a:off x="2926562" y="679771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6" name="Прямоугольник 83">
              <a:extLst>
                <a:ext uri="{FF2B5EF4-FFF2-40B4-BE49-F238E27FC236}">
                  <a16:creationId xmlns:a16="http://schemas.microsoft.com/office/drawing/2014/main" xmlns="" id="{26A5916C-7FF8-453B-ADD1-883B24DC18C8}"/>
                </a:ext>
              </a:extLst>
            </p:cNvPr>
            <p:cNvSpPr/>
            <p:nvPr/>
          </p:nvSpPr>
          <p:spPr>
            <a:xfrm>
              <a:off x="2984057" y="6775130"/>
              <a:ext cx="438648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Марсель</a:t>
              </a:r>
            </a:p>
          </p:txBody>
        </p:sp>
        <p:sp>
          <p:nvSpPr>
            <p:cNvPr id="77" name="Прямоугольник 84">
              <a:extLst>
                <a:ext uri="{FF2B5EF4-FFF2-40B4-BE49-F238E27FC236}">
                  <a16:creationId xmlns:a16="http://schemas.microsoft.com/office/drawing/2014/main" xmlns="" id="{F9840BB2-A7EE-4979-9BD2-018B84D8F7AF}"/>
                </a:ext>
              </a:extLst>
            </p:cNvPr>
            <p:cNvSpPr/>
            <p:nvPr/>
          </p:nvSpPr>
          <p:spPr>
            <a:xfrm>
              <a:off x="2055847" y="604749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8" name="Прямоугольник 85">
              <a:extLst>
                <a:ext uri="{FF2B5EF4-FFF2-40B4-BE49-F238E27FC236}">
                  <a16:creationId xmlns:a16="http://schemas.microsoft.com/office/drawing/2014/main" xmlns="" id="{1682D3DF-993C-4620-9397-DE32E17CA2E0}"/>
                </a:ext>
              </a:extLst>
            </p:cNvPr>
            <p:cNvSpPr/>
            <p:nvPr/>
          </p:nvSpPr>
          <p:spPr>
            <a:xfrm>
              <a:off x="2113342" y="6024904"/>
              <a:ext cx="238603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Нант</a:t>
              </a:r>
            </a:p>
          </p:txBody>
        </p:sp>
        <p:sp>
          <p:nvSpPr>
            <p:cNvPr id="79" name="Прямоугольник 86">
              <a:extLst>
                <a:ext uri="{FF2B5EF4-FFF2-40B4-BE49-F238E27FC236}">
                  <a16:creationId xmlns:a16="http://schemas.microsoft.com/office/drawing/2014/main" xmlns="" id="{515DA131-8B4C-4476-B41F-06EBEACC1C0E}"/>
                </a:ext>
              </a:extLst>
            </p:cNvPr>
            <p:cNvSpPr/>
            <p:nvPr/>
          </p:nvSpPr>
          <p:spPr>
            <a:xfrm>
              <a:off x="2522198" y="5735159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0" name="Прямоугольник 87">
              <a:extLst>
                <a:ext uri="{FF2B5EF4-FFF2-40B4-BE49-F238E27FC236}">
                  <a16:creationId xmlns:a16="http://schemas.microsoft.com/office/drawing/2014/main" xmlns="" id="{77B21F04-1284-4B63-9BB8-3E0EFA37D44A}"/>
                </a:ext>
              </a:extLst>
            </p:cNvPr>
            <p:cNvSpPr/>
            <p:nvPr/>
          </p:nvSpPr>
          <p:spPr>
            <a:xfrm>
              <a:off x="2581413" y="5703519"/>
              <a:ext cx="324648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Париж</a:t>
              </a:r>
            </a:p>
          </p:txBody>
        </p:sp>
        <p:sp>
          <p:nvSpPr>
            <p:cNvPr id="81" name="Прямоугольник 88">
              <a:extLst>
                <a:ext uri="{FF2B5EF4-FFF2-40B4-BE49-F238E27FC236}">
                  <a16:creationId xmlns:a16="http://schemas.microsoft.com/office/drawing/2014/main" xmlns="" id="{2BDA4A9B-E547-4E9F-AB9E-F65E39357CBC}"/>
                </a:ext>
              </a:extLst>
            </p:cNvPr>
            <p:cNvSpPr/>
            <p:nvPr/>
          </p:nvSpPr>
          <p:spPr>
            <a:xfrm>
              <a:off x="3276404" y="538573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2" name="Прямоугольник 89">
              <a:extLst>
                <a:ext uri="{FF2B5EF4-FFF2-40B4-BE49-F238E27FC236}">
                  <a16:creationId xmlns:a16="http://schemas.microsoft.com/office/drawing/2014/main" xmlns="" id="{030DC6CF-DB59-4C51-AA06-4F63EA3ECC9F}"/>
                </a:ext>
              </a:extLst>
            </p:cNvPr>
            <p:cNvSpPr/>
            <p:nvPr/>
          </p:nvSpPr>
          <p:spPr>
            <a:xfrm>
              <a:off x="3333899" y="5363151"/>
              <a:ext cx="327897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Майнц</a:t>
              </a:r>
            </a:p>
          </p:txBody>
        </p:sp>
        <p:sp>
          <p:nvSpPr>
            <p:cNvPr id="83" name="Прямоугольник 90">
              <a:extLst>
                <a:ext uri="{FF2B5EF4-FFF2-40B4-BE49-F238E27FC236}">
                  <a16:creationId xmlns:a16="http://schemas.microsoft.com/office/drawing/2014/main" xmlns="" id="{EDA38089-6094-4A41-97A9-D28A53073877}"/>
                </a:ext>
              </a:extLst>
            </p:cNvPr>
            <p:cNvSpPr/>
            <p:nvPr/>
          </p:nvSpPr>
          <p:spPr>
            <a:xfrm>
              <a:off x="2909079" y="637439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4" name="Прямоугольник 91">
              <a:extLst>
                <a:ext uri="{FF2B5EF4-FFF2-40B4-BE49-F238E27FC236}">
                  <a16:creationId xmlns:a16="http://schemas.microsoft.com/office/drawing/2014/main" xmlns="" id="{54094ED9-B0BA-4C98-B9C2-F968CE7C0951}"/>
                </a:ext>
              </a:extLst>
            </p:cNvPr>
            <p:cNvSpPr/>
            <p:nvPr/>
          </p:nvSpPr>
          <p:spPr>
            <a:xfrm>
              <a:off x="2963556" y="6345768"/>
              <a:ext cx="240617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Лион</a:t>
              </a:r>
            </a:p>
          </p:txBody>
        </p:sp>
        <p:sp>
          <p:nvSpPr>
            <p:cNvPr id="85" name="Прямоугольник 92">
              <a:extLst>
                <a:ext uri="{FF2B5EF4-FFF2-40B4-BE49-F238E27FC236}">
                  <a16:creationId xmlns:a16="http://schemas.microsoft.com/office/drawing/2014/main" xmlns="" id="{2524803B-BD8B-42E3-97D6-0AD20290F1C6}"/>
                </a:ext>
              </a:extLst>
            </p:cNvPr>
            <p:cNvSpPr/>
            <p:nvPr/>
          </p:nvSpPr>
          <p:spPr>
            <a:xfrm>
              <a:off x="2735128" y="5590709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" name="Прямоугольник 93">
              <a:extLst>
                <a:ext uri="{FF2B5EF4-FFF2-40B4-BE49-F238E27FC236}">
                  <a16:creationId xmlns:a16="http://schemas.microsoft.com/office/drawing/2014/main" xmlns="" id="{FD7F0CEB-443F-45EB-8CE6-028C36008C6D}"/>
                </a:ext>
              </a:extLst>
            </p:cNvPr>
            <p:cNvSpPr/>
            <p:nvPr/>
          </p:nvSpPr>
          <p:spPr>
            <a:xfrm>
              <a:off x="2792623" y="5553033"/>
              <a:ext cx="311962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Реймс</a:t>
              </a:r>
            </a:p>
          </p:txBody>
        </p:sp>
        <p:sp>
          <p:nvSpPr>
            <p:cNvPr id="87" name="Прямоугольник 94">
              <a:extLst>
                <a:ext uri="{FF2B5EF4-FFF2-40B4-BE49-F238E27FC236}">
                  <a16:creationId xmlns:a16="http://schemas.microsoft.com/office/drawing/2014/main" xmlns="" id="{11264370-5481-4B22-8E9C-65CF0E1A7B38}"/>
                </a:ext>
              </a:extLst>
            </p:cNvPr>
            <p:cNvSpPr/>
            <p:nvPr/>
          </p:nvSpPr>
          <p:spPr>
            <a:xfrm>
              <a:off x="3456477" y="643297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Прямоугольник 95">
              <a:extLst>
                <a:ext uri="{FF2B5EF4-FFF2-40B4-BE49-F238E27FC236}">
                  <a16:creationId xmlns:a16="http://schemas.microsoft.com/office/drawing/2014/main" xmlns="" id="{67C32897-D0BC-42C6-92FB-5CFCD778B74D}"/>
                </a:ext>
              </a:extLst>
            </p:cNvPr>
            <p:cNvSpPr/>
            <p:nvPr/>
          </p:nvSpPr>
          <p:spPr>
            <a:xfrm>
              <a:off x="3513972" y="6398318"/>
              <a:ext cx="320989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Милан</a:t>
              </a:r>
            </a:p>
          </p:txBody>
        </p:sp>
        <p:sp>
          <p:nvSpPr>
            <p:cNvPr id="89" name="Прямоугольник 96">
              <a:extLst>
                <a:ext uri="{FF2B5EF4-FFF2-40B4-BE49-F238E27FC236}">
                  <a16:creationId xmlns:a16="http://schemas.microsoft.com/office/drawing/2014/main" xmlns="" id="{7FC9D66B-3624-4E40-ADAA-44A3A4330C0B}"/>
                </a:ext>
              </a:extLst>
            </p:cNvPr>
            <p:cNvSpPr/>
            <p:nvPr/>
          </p:nvSpPr>
          <p:spPr>
            <a:xfrm>
              <a:off x="3952137" y="659929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0" name="Прямоугольник 97">
              <a:extLst>
                <a:ext uri="{FF2B5EF4-FFF2-40B4-BE49-F238E27FC236}">
                  <a16:creationId xmlns:a16="http://schemas.microsoft.com/office/drawing/2014/main" xmlns="" id="{9C432BAC-346A-4AE7-A6D7-601829560316}"/>
                </a:ext>
              </a:extLst>
            </p:cNvPr>
            <p:cNvSpPr/>
            <p:nvPr/>
          </p:nvSpPr>
          <p:spPr>
            <a:xfrm>
              <a:off x="3509935" y="6571541"/>
              <a:ext cx="421503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Равенна</a:t>
              </a:r>
            </a:p>
          </p:txBody>
        </p:sp>
        <p:sp>
          <p:nvSpPr>
            <p:cNvPr id="91" name="Прямоугольник 98">
              <a:extLst>
                <a:ext uri="{FF2B5EF4-FFF2-40B4-BE49-F238E27FC236}">
                  <a16:creationId xmlns:a16="http://schemas.microsoft.com/office/drawing/2014/main" xmlns="" id="{F73FDB17-3882-4637-8C92-1A91CD3B9061}"/>
                </a:ext>
              </a:extLst>
            </p:cNvPr>
            <p:cNvSpPr/>
            <p:nvPr/>
          </p:nvSpPr>
          <p:spPr>
            <a:xfrm>
              <a:off x="3973292" y="7088974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" name="Прямоугольник 99">
              <a:extLst>
                <a:ext uri="{FF2B5EF4-FFF2-40B4-BE49-F238E27FC236}">
                  <a16:creationId xmlns:a16="http://schemas.microsoft.com/office/drawing/2014/main" xmlns="" id="{43DFA31E-A6A9-4C92-9BC8-B8625262A212}"/>
                </a:ext>
              </a:extLst>
            </p:cNvPr>
            <p:cNvSpPr/>
            <p:nvPr/>
          </p:nvSpPr>
          <p:spPr>
            <a:xfrm>
              <a:off x="4036529" y="7062352"/>
              <a:ext cx="211812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Рим</a:t>
              </a:r>
            </a:p>
          </p:txBody>
        </p:sp>
        <p:sp>
          <p:nvSpPr>
            <p:cNvPr id="93" name="Прямоугольник 100">
              <a:extLst>
                <a:ext uri="{FF2B5EF4-FFF2-40B4-BE49-F238E27FC236}">
                  <a16:creationId xmlns:a16="http://schemas.microsoft.com/office/drawing/2014/main" xmlns="" id="{F7474C77-5AA6-45E5-965D-324C01EA9B6E}"/>
                </a:ext>
              </a:extLst>
            </p:cNvPr>
            <p:cNvSpPr/>
            <p:nvPr/>
          </p:nvSpPr>
          <p:spPr>
            <a:xfrm>
              <a:off x="3640922" y="799991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4" name="Прямоугольник 101">
              <a:extLst>
                <a:ext uri="{FF2B5EF4-FFF2-40B4-BE49-F238E27FC236}">
                  <a16:creationId xmlns:a16="http://schemas.microsoft.com/office/drawing/2014/main" xmlns="" id="{6A00B535-D04D-441F-A4C9-8EE9B0E67225}"/>
                </a:ext>
              </a:extLst>
            </p:cNvPr>
            <p:cNvSpPr/>
            <p:nvPr/>
          </p:nvSpPr>
          <p:spPr>
            <a:xfrm>
              <a:off x="3698417" y="7968277"/>
              <a:ext cx="465424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Карфаген</a:t>
              </a:r>
            </a:p>
          </p:txBody>
        </p:sp>
        <p:sp>
          <p:nvSpPr>
            <p:cNvPr id="95" name="Прямоугольник 102">
              <a:extLst>
                <a:ext uri="{FF2B5EF4-FFF2-40B4-BE49-F238E27FC236}">
                  <a16:creationId xmlns:a16="http://schemas.microsoft.com/office/drawing/2014/main" xmlns="" id="{89AACEE8-91E2-4331-9327-9ECC551A4B34}"/>
                </a:ext>
              </a:extLst>
            </p:cNvPr>
            <p:cNvSpPr/>
            <p:nvPr/>
          </p:nvSpPr>
          <p:spPr>
            <a:xfrm>
              <a:off x="4445239" y="77901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6" name="Прямоугольник 103">
              <a:extLst>
                <a:ext uri="{FF2B5EF4-FFF2-40B4-BE49-F238E27FC236}">
                  <a16:creationId xmlns:a16="http://schemas.microsoft.com/office/drawing/2014/main" xmlns="" id="{6A892F50-8294-4F37-A8C7-ABAFFEA96E31}"/>
                </a:ext>
              </a:extLst>
            </p:cNvPr>
            <p:cNvSpPr/>
            <p:nvPr/>
          </p:nvSpPr>
          <p:spPr>
            <a:xfrm>
              <a:off x="4499716" y="7761484"/>
              <a:ext cx="325199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Реджо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7" name="Прямоугольник 104">
              <a:extLst>
                <a:ext uri="{FF2B5EF4-FFF2-40B4-BE49-F238E27FC236}">
                  <a16:creationId xmlns:a16="http://schemas.microsoft.com/office/drawing/2014/main" xmlns="" id="{FB1DAC23-8C45-420E-9D51-FCA404D4C3D3}"/>
                </a:ext>
              </a:extLst>
            </p:cNvPr>
            <p:cNvSpPr/>
            <p:nvPr/>
          </p:nvSpPr>
          <p:spPr>
            <a:xfrm>
              <a:off x="4094751" y="778979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8" name="Прямоугольник 105">
              <a:extLst>
                <a:ext uri="{FF2B5EF4-FFF2-40B4-BE49-F238E27FC236}">
                  <a16:creationId xmlns:a16="http://schemas.microsoft.com/office/drawing/2014/main" xmlns="" id="{40216D09-E8F0-4303-8C41-0E3C16555753}"/>
                </a:ext>
              </a:extLst>
            </p:cNvPr>
            <p:cNvSpPr/>
            <p:nvPr/>
          </p:nvSpPr>
          <p:spPr>
            <a:xfrm>
              <a:off x="3630529" y="7756303"/>
              <a:ext cx="444214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Палермо</a:t>
              </a:r>
            </a:p>
          </p:txBody>
        </p:sp>
        <p:sp>
          <p:nvSpPr>
            <p:cNvPr id="99" name="Прямоугольник 106">
              <a:extLst>
                <a:ext uri="{FF2B5EF4-FFF2-40B4-BE49-F238E27FC236}">
                  <a16:creationId xmlns:a16="http://schemas.microsoft.com/office/drawing/2014/main" xmlns="" id="{3C8B9532-1802-4B52-B3D7-506B43BE4956}"/>
                </a:ext>
              </a:extLst>
            </p:cNvPr>
            <p:cNvSpPr/>
            <p:nvPr/>
          </p:nvSpPr>
          <p:spPr>
            <a:xfrm>
              <a:off x="4294717" y="7312985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0" name="Прямоугольник 107">
              <a:extLst>
                <a:ext uri="{FF2B5EF4-FFF2-40B4-BE49-F238E27FC236}">
                  <a16:creationId xmlns:a16="http://schemas.microsoft.com/office/drawing/2014/main" xmlns="" id="{81BAC173-91F2-4EDB-8DAF-C63310030B44}"/>
                </a:ext>
              </a:extLst>
            </p:cNvPr>
            <p:cNvSpPr/>
            <p:nvPr/>
          </p:nvSpPr>
          <p:spPr>
            <a:xfrm>
              <a:off x="3852563" y="7291055"/>
              <a:ext cx="413983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Неаполь</a:t>
              </a:r>
            </a:p>
          </p:txBody>
        </p:sp>
        <p:sp>
          <p:nvSpPr>
            <p:cNvPr id="101" name="Прямоугольник 108">
              <a:extLst>
                <a:ext uri="{FF2B5EF4-FFF2-40B4-BE49-F238E27FC236}">
                  <a16:creationId xmlns:a16="http://schemas.microsoft.com/office/drawing/2014/main" xmlns="" id="{99018DE3-ACDD-479B-BD03-CB14AE12A1D9}"/>
                </a:ext>
              </a:extLst>
            </p:cNvPr>
            <p:cNvSpPr/>
            <p:nvPr/>
          </p:nvSpPr>
          <p:spPr>
            <a:xfrm>
              <a:off x="5915305" y="708476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2" name="Прямоугольник 109">
              <a:extLst>
                <a:ext uri="{FF2B5EF4-FFF2-40B4-BE49-F238E27FC236}">
                  <a16:creationId xmlns:a16="http://schemas.microsoft.com/office/drawing/2014/main" xmlns="" id="{F5458441-ED11-4174-B018-BBCF1CBB648F}"/>
                </a:ext>
              </a:extLst>
            </p:cNvPr>
            <p:cNvSpPr/>
            <p:nvPr/>
          </p:nvSpPr>
          <p:spPr>
            <a:xfrm>
              <a:off x="5247118" y="7047502"/>
              <a:ext cx="64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Адрианополь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" name="Прямоугольник 110">
              <a:extLst>
                <a:ext uri="{FF2B5EF4-FFF2-40B4-BE49-F238E27FC236}">
                  <a16:creationId xmlns:a16="http://schemas.microsoft.com/office/drawing/2014/main" xmlns="" id="{CCA0C218-BD6F-4431-8210-07465A5B5C53}"/>
                </a:ext>
              </a:extLst>
            </p:cNvPr>
            <p:cNvSpPr/>
            <p:nvPr/>
          </p:nvSpPr>
          <p:spPr>
            <a:xfrm>
              <a:off x="5516307" y="7795141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4" name="Прямоугольник 111">
              <a:extLst>
                <a:ext uri="{FF2B5EF4-FFF2-40B4-BE49-F238E27FC236}">
                  <a16:creationId xmlns:a16="http://schemas.microsoft.com/office/drawing/2014/main" xmlns="" id="{0E0974AB-CE5F-4088-AA4A-C87649F7CB98}"/>
                </a:ext>
              </a:extLst>
            </p:cNvPr>
            <p:cNvSpPr/>
            <p:nvPr/>
          </p:nvSpPr>
          <p:spPr>
            <a:xfrm>
              <a:off x="5564528" y="7780684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Афины</a:t>
              </a:r>
            </a:p>
          </p:txBody>
        </p:sp>
        <p:sp>
          <p:nvSpPr>
            <p:cNvPr id="105" name="Прямоугольник 112">
              <a:extLst>
                <a:ext uri="{FF2B5EF4-FFF2-40B4-BE49-F238E27FC236}">
                  <a16:creationId xmlns:a16="http://schemas.microsoft.com/office/drawing/2014/main" xmlns="" id="{933AFD8B-89DF-4940-96F8-0385CCB77AEE}"/>
                </a:ext>
              </a:extLst>
            </p:cNvPr>
            <p:cNvSpPr/>
            <p:nvPr/>
          </p:nvSpPr>
          <p:spPr>
            <a:xfrm>
              <a:off x="5401822" y="731544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Прямоугольник 113">
              <a:extLst>
                <a:ext uri="{FF2B5EF4-FFF2-40B4-BE49-F238E27FC236}">
                  <a16:creationId xmlns:a16="http://schemas.microsoft.com/office/drawing/2014/main" xmlns="" id="{804BD8DB-507F-4064-BEF9-8BB7322B384C}"/>
                </a:ext>
              </a:extLst>
            </p:cNvPr>
            <p:cNvSpPr/>
            <p:nvPr/>
          </p:nvSpPr>
          <p:spPr>
            <a:xfrm>
              <a:off x="4753308" y="7281742"/>
              <a:ext cx="626385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Фессалоника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7" name="Прямоугольник 114">
              <a:extLst>
                <a:ext uri="{FF2B5EF4-FFF2-40B4-BE49-F238E27FC236}">
                  <a16:creationId xmlns:a16="http://schemas.microsoft.com/office/drawing/2014/main" xmlns="" id="{4CBF535F-62FC-4B17-82BC-171B285DCC17}"/>
                </a:ext>
              </a:extLst>
            </p:cNvPr>
            <p:cNvSpPr/>
            <p:nvPr/>
          </p:nvSpPr>
          <p:spPr>
            <a:xfrm>
              <a:off x="6227538" y="7227922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8" name="Прямоугольник 115">
              <a:extLst>
                <a:ext uri="{FF2B5EF4-FFF2-40B4-BE49-F238E27FC236}">
                  <a16:creationId xmlns:a16="http://schemas.microsoft.com/office/drawing/2014/main" xmlns="" id="{332D11EA-5B99-40E6-9459-7F7DEAF1AC88}"/>
                </a:ext>
              </a:extLst>
            </p:cNvPr>
            <p:cNvSpPr/>
            <p:nvPr/>
          </p:nvSpPr>
          <p:spPr>
            <a:xfrm>
              <a:off x="6290773" y="7201300"/>
              <a:ext cx="82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Константинополь</a:t>
              </a:r>
            </a:p>
          </p:txBody>
        </p:sp>
        <p:sp>
          <p:nvSpPr>
            <p:cNvPr id="109" name="Прямоугольник 116">
              <a:extLst>
                <a:ext uri="{FF2B5EF4-FFF2-40B4-BE49-F238E27FC236}">
                  <a16:creationId xmlns:a16="http://schemas.microsoft.com/office/drawing/2014/main" xmlns="" id="{3C409989-39A3-405C-BA77-DA655767ECA9}"/>
                </a:ext>
              </a:extLst>
            </p:cNvPr>
            <p:cNvSpPr/>
            <p:nvPr/>
          </p:nvSpPr>
          <p:spPr>
            <a:xfrm>
              <a:off x="6434291" y="7352695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0" name="Прямоугольник 117">
              <a:extLst>
                <a:ext uri="{FF2B5EF4-FFF2-40B4-BE49-F238E27FC236}">
                  <a16:creationId xmlns:a16="http://schemas.microsoft.com/office/drawing/2014/main" xmlns="" id="{F9038C96-F5DC-44E2-9D69-6A5051D675ED}"/>
                </a:ext>
              </a:extLst>
            </p:cNvPr>
            <p:cNvSpPr/>
            <p:nvPr/>
          </p:nvSpPr>
          <p:spPr>
            <a:xfrm>
              <a:off x="6491615" y="7330985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Никея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Прямоугольник 118">
              <a:extLst>
                <a:ext uri="{FF2B5EF4-FFF2-40B4-BE49-F238E27FC236}">
                  <a16:creationId xmlns:a16="http://schemas.microsoft.com/office/drawing/2014/main" xmlns="" id="{5CF5ED24-0A61-4530-8629-B87C712F93A9}"/>
                </a:ext>
              </a:extLst>
            </p:cNvPr>
            <p:cNvSpPr/>
            <p:nvPr/>
          </p:nvSpPr>
          <p:spPr>
            <a:xfrm>
              <a:off x="7262602" y="8080825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2" name="Прямоугольник 119">
              <a:extLst>
                <a:ext uri="{FF2B5EF4-FFF2-40B4-BE49-F238E27FC236}">
                  <a16:creationId xmlns:a16="http://schemas.microsoft.com/office/drawing/2014/main" xmlns="" id="{C56CFF5B-4602-4D16-813D-FD0DBD4612B4}"/>
                </a:ext>
              </a:extLst>
            </p:cNvPr>
            <p:cNvSpPr/>
            <p:nvPr/>
          </p:nvSpPr>
          <p:spPr>
            <a:xfrm>
              <a:off x="7320713" y="8050563"/>
              <a:ext cx="4608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Антиохия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xmlns="" id="{52E3A4BC-FE3E-4D6E-87BC-2D1379AF8E84}"/>
                </a:ext>
              </a:extLst>
            </p:cNvPr>
            <p:cNvSpPr txBox="1"/>
            <p:nvPr/>
          </p:nvSpPr>
          <p:spPr>
            <a:xfrm>
              <a:off x="3040626" y="5165136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Рейн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36BB75A6-90E0-4E4C-9C99-0710933B5A7F}"/>
                </a:ext>
              </a:extLst>
            </p:cNvPr>
            <p:cNvSpPr txBox="1"/>
            <p:nvPr/>
          </p:nvSpPr>
          <p:spPr>
            <a:xfrm>
              <a:off x="6530974" y="8313029"/>
              <a:ext cx="49199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О-в Кипр</a:t>
              </a:r>
            </a:p>
          </p:txBody>
        </p:sp>
        <p:sp>
          <p:nvSpPr>
            <p:cNvPr id="115" name="Прямоугольник 123">
              <a:extLst>
                <a:ext uri="{FF2B5EF4-FFF2-40B4-BE49-F238E27FC236}">
                  <a16:creationId xmlns:a16="http://schemas.microsoft.com/office/drawing/2014/main" xmlns="" id="{F4042F74-6C38-4756-A5F5-00760C8DE6EF}"/>
                </a:ext>
              </a:extLst>
            </p:cNvPr>
            <p:cNvSpPr/>
            <p:nvPr/>
          </p:nvSpPr>
          <p:spPr>
            <a:xfrm>
              <a:off x="8851422" y="6102811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6" name="Прямоугольник 124">
              <a:extLst>
                <a:ext uri="{FF2B5EF4-FFF2-40B4-BE49-F238E27FC236}">
                  <a16:creationId xmlns:a16="http://schemas.microsoft.com/office/drawing/2014/main" xmlns="" id="{4C5D8559-B681-48B9-B5C0-B718D23D5B3A}"/>
                </a:ext>
              </a:extLst>
            </p:cNvPr>
            <p:cNvSpPr/>
            <p:nvPr/>
          </p:nvSpPr>
          <p:spPr>
            <a:xfrm>
              <a:off x="8914657" y="6076189"/>
              <a:ext cx="28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Итиль</a:t>
              </a:r>
            </a:p>
          </p:txBody>
        </p:sp>
        <p:sp>
          <p:nvSpPr>
            <p:cNvPr id="117" name="Прямоугольник 125">
              <a:extLst>
                <a:ext uri="{FF2B5EF4-FFF2-40B4-BE49-F238E27FC236}">
                  <a16:creationId xmlns:a16="http://schemas.microsoft.com/office/drawing/2014/main" xmlns="" id="{6BBDB79B-CF4C-4FCA-839E-339F46FD2D84}"/>
                </a:ext>
              </a:extLst>
            </p:cNvPr>
            <p:cNvSpPr/>
            <p:nvPr/>
          </p:nvSpPr>
          <p:spPr>
            <a:xfrm>
              <a:off x="8217311" y="5927352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8" name="Прямоугольник 126">
              <a:extLst>
                <a:ext uri="{FF2B5EF4-FFF2-40B4-BE49-F238E27FC236}">
                  <a16:creationId xmlns:a16="http://schemas.microsoft.com/office/drawing/2014/main" xmlns="" id="{B36DD4F6-32DB-47DE-82DC-A27EAD9357A2}"/>
                </a:ext>
              </a:extLst>
            </p:cNvPr>
            <p:cNvSpPr/>
            <p:nvPr/>
          </p:nvSpPr>
          <p:spPr>
            <a:xfrm>
              <a:off x="7834177" y="5892947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Саркел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9" name="Прямоугольник 127">
              <a:extLst>
                <a:ext uri="{FF2B5EF4-FFF2-40B4-BE49-F238E27FC236}">
                  <a16:creationId xmlns:a16="http://schemas.microsoft.com/office/drawing/2014/main" xmlns="" id="{3A8DA77A-266F-49D3-BA40-33ABFB5E00AA}"/>
                </a:ext>
              </a:extLst>
            </p:cNvPr>
            <p:cNvSpPr/>
            <p:nvPr/>
          </p:nvSpPr>
          <p:spPr>
            <a:xfrm>
              <a:off x="6912265" y="6593388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0" name="Прямоугольник 128">
              <a:extLst>
                <a:ext uri="{FF2B5EF4-FFF2-40B4-BE49-F238E27FC236}">
                  <a16:creationId xmlns:a16="http://schemas.microsoft.com/office/drawing/2014/main" xmlns="" id="{2D842ABC-A07C-4AB6-9B56-4A4CA93F546D}"/>
                </a:ext>
              </a:extLst>
            </p:cNvPr>
            <p:cNvSpPr/>
            <p:nvPr/>
          </p:nvSpPr>
          <p:spPr>
            <a:xfrm>
              <a:off x="6433210" y="6557368"/>
              <a:ext cx="46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Херсонес</a:t>
              </a:r>
            </a:p>
          </p:txBody>
        </p:sp>
        <p:sp>
          <p:nvSpPr>
            <p:cNvPr id="121" name="Прямоугольник 129">
              <a:extLst>
                <a:ext uri="{FF2B5EF4-FFF2-40B4-BE49-F238E27FC236}">
                  <a16:creationId xmlns:a16="http://schemas.microsoft.com/office/drawing/2014/main" xmlns="" id="{591098B9-3D51-4152-8714-5D5A3FBE00BF}"/>
                </a:ext>
              </a:extLst>
            </p:cNvPr>
            <p:cNvSpPr/>
            <p:nvPr/>
          </p:nvSpPr>
          <p:spPr>
            <a:xfrm>
              <a:off x="7392313" y="648550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2" name="Прямоугольник 130">
              <a:extLst>
                <a:ext uri="{FF2B5EF4-FFF2-40B4-BE49-F238E27FC236}">
                  <a16:creationId xmlns:a16="http://schemas.microsoft.com/office/drawing/2014/main" xmlns="" id="{33A64188-239A-454B-9B5C-4C62A6A633FE}"/>
                </a:ext>
              </a:extLst>
            </p:cNvPr>
            <p:cNvSpPr/>
            <p:nvPr/>
          </p:nvSpPr>
          <p:spPr>
            <a:xfrm>
              <a:off x="7450424" y="6455238"/>
              <a:ext cx="612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Тмутаракань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xmlns="" id="{942BDA48-A93A-4821-937E-712D90895EF4}"/>
                </a:ext>
              </a:extLst>
            </p:cNvPr>
            <p:cNvSpPr txBox="1"/>
            <p:nvPr/>
          </p:nvSpPr>
          <p:spPr>
            <a:xfrm>
              <a:off x="7050128" y="6199625"/>
              <a:ext cx="59933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Азовское море</a:t>
              </a:r>
            </a:p>
          </p:txBody>
        </p:sp>
        <p:sp>
          <p:nvSpPr>
            <p:cNvPr id="124" name="Прямоугольник 132">
              <a:extLst>
                <a:ext uri="{FF2B5EF4-FFF2-40B4-BE49-F238E27FC236}">
                  <a16:creationId xmlns:a16="http://schemas.microsoft.com/office/drawing/2014/main" xmlns="" id="{87CDAB83-A722-41B9-AA11-6E8958120BDB}"/>
                </a:ext>
              </a:extLst>
            </p:cNvPr>
            <p:cNvSpPr/>
            <p:nvPr/>
          </p:nvSpPr>
          <p:spPr>
            <a:xfrm>
              <a:off x="6499251" y="5362982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5" name="Прямоугольник 133">
              <a:extLst>
                <a:ext uri="{FF2B5EF4-FFF2-40B4-BE49-F238E27FC236}">
                  <a16:creationId xmlns:a16="http://schemas.microsoft.com/office/drawing/2014/main" xmlns="" id="{A36C917D-D5EC-4DC7-BE04-B9DB126FCD5C}"/>
                </a:ext>
              </a:extLst>
            </p:cNvPr>
            <p:cNvSpPr/>
            <p:nvPr/>
          </p:nvSpPr>
          <p:spPr>
            <a:xfrm>
              <a:off x="6562486" y="5336360"/>
              <a:ext cx="252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Киев</a:t>
              </a:r>
            </a:p>
          </p:txBody>
        </p:sp>
        <p:sp>
          <p:nvSpPr>
            <p:cNvPr id="126" name="Прямоугольник 134">
              <a:extLst>
                <a:ext uri="{FF2B5EF4-FFF2-40B4-BE49-F238E27FC236}">
                  <a16:creationId xmlns:a16="http://schemas.microsoft.com/office/drawing/2014/main" xmlns="" id="{6180D3FE-6943-4323-9739-2C248DD3228C}"/>
                </a:ext>
              </a:extLst>
            </p:cNvPr>
            <p:cNvSpPr/>
            <p:nvPr/>
          </p:nvSpPr>
          <p:spPr>
            <a:xfrm>
              <a:off x="6695904" y="4365413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7" name="Прямоугольник 135">
              <a:extLst>
                <a:ext uri="{FF2B5EF4-FFF2-40B4-BE49-F238E27FC236}">
                  <a16:creationId xmlns:a16="http://schemas.microsoft.com/office/drawing/2014/main" xmlns="" id="{4F8FA7E8-180F-45F5-8657-2D8BE2A7088F}"/>
                </a:ext>
              </a:extLst>
            </p:cNvPr>
            <p:cNvSpPr/>
            <p:nvPr/>
          </p:nvSpPr>
          <p:spPr>
            <a:xfrm>
              <a:off x="6756116" y="4335744"/>
              <a:ext cx="46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Смоленск</a:t>
              </a:r>
            </a:p>
          </p:txBody>
        </p:sp>
        <p:sp>
          <p:nvSpPr>
            <p:cNvPr id="128" name="Прямоугольник 136">
              <a:extLst>
                <a:ext uri="{FF2B5EF4-FFF2-40B4-BE49-F238E27FC236}">
                  <a16:creationId xmlns:a16="http://schemas.microsoft.com/office/drawing/2014/main" xmlns="" id="{CA2E9743-B745-469C-A976-738F870A1D0B}"/>
                </a:ext>
              </a:extLst>
            </p:cNvPr>
            <p:cNvSpPr/>
            <p:nvPr/>
          </p:nvSpPr>
          <p:spPr>
            <a:xfrm>
              <a:off x="6527382" y="5112023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Прямоугольник 137">
              <a:extLst>
                <a:ext uri="{FF2B5EF4-FFF2-40B4-BE49-F238E27FC236}">
                  <a16:creationId xmlns:a16="http://schemas.microsoft.com/office/drawing/2014/main" xmlns="" id="{7363AD90-6C0D-4891-B4A3-A91ACA2D92DA}"/>
                </a:ext>
              </a:extLst>
            </p:cNvPr>
            <p:cNvSpPr/>
            <p:nvPr/>
          </p:nvSpPr>
          <p:spPr>
            <a:xfrm>
              <a:off x="6578972" y="5088972"/>
              <a:ext cx="324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Любеч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0" name="Прямоугольник 138">
              <a:extLst>
                <a:ext uri="{FF2B5EF4-FFF2-40B4-BE49-F238E27FC236}">
                  <a16:creationId xmlns:a16="http://schemas.microsoft.com/office/drawing/2014/main" xmlns="" id="{AFF7B300-755B-4A8C-9ECA-7439E176F042}"/>
                </a:ext>
              </a:extLst>
            </p:cNvPr>
            <p:cNvSpPr/>
            <p:nvPr/>
          </p:nvSpPr>
          <p:spPr>
            <a:xfrm>
              <a:off x="6565111" y="344828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1" name="Прямоугольник 139">
              <a:extLst>
                <a:ext uri="{FF2B5EF4-FFF2-40B4-BE49-F238E27FC236}">
                  <a16:creationId xmlns:a16="http://schemas.microsoft.com/office/drawing/2014/main" xmlns="" id="{BF66635C-ECAB-46BE-A769-E048B5BDA2A5}"/>
                </a:ext>
              </a:extLst>
            </p:cNvPr>
            <p:cNvSpPr/>
            <p:nvPr/>
          </p:nvSpPr>
          <p:spPr>
            <a:xfrm>
              <a:off x="6089347" y="3419335"/>
              <a:ext cx="46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Новгород</a:t>
              </a:r>
            </a:p>
          </p:txBody>
        </p:sp>
        <p:sp>
          <p:nvSpPr>
            <p:cNvPr id="132" name="Прямоугольник 140">
              <a:extLst>
                <a:ext uri="{FF2B5EF4-FFF2-40B4-BE49-F238E27FC236}">
                  <a16:creationId xmlns:a16="http://schemas.microsoft.com/office/drawing/2014/main" xmlns="" id="{A821CB85-BC4E-4186-BF6D-5620F9382290}"/>
                </a:ext>
              </a:extLst>
            </p:cNvPr>
            <p:cNvSpPr/>
            <p:nvPr/>
          </p:nvSpPr>
          <p:spPr>
            <a:xfrm>
              <a:off x="6739209" y="3042057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3" name="Прямоугольник 141">
              <a:extLst>
                <a:ext uri="{FF2B5EF4-FFF2-40B4-BE49-F238E27FC236}">
                  <a16:creationId xmlns:a16="http://schemas.microsoft.com/office/drawing/2014/main" xmlns="" id="{A50B31BA-AB74-40A3-98AB-DDD3D9C88C29}"/>
                </a:ext>
              </a:extLst>
            </p:cNvPr>
            <p:cNvSpPr/>
            <p:nvPr/>
          </p:nvSpPr>
          <p:spPr>
            <a:xfrm>
              <a:off x="6799421" y="3009754"/>
              <a:ext cx="342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Ладога</a:t>
              </a:r>
            </a:p>
          </p:txBody>
        </p:sp>
        <p:sp>
          <p:nvSpPr>
            <p:cNvPr id="134" name="Прямоугольник 142">
              <a:extLst>
                <a:ext uri="{FF2B5EF4-FFF2-40B4-BE49-F238E27FC236}">
                  <a16:creationId xmlns:a16="http://schemas.microsoft.com/office/drawing/2014/main" xmlns="" id="{61E70E97-8FD5-49B8-877F-591B6478608C}"/>
                </a:ext>
              </a:extLst>
            </p:cNvPr>
            <p:cNvSpPr/>
            <p:nvPr/>
          </p:nvSpPr>
          <p:spPr>
            <a:xfrm>
              <a:off x="7432776" y="3062753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5" name="Прямоугольник 143">
              <a:extLst>
                <a:ext uri="{FF2B5EF4-FFF2-40B4-BE49-F238E27FC236}">
                  <a16:creationId xmlns:a16="http://schemas.microsoft.com/office/drawing/2014/main" xmlns="" id="{711EE580-939D-4326-B206-A9D6277E1863}"/>
                </a:ext>
              </a:extLst>
            </p:cNvPr>
            <p:cNvSpPr/>
            <p:nvPr/>
          </p:nvSpPr>
          <p:spPr>
            <a:xfrm>
              <a:off x="7492988" y="3030450"/>
              <a:ext cx="522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Белоозеро</a:t>
              </a:r>
              <a:endPara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6" name="Прямоугольник 144">
              <a:extLst>
                <a:ext uri="{FF2B5EF4-FFF2-40B4-BE49-F238E27FC236}">
                  <a16:creationId xmlns:a16="http://schemas.microsoft.com/office/drawing/2014/main" xmlns="" id="{0EADF06B-0130-4789-AB7F-69C92BD14279}"/>
                </a:ext>
              </a:extLst>
            </p:cNvPr>
            <p:cNvSpPr/>
            <p:nvPr/>
          </p:nvSpPr>
          <p:spPr>
            <a:xfrm>
              <a:off x="7713980" y="3765405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7" name="Прямоугольник 145">
              <a:extLst>
                <a:ext uri="{FF2B5EF4-FFF2-40B4-BE49-F238E27FC236}">
                  <a16:creationId xmlns:a16="http://schemas.microsoft.com/office/drawing/2014/main" xmlns="" id="{DDB3E331-7464-4B83-A0A7-969B89190A5D}"/>
                </a:ext>
              </a:extLst>
            </p:cNvPr>
            <p:cNvSpPr/>
            <p:nvPr/>
          </p:nvSpPr>
          <p:spPr>
            <a:xfrm>
              <a:off x="7774192" y="3733102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Ростов</a:t>
              </a:r>
            </a:p>
          </p:txBody>
        </p:sp>
        <p:sp>
          <p:nvSpPr>
            <p:cNvPr id="138" name="Прямоугольник 146">
              <a:extLst>
                <a:ext uri="{FF2B5EF4-FFF2-40B4-BE49-F238E27FC236}">
                  <a16:creationId xmlns:a16="http://schemas.microsoft.com/office/drawing/2014/main" xmlns="" id="{B7F3483E-EE44-49AB-8118-A8263DBCE1E7}"/>
                </a:ext>
              </a:extLst>
            </p:cNvPr>
            <p:cNvSpPr/>
            <p:nvPr/>
          </p:nvSpPr>
          <p:spPr>
            <a:xfrm>
              <a:off x="8150504" y="4280944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9" name="Прямоугольник 147">
              <a:extLst>
                <a:ext uri="{FF2B5EF4-FFF2-40B4-BE49-F238E27FC236}">
                  <a16:creationId xmlns:a16="http://schemas.microsoft.com/office/drawing/2014/main" xmlns="" id="{00A14437-20BA-4E1F-9C87-E683D56C861C}"/>
                </a:ext>
              </a:extLst>
            </p:cNvPr>
            <p:cNvSpPr/>
            <p:nvPr/>
          </p:nvSpPr>
          <p:spPr>
            <a:xfrm>
              <a:off x="8210716" y="4248641"/>
              <a:ext cx="324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Муром</a:t>
              </a:r>
            </a:p>
          </p:txBody>
        </p:sp>
        <p:sp>
          <p:nvSpPr>
            <p:cNvPr id="140" name="Прямоугольник 148">
              <a:extLst>
                <a:ext uri="{FF2B5EF4-FFF2-40B4-BE49-F238E27FC236}">
                  <a16:creationId xmlns:a16="http://schemas.microsoft.com/office/drawing/2014/main" xmlns="" id="{C41EBEFA-38BA-4031-B8B5-53F84F515E1A}"/>
                </a:ext>
              </a:extLst>
            </p:cNvPr>
            <p:cNvSpPr/>
            <p:nvPr/>
          </p:nvSpPr>
          <p:spPr>
            <a:xfrm>
              <a:off x="9007321" y="4440203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rgbClr val="FFFF00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Прямоугольник 149">
              <a:extLst>
                <a:ext uri="{FF2B5EF4-FFF2-40B4-BE49-F238E27FC236}">
                  <a16:creationId xmlns:a16="http://schemas.microsoft.com/office/drawing/2014/main" xmlns="" id="{808E9AA9-3A31-4F1B-ADA4-D8BF78E75CFA}"/>
                </a:ext>
              </a:extLst>
            </p:cNvPr>
            <p:cNvSpPr/>
            <p:nvPr/>
          </p:nvSpPr>
          <p:spPr>
            <a:xfrm>
              <a:off x="9067533" y="4407900"/>
              <a:ext cx="342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Булгар</a:t>
              </a:r>
            </a:p>
          </p:txBody>
        </p:sp>
        <p:sp>
          <p:nvSpPr>
            <p:cNvPr id="142" name="Прямоугольник 150">
              <a:extLst>
                <a:ext uri="{FF2B5EF4-FFF2-40B4-BE49-F238E27FC236}">
                  <a16:creationId xmlns:a16="http://schemas.microsoft.com/office/drawing/2014/main" xmlns="" id="{0070FB65-0BC9-43AB-ABFE-7B3D5CC49860}"/>
                </a:ext>
              </a:extLst>
            </p:cNvPr>
            <p:cNvSpPr/>
            <p:nvPr/>
          </p:nvSpPr>
          <p:spPr>
            <a:xfrm>
              <a:off x="6176028" y="363838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3" name="Прямоугольник 151">
              <a:extLst>
                <a:ext uri="{FF2B5EF4-FFF2-40B4-BE49-F238E27FC236}">
                  <a16:creationId xmlns:a16="http://schemas.microsoft.com/office/drawing/2014/main" xmlns="" id="{93C014EB-735D-4FB6-A7F2-F41F53EB6EEB}"/>
                </a:ext>
              </a:extLst>
            </p:cNvPr>
            <p:cNvSpPr/>
            <p:nvPr/>
          </p:nvSpPr>
          <p:spPr>
            <a:xfrm>
              <a:off x="6238010" y="3612082"/>
              <a:ext cx="288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Псков</a:t>
              </a:r>
            </a:p>
          </p:txBody>
        </p:sp>
        <p:sp>
          <p:nvSpPr>
            <p:cNvPr id="144" name="Прямоугольник 152">
              <a:extLst>
                <a:ext uri="{FF2B5EF4-FFF2-40B4-BE49-F238E27FC236}">
                  <a16:creationId xmlns:a16="http://schemas.microsoft.com/office/drawing/2014/main" xmlns="" id="{3C160839-099E-42CD-BE63-597E780AB215}"/>
                </a:ext>
              </a:extLst>
            </p:cNvPr>
            <p:cNvSpPr/>
            <p:nvPr/>
          </p:nvSpPr>
          <p:spPr>
            <a:xfrm>
              <a:off x="6080159" y="3671530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5" name="Прямоугольник 153">
              <a:extLst>
                <a:ext uri="{FF2B5EF4-FFF2-40B4-BE49-F238E27FC236}">
                  <a16:creationId xmlns:a16="http://schemas.microsoft.com/office/drawing/2014/main" xmlns="" id="{32D5DB1B-D843-48C7-8B7B-694029EF0B66}"/>
                </a:ext>
              </a:extLst>
            </p:cNvPr>
            <p:cNvSpPr/>
            <p:nvPr/>
          </p:nvSpPr>
          <p:spPr>
            <a:xfrm>
              <a:off x="5671168" y="3641379"/>
              <a:ext cx="396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Изборск</a:t>
              </a:r>
            </a:p>
          </p:txBody>
        </p:sp>
        <p:sp>
          <p:nvSpPr>
            <p:cNvPr id="146" name="Прямоугольник 154">
              <a:extLst>
                <a:ext uri="{FF2B5EF4-FFF2-40B4-BE49-F238E27FC236}">
                  <a16:creationId xmlns:a16="http://schemas.microsoft.com/office/drawing/2014/main" xmlns="" id="{5DCB68EE-C704-4498-89D5-78AAE77D86E1}"/>
                </a:ext>
              </a:extLst>
            </p:cNvPr>
            <p:cNvSpPr/>
            <p:nvPr/>
          </p:nvSpPr>
          <p:spPr>
            <a:xfrm>
              <a:off x="6255569" y="4241831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7" name="Прямоугольник 155">
              <a:extLst>
                <a:ext uri="{FF2B5EF4-FFF2-40B4-BE49-F238E27FC236}">
                  <a16:creationId xmlns:a16="http://schemas.microsoft.com/office/drawing/2014/main" xmlns="" id="{DFE6B23D-AF19-443A-B78E-E8303C5E23FF}"/>
                </a:ext>
              </a:extLst>
            </p:cNvPr>
            <p:cNvSpPr/>
            <p:nvPr/>
          </p:nvSpPr>
          <p:spPr>
            <a:xfrm>
              <a:off x="5875806" y="4203641"/>
              <a:ext cx="360000" cy="9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Полоцк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8E3A7DB7-663E-434C-A6DF-F7F6DC08FF6B}"/>
                </a:ext>
              </a:extLst>
            </p:cNvPr>
            <p:cNvSpPr txBox="1"/>
            <p:nvPr/>
          </p:nvSpPr>
          <p:spPr>
            <a:xfrm>
              <a:off x="4014767" y="3009754"/>
              <a:ext cx="81316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Варяги (викинги)</a:t>
              </a:r>
            </a:p>
          </p:txBody>
        </p:sp>
        <p:cxnSp>
          <p:nvCxnSpPr>
            <p:cNvPr id="149" name="Прямая со стрелкой 157">
              <a:extLst>
                <a:ext uri="{FF2B5EF4-FFF2-40B4-BE49-F238E27FC236}">
                  <a16:creationId xmlns:a16="http://schemas.microsoft.com/office/drawing/2014/main" xmlns="" id="{D1FAC036-C73B-494D-819E-D8805D95DEE4}"/>
                </a:ext>
              </a:extLst>
            </p:cNvPr>
            <p:cNvCxnSpPr>
              <a:cxnSpLocks/>
              <a:stCxn id="150" idx="2"/>
            </p:cNvCxnSpPr>
            <p:nvPr/>
          </p:nvCxnSpPr>
          <p:spPr>
            <a:xfrm flipV="1">
              <a:off x="5684109" y="3823102"/>
              <a:ext cx="1011795" cy="16553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1F85DD98-EDCE-4C61-A65B-413FFEDA0018}"/>
                </a:ext>
              </a:extLst>
            </p:cNvPr>
            <p:cNvSpPr txBox="1"/>
            <p:nvPr/>
          </p:nvSpPr>
          <p:spPr>
            <a:xfrm>
              <a:off x="5294396" y="5293774"/>
              <a:ext cx="77942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016000">
                      <a:srgbClr val="FFFF00">
                        <a:alpha val="50000"/>
                      </a:srgbClr>
                    </a:glo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Славяне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016000">
                    <a:srgbClr val="FFFF00">
                      <a:alpha val="50000"/>
                    </a:srgbClr>
                  </a:glo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1" name="Прямоугольник 158">
              <a:extLst>
                <a:ext uri="{FF2B5EF4-FFF2-40B4-BE49-F238E27FC236}">
                  <a16:creationId xmlns:a16="http://schemas.microsoft.com/office/drawing/2014/main" xmlns="" id="{6802C297-0A7E-4040-AB9E-18F58598FC29}"/>
                </a:ext>
              </a:extLst>
            </p:cNvPr>
            <p:cNvSpPr/>
            <p:nvPr/>
          </p:nvSpPr>
          <p:spPr>
            <a:xfrm>
              <a:off x="533401" y="1734142"/>
              <a:ext cx="5958214" cy="271887"/>
            </a:xfrm>
            <a:prstGeom prst="rect">
              <a:avLst/>
            </a:prstGeom>
            <a:solidFill>
              <a:srgbClr val="FFFF00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Миграции славян в ходе Великого переселения народов. Карта.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CFFF1055-8B31-4327-B990-BF87E5199C9B}"/>
                </a:ext>
              </a:extLst>
            </p:cNvPr>
            <p:cNvSpPr txBox="1"/>
            <p:nvPr/>
          </p:nvSpPr>
          <p:spPr>
            <a:xfrm>
              <a:off x="6551992" y="3445224"/>
              <a:ext cx="49356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700" b="1" dirty="0">
                  <a:solidFill>
                    <a:srgbClr val="002060"/>
                  </a:solidFill>
                  <a:effectLst>
                    <a:glow rad="317500">
                      <a:prstClr val="white">
                        <a:alpha val="50000"/>
                      </a:prst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Озеро Ильмень</a:t>
              </a:r>
              <a:endParaRPr kumimoji="0" lang="ru-RU" sz="7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glow rad="317500">
                    <a:prstClr val="white">
                      <a:alpha val="50000"/>
                    </a:prstClr>
                  </a:glo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4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526000" y="43590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ru-RU" sz="2800" dirty="0" smtClean="0">
                <a:solidFill>
                  <a:srgbClr val="323232"/>
                </a:solidFill>
                <a:latin typeface="Veleka"/>
              </a:rPr>
              <a:t>9</a:t>
            </a:r>
            <a:endParaRPr lang="ru-RU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858250" y="2095500"/>
            <a:ext cx="9070326" cy="74789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Основную массу населения на значительном по протяженности участке Великого Волжского пути занимали финно-угорские народы. </a:t>
            </a:r>
          </a:p>
          <a:p>
            <a:r>
              <a:rPr lang="ru-RU" sz="4000" b="1" dirty="0"/>
              <a:t>Взаимодействие племён имело место в течение многих веков и оказало значительное влияние на культурное, языковое и социальное развитие обеих этнических групп. </a:t>
            </a:r>
          </a:p>
          <a:p>
            <a:r>
              <a:rPr lang="ru-RU" sz="4000" b="1" dirty="0"/>
              <a:t>Происходило в результате миграций, торговых связей, конфликтов и ассимиляции.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34C5AA-918B-4ACB-B45C-488F48E9D957}"/>
              </a:ext>
            </a:extLst>
          </p:cNvPr>
          <p:cNvSpPr txBox="1"/>
          <p:nvPr/>
        </p:nvSpPr>
        <p:spPr>
          <a:xfrm>
            <a:off x="914400" y="266700"/>
            <a:ext cx="15925800" cy="15957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Взаимодействие </a:t>
            </a:r>
          </a:p>
          <a:p>
            <a:pPr algn="ctr"/>
            <a:r>
              <a:rPr lang="ru-RU" sz="4800" b="1" dirty="0"/>
              <a:t>восточнославянских и финно-угорских племён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71719117-4E65-4849-BD5A-072212DA7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12" y="2476500"/>
            <a:ext cx="8093243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6585313" y="561071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 smtClean="0">
                <a:solidFill>
                  <a:srgbClr val="323232"/>
                </a:solidFill>
                <a:latin typeface="Veleka"/>
              </a:rPr>
              <a:t>10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E0F41C2-B6D0-44CB-A7BA-8D2CAB509E98}"/>
              </a:ext>
            </a:extLst>
          </p:cNvPr>
          <p:cNvSpPr txBox="1"/>
          <p:nvPr/>
        </p:nvSpPr>
        <p:spPr>
          <a:xfrm>
            <a:off x="662710" y="583802"/>
            <a:ext cx="16070316" cy="975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ru-RU" sz="4800" b="1" spc="21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</a:t>
            </a:r>
            <a:endParaRPr lang="en-US" sz="4800" b="1" spc="21" dirty="0">
              <a:solidFill>
                <a:srgbClr val="3232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97050" y="2122714"/>
            <a:ext cx="16070316" cy="72943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/>
              <a:t>История земель, которые сегодня считаются исконно российскими, началась задолго до появления у восточных славян государства. </a:t>
            </a:r>
            <a:r>
              <a:rPr lang="ru-RU" sz="3600" b="1" dirty="0" smtClean="0"/>
              <a:t>В </a:t>
            </a:r>
            <a:r>
              <a:rPr lang="ru-RU" sz="3600" b="1" dirty="0"/>
              <a:t>IX веке к моменту образования Древнерусского государства на территории нынешней Центральной России было смешанное население. Коренными на тот момент были финно-</a:t>
            </a:r>
            <a:r>
              <a:rPr lang="ru-RU" sz="3600" b="1" dirty="0" err="1"/>
              <a:t>угры</a:t>
            </a:r>
            <a:r>
              <a:rPr lang="ru-RU" sz="3600" b="1" dirty="0"/>
              <a:t> и </a:t>
            </a:r>
            <a:r>
              <a:rPr lang="ru-RU" sz="3600" b="1" dirty="0" err="1"/>
              <a:t>балты</a:t>
            </a:r>
            <a:r>
              <a:rPr lang="ru-RU" sz="3600" b="1" dirty="0"/>
              <a:t>, иноземными – славяне и варяги</a:t>
            </a:r>
            <a:r>
              <a:rPr lang="ru-RU" sz="3600" b="1" dirty="0" smtClean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/>
              <a:t>Сегодня ученые признали </a:t>
            </a:r>
            <a:r>
              <a:rPr lang="ru-RU" sz="3600" b="1" dirty="0" smtClean="0"/>
              <a:t>североевропейское </a:t>
            </a:r>
            <a:r>
              <a:rPr lang="ru-RU" sz="3600" b="1" dirty="0"/>
              <a:t>происхождение славян. Настоящая «великая славянская миграция» была спровоцирована похолоданием, начавшимся в конце IV века. </a:t>
            </a:r>
            <a:endParaRPr lang="ru-RU" sz="3600" b="1" dirty="0" smtClean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/>
              <a:t>Взаимодействие восточнославянских и финно-угорских племён имело место в течение многих веков и оказало значительное влияние на культурное, языковое и социальное развитие обеих этнических групп. Это взаимодействие происходило в результате миграций, торговых связей, конфликтов и ассимиляции.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770</Words>
  <Application>Microsoft Office PowerPoint</Application>
  <PresentationFormat>Произвольный</PresentationFormat>
  <Paragraphs>185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Veleka</vt:lpstr>
      <vt:lpstr>Arial Black</vt:lpstr>
      <vt:lpstr>Wingdings</vt:lpstr>
      <vt:lpstr>Montserrat Semi-Bold Bold</vt:lpstr>
      <vt:lpstr>Times New Roman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Зеленый и Черный Органические Фигуры Мотивация Мастер-Класс Вебинар Keynote Презентация</dc:title>
  <dc:creator>Лидия</dc:creator>
  <cp:lastModifiedBy>Лидия</cp:lastModifiedBy>
  <cp:revision>88</cp:revision>
  <dcterms:created xsi:type="dcterms:W3CDTF">2006-08-16T00:00:00Z</dcterms:created>
  <dcterms:modified xsi:type="dcterms:W3CDTF">2023-11-23T09:54:06Z</dcterms:modified>
  <dc:identifier>DAE1ln_u5Mw</dc:identifier>
</cp:coreProperties>
</file>