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5" r:id="rId3"/>
    <p:sldId id="257" r:id="rId4"/>
    <p:sldId id="272" r:id="rId5"/>
    <p:sldId id="274" r:id="rId6"/>
    <p:sldId id="258" r:id="rId7"/>
    <p:sldId id="262" r:id="rId8"/>
    <p:sldId id="282" r:id="rId9"/>
    <p:sldId id="283" r:id="rId10"/>
    <p:sldId id="263" r:id="rId11"/>
    <p:sldId id="280" r:id="rId12"/>
    <p:sldId id="264" r:id="rId13"/>
    <p:sldId id="265" r:id="rId14"/>
    <p:sldId id="278" r:id="rId15"/>
    <p:sldId id="267" r:id="rId16"/>
    <p:sldId id="268" r:id="rId17"/>
    <p:sldId id="277" r:id="rId18"/>
    <p:sldId id="269" r:id="rId19"/>
    <p:sldId id="270" r:id="rId20"/>
    <p:sldId id="281" r:id="rId21"/>
  </p:sldIdLst>
  <p:sldSz cx="18288000" cy="10287000"/>
  <p:notesSz cx="6858000" cy="9144000"/>
  <p:embeddedFontLst>
    <p:embeddedFont>
      <p:font typeface="Montserrat Semi-Bold Bold" panose="020B0604020202020204" charset="-52"/>
      <p:regular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495" autoAdjust="0"/>
  </p:normalViewPr>
  <p:slideViewPr>
    <p:cSldViewPr>
      <p:cViewPr varScale="1">
        <p:scale>
          <a:sx n="40" d="100"/>
          <a:sy n="40" d="100"/>
        </p:scale>
        <p:origin x="-788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litres.ru/book/aleksandr-semenkov/zhiznennyy-cikl-evroaziatskoy-civilizacii-rossii-tom-1-67339403/chitat-onlayn/page-26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kulturologia.ru/blogs/030121/48626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hyperlink" Target="https://www.anosinomonastir.ru/holiday/1000-letie-prestavleniya-velikogo-knyazya-vladimira-krestitelya-rusi.html" TargetMode="External"/><Relationship Id="rId4" Type="http://schemas.openxmlformats.org/officeDocument/2006/relationships/hyperlink" Target="https://vuzlit.com/462878/skazanie_vybore_ver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4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39000" y="-27214"/>
            <a:ext cx="11038114" cy="10287000"/>
          </a:xfrm>
          <a:prstGeom prst="rect">
            <a:avLst/>
          </a:prstGeom>
          <a:solidFill>
            <a:srgbClr val="706951"/>
          </a:solidFill>
        </p:spPr>
      </p:sp>
      <p:sp>
        <p:nvSpPr>
          <p:cNvPr id="4" name="TextBox 4"/>
          <p:cNvSpPr txBox="1"/>
          <p:nvPr/>
        </p:nvSpPr>
        <p:spPr>
          <a:xfrm>
            <a:off x="7238999" y="5443"/>
            <a:ext cx="10591801" cy="12131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endParaRPr lang="ru-RU" sz="2000" spc="108" dirty="0" smtClean="0">
              <a:solidFill>
                <a:srgbClr val="FFFFFF"/>
              </a:solidFill>
              <a:latin typeface="Montserrat Semi-Bold Bold"/>
            </a:endParaRPr>
          </a:p>
          <a:p>
            <a:pPr algn="ctr">
              <a:lnSpc>
                <a:spcPct val="150000"/>
              </a:lnSpc>
            </a:pPr>
            <a:r>
              <a:rPr lang="ru-RU" sz="2000" spc="108" dirty="0" smtClean="0">
                <a:solidFill>
                  <a:srgbClr val="FFFFFF"/>
                </a:solidFill>
                <a:latin typeface="Montserrat Semi-Bold Bold"/>
              </a:rPr>
              <a:t>МИНИСТЕРСТВО </a:t>
            </a:r>
            <a:r>
              <a:rPr lang="ru-RU" sz="2000" spc="108" dirty="0">
                <a:solidFill>
                  <a:srgbClr val="FFFFFF"/>
                </a:solidFill>
                <a:latin typeface="Montserrat Semi-Bold Bold"/>
              </a:rPr>
              <a:t>НАУКИ И ВЫСШЕГО ОБРАЗОВАНИЯ </a:t>
            </a:r>
          </a:p>
          <a:p>
            <a:pPr algn="ctr">
              <a:lnSpc>
                <a:spcPct val="150000"/>
              </a:lnSpc>
            </a:pPr>
            <a:r>
              <a:rPr lang="ru-RU" sz="2000" spc="108" dirty="0">
                <a:solidFill>
                  <a:srgbClr val="FFFFFF"/>
                </a:solidFill>
                <a:latin typeface="Montserrat Semi-Bold Bold"/>
              </a:rPr>
              <a:t>РОССИЙСКОЙ ФЕДЕРАЦИИ</a:t>
            </a:r>
          </a:p>
          <a:p>
            <a:pPr algn="ctr">
              <a:lnSpc>
                <a:spcPct val="150000"/>
              </a:lnSpc>
            </a:pPr>
            <a:r>
              <a:rPr lang="ru-RU" sz="2000" spc="108" dirty="0">
                <a:solidFill>
                  <a:srgbClr val="FFFFFF"/>
                </a:solidFill>
                <a:latin typeface="Montserrat Semi-Bold Bold"/>
              </a:rPr>
              <a:t>МИРЭА – РОССИЙСКИЙ ТЕХНОЛОГИЧЕСКИЙ УНИВЕРСИТЕТ</a:t>
            </a:r>
          </a:p>
          <a:p>
            <a:pPr algn="ctr">
              <a:lnSpc>
                <a:spcPct val="150000"/>
              </a:lnSpc>
            </a:pPr>
            <a:endParaRPr lang="ru-RU" sz="2000" spc="108" dirty="0" smtClean="0">
              <a:solidFill>
                <a:srgbClr val="FFFFFF"/>
              </a:solidFill>
              <a:latin typeface="Montserrat Semi-Bold Bold"/>
            </a:endParaRPr>
          </a:p>
          <a:p>
            <a:pPr algn="ctr">
              <a:lnSpc>
                <a:spcPct val="150000"/>
              </a:lnSpc>
            </a:pPr>
            <a:r>
              <a:rPr lang="ru-RU" sz="2800" spc="108" dirty="0" smtClean="0">
                <a:solidFill>
                  <a:srgbClr val="FFFFFF"/>
                </a:solidFill>
                <a:latin typeface="Montserrat Semi-Bold Bold"/>
              </a:rPr>
              <a:t>Кафедра </a:t>
            </a:r>
            <a:r>
              <a:rPr lang="ru-RU" sz="2800" spc="108" dirty="0">
                <a:solidFill>
                  <a:srgbClr val="FFFFFF"/>
                </a:solidFill>
                <a:latin typeface="Montserrat Semi-Bold Bold"/>
              </a:rPr>
              <a:t>гуманитарных и социальных наук</a:t>
            </a:r>
          </a:p>
          <a:p>
            <a:pPr algn="ctr">
              <a:lnSpc>
                <a:spcPct val="150000"/>
              </a:lnSpc>
            </a:pPr>
            <a:endParaRPr lang="ru-RU" spc="108" dirty="0">
              <a:solidFill>
                <a:srgbClr val="FFFFFF"/>
              </a:solidFill>
              <a:latin typeface="Montserrat Semi-Bold Bold"/>
            </a:endParaRPr>
          </a:p>
          <a:p>
            <a:pPr algn="ctr">
              <a:lnSpc>
                <a:spcPct val="150000"/>
              </a:lnSpc>
            </a:pPr>
            <a:r>
              <a:rPr lang="ru-RU" sz="3200" spc="108" dirty="0" smtClean="0">
                <a:solidFill>
                  <a:srgbClr val="FFFFFF"/>
                </a:solidFill>
                <a:latin typeface="Montserrat Semi-Bold Bold"/>
              </a:rPr>
              <a:t> </a:t>
            </a:r>
            <a:r>
              <a:rPr lang="ru-RU" sz="2800" spc="108" dirty="0" smtClean="0">
                <a:solidFill>
                  <a:srgbClr val="FFFFFF"/>
                </a:solidFill>
                <a:latin typeface="Montserrat Semi-Bold Bold"/>
              </a:rPr>
              <a:t>Дисциплина: история России</a:t>
            </a:r>
            <a:endParaRPr lang="ru-RU" sz="2800" spc="108" dirty="0">
              <a:solidFill>
                <a:srgbClr val="FFFFFF"/>
              </a:solidFill>
              <a:latin typeface="Montserrat Semi-Bold Bold"/>
            </a:endParaRPr>
          </a:p>
          <a:p>
            <a:pPr algn="ctr">
              <a:lnSpc>
                <a:spcPct val="150000"/>
              </a:lnSpc>
            </a:pPr>
            <a:endParaRPr lang="ru-RU" spc="108" dirty="0">
              <a:solidFill>
                <a:srgbClr val="FFFFFF"/>
              </a:solidFill>
              <a:latin typeface="Montserrat Semi-Bold Bold"/>
            </a:endParaRPr>
          </a:p>
          <a:p>
            <a:pPr algn="ctr"/>
            <a:r>
              <a:rPr lang="ru-RU" sz="4400" spc="108" dirty="0" smtClean="0">
                <a:solidFill>
                  <a:srgbClr val="FFFFFF"/>
                </a:solidFill>
                <a:latin typeface="Montserrat Semi-Bold Bold"/>
              </a:rPr>
              <a:t>«Как </a:t>
            </a:r>
            <a:r>
              <a:rPr lang="ru-RU" sz="4400" spc="108" dirty="0">
                <a:solidFill>
                  <a:srgbClr val="FFFFFF"/>
                </a:solidFill>
                <a:latin typeface="Montserrat Semi-Bold Bold"/>
              </a:rPr>
              <a:t>Владимир Великий выбирал религию для Руси</a:t>
            </a:r>
            <a:r>
              <a:rPr lang="ru-RU" sz="4400" spc="108" dirty="0" smtClean="0">
                <a:solidFill>
                  <a:srgbClr val="FFFFFF"/>
                </a:solidFill>
                <a:latin typeface="Montserrat Semi-Bold Bold"/>
              </a:rPr>
              <a:t>»</a:t>
            </a:r>
          </a:p>
          <a:p>
            <a:pPr algn="ctr">
              <a:lnSpc>
                <a:spcPct val="150000"/>
              </a:lnSpc>
            </a:pPr>
            <a:endParaRPr lang="ru-RU" sz="4000" spc="108" dirty="0" smtClean="0">
              <a:solidFill>
                <a:srgbClr val="FFFFFF"/>
              </a:solidFill>
              <a:latin typeface="Montserrat Semi-Bold Bold"/>
            </a:endParaRPr>
          </a:p>
          <a:p>
            <a:pPr algn="ctr">
              <a:lnSpc>
                <a:spcPct val="150000"/>
              </a:lnSpc>
            </a:pPr>
            <a:r>
              <a:rPr lang="ru-RU" sz="2400" spc="108" dirty="0" smtClean="0">
                <a:solidFill>
                  <a:srgbClr val="FFFFFF"/>
                </a:solidFill>
                <a:latin typeface="Montserrat Semi-Bold Bold"/>
              </a:rPr>
              <a:t>Выполнил</a:t>
            </a:r>
            <a:r>
              <a:rPr lang="en-US" sz="2400" spc="108" dirty="0" smtClean="0">
                <a:solidFill>
                  <a:srgbClr val="FFFFFF"/>
                </a:solidFill>
                <a:latin typeface="Montserrat Semi-Bold Bold"/>
              </a:rPr>
              <a:t>:</a:t>
            </a:r>
            <a:r>
              <a:rPr lang="ru-RU" sz="2400" spc="108" dirty="0" smtClean="0">
                <a:solidFill>
                  <a:srgbClr val="FFFFFF"/>
                </a:solidFill>
                <a:latin typeface="Montserrat Semi-Bold Bold"/>
              </a:rPr>
              <a:t> студент группы ЭФБО-09-23</a:t>
            </a:r>
          </a:p>
          <a:p>
            <a:pPr algn="ctr">
              <a:lnSpc>
                <a:spcPct val="150000"/>
              </a:lnSpc>
            </a:pPr>
            <a:r>
              <a:rPr lang="ru-RU" sz="2400" spc="108" dirty="0">
                <a:solidFill>
                  <a:srgbClr val="FFFFFF"/>
                </a:solidFill>
                <a:latin typeface="Montserrat Semi-Bold Bold"/>
              </a:rPr>
              <a:t>Калинин </a:t>
            </a:r>
            <a:r>
              <a:rPr lang="ru-RU" sz="2400" spc="108" dirty="0" smtClean="0">
                <a:solidFill>
                  <a:srgbClr val="FFFFFF"/>
                </a:solidFill>
                <a:latin typeface="Montserrat Semi-Bold Bold"/>
              </a:rPr>
              <a:t>Никита Викторович</a:t>
            </a:r>
          </a:p>
          <a:p>
            <a:pPr algn="ctr">
              <a:lnSpc>
                <a:spcPct val="150000"/>
              </a:lnSpc>
            </a:pPr>
            <a:r>
              <a:rPr lang="ru-RU" sz="2400" spc="108" dirty="0" smtClean="0">
                <a:solidFill>
                  <a:srgbClr val="FFFFFF"/>
                </a:solidFill>
                <a:latin typeface="Montserrat Semi-Bold Bold"/>
              </a:rPr>
              <a:t>Проверил</a:t>
            </a:r>
            <a:r>
              <a:rPr lang="en-US" sz="2400" spc="108" dirty="0" smtClean="0">
                <a:solidFill>
                  <a:srgbClr val="FFFFFF"/>
                </a:solidFill>
                <a:latin typeface="Montserrat Semi-Bold Bold"/>
              </a:rPr>
              <a:t>:</a:t>
            </a:r>
            <a:r>
              <a:rPr lang="ru-RU" sz="2400" spc="108" dirty="0" smtClean="0">
                <a:solidFill>
                  <a:srgbClr val="FFFFFF"/>
                </a:solidFill>
                <a:latin typeface="Montserrat Semi-Bold Bold"/>
              </a:rPr>
              <a:t>  </a:t>
            </a:r>
            <a:r>
              <a:rPr lang="ru-RU" sz="2400" spc="108" dirty="0">
                <a:solidFill>
                  <a:srgbClr val="FFFFFF"/>
                </a:solidFill>
                <a:latin typeface="Montserrat Semi-Bold Bold"/>
              </a:rPr>
              <a:t>преподаватель истории России</a:t>
            </a:r>
          </a:p>
          <a:p>
            <a:pPr algn="ctr">
              <a:lnSpc>
                <a:spcPct val="150000"/>
              </a:lnSpc>
            </a:pPr>
            <a:r>
              <a:rPr lang="ru-RU" sz="2400" spc="108" dirty="0" err="1">
                <a:solidFill>
                  <a:srgbClr val="FFFFFF"/>
                </a:solidFill>
                <a:latin typeface="Montserrat Semi-Bold Bold"/>
              </a:rPr>
              <a:t>к.и.н</a:t>
            </a:r>
            <a:r>
              <a:rPr lang="ru-RU" sz="2400" spc="108" dirty="0">
                <a:solidFill>
                  <a:srgbClr val="FFFFFF"/>
                </a:solidFill>
                <a:latin typeface="Montserrat Semi-Bold Bold"/>
              </a:rPr>
              <a:t>. Солощенко Наталья Владимировна</a:t>
            </a:r>
          </a:p>
          <a:p>
            <a:pPr algn="ctr">
              <a:lnSpc>
                <a:spcPct val="150000"/>
              </a:lnSpc>
            </a:pPr>
            <a:r>
              <a:rPr lang="ru-RU" sz="2400" spc="108" dirty="0" smtClean="0">
                <a:solidFill>
                  <a:srgbClr val="FFFFFF"/>
                </a:solidFill>
                <a:latin typeface="Montserrat Semi-Bold Bold"/>
              </a:rPr>
              <a:t>  </a:t>
            </a:r>
            <a:endParaRPr lang="ru-RU" sz="2400" spc="108" dirty="0">
              <a:solidFill>
                <a:srgbClr val="FFFFFF"/>
              </a:solidFill>
              <a:latin typeface="Montserrat Semi-Bold Bold"/>
            </a:endParaRPr>
          </a:p>
          <a:p>
            <a:pPr algn="ctr">
              <a:lnSpc>
                <a:spcPct val="150000"/>
              </a:lnSpc>
            </a:pPr>
            <a:r>
              <a:rPr lang="ru-RU" sz="2400" spc="108" dirty="0">
                <a:solidFill>
                  <a:srgbClr val="FFFFFF"/>
                </a:solidFill>
                <a:latin typeface="Montserrat Semi-Bold Bold"/>
              </a:rPr>
              <a:t>Москва - 2023 г.</a:t>
            </a:r>
          </a:p>
          <a:p>
            <a:pPr>
              <a:lnSpc>
                <a:spcPct val="150000"/>
              </a:lnSpc>
            </a:pPr>
            <a:endParaRPr lang="ru-RU" spc="108" dirty="0">
              <a:solidFill>
                <a:srgbClr val="FFFFFF"/>
              </a:solidFill>
              <a:latin typeface="Montserrat Semi-Bold Bold"/>
            </a:endParaRPr>
          </a:p>
          <a:p>
            <a:pPr>
              <a:lnSpc>
                <a:spcPts val="6199"/>
              </a:lnSpc>
            </a:pPr>
            <a:endParaRPr lang="en-US" sz="5437" spc="108" dirty="0">
              <a:solidFill>
                <a:srgbClr val="FFFFFF"/>
              </a:solidFill>
              <a:latin typeface="Montserrat Semi-Bold Bold"/>
            </a:endParaRPr>
          </a:p>
          <a:p>
            <a:pPr>
              <a:lnSpc>
                <a:spcPts val="6199"/>
              </a:lnSpc>
            </a:pPr>
            <a:endParaRPr lang="en-US" sz="5437" spc="108" dirty="0">
              <a:solidFill>
                <a:srgbClr val="FFFFFF"/>
              </a:solidFill>
              <a:latin typeface="Montserrat Semi-Bold Bold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04059"/>
            <a:ext cx="6781800" cy="84244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210968" y="6415356"/>
            <a:ext cx="6297518" cy="37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25"/>
              </a:lnSpc>
            </a:pPr>
            <a:endParaRPr lang="en-US" sz="2550" spc="51" dirty="0">
              <a:solidFill>
                <a:srgbClr val="323232"/>
              </a:solidFill>
              <a:latin typeface="Veleka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25780" y="541774"/>
            <a:ext cx="1039977" cy="44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323232"/>
                </a:solidFill>
                <a:latin typeface="Veleka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F527045-6151-433B-8D0F-B6C895C1A44F}"/>
              </a:ext>
            </a:extLst>
          </p:cNvPr>
          <p:cNvSpPr txBox="1"/>
          <p:nvPr/>
        </p:nvSpPr>
        <p:spPr>
          <a:xfrm>
            <a:off x="9797143" y="1333500"/>
            <a:ext cx="8109857" cy="823020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smtClean="0"/>
              <a:t>«Идея </a:t>
            </a:r>
            <a:r>
              <a:rPr lang="ru-RU" sz="4000" b="1" dirty="0"/>
              <a:t>государства-земли – жизненного пространства, которое необходимо защищать от врагов, земли-кормилицы, духовной обители народа – генетически исходная форма политической организации цивилизованного </a:t>
            </a:r>
            <a:r>
              <a:rPr lang="ru-RU" sz="4000" b="1" dirty="0" smtClean="0"/>
              <a:t>общества</a:t>
            </a:r>
            <a:r>
              <a:rPr lang="ru-RU" sz="4000" b="1" dirty="0" smtClean="0"/>
              <a:t>»</a:t>
            </a:r>
            <a:endParaRPr lang="ru-RU" sz="4000" b="1" dirty="0" smtClean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800" b="1" dirty="0" smtClean="0"/>
              <a:t>Семенков А.В. Жизненный </a:t>
            </a:r>
            <a:r>
              <a:rPr lang="ru-RU" sz="2800" b="1" dirty="0"/>
              <a:t>цикл Евроазиатской цивилизации – России. Том </a:t>
            </a:r>
            <a:r>
              <a:rPr lang="ru-RU" sz="2800" b="1" dirty="0" smtClean="0"/>
              <a:t>1 </a:t>
            </a:r>
            <a:r>
              <a:rPr lang="ru-RU" sz="2800" dirty="0" smtClean="0"/>
              <a:t>[Электронный </a:t>
            </a:r>
            <a:r>
              <a:rPr lang="ru-RU" sz="2800" dirty="0"/>
              <a:t>ресурс]. –  URL: </a:t>
            </a:r>
            <a:r>
              <a:rPr lang="en-US" sz="2800" dirty="0">
                <a:hlinkClick r:id="rId2"/>
              </a:rPr>
              <a:t>https://www.litres.ru/book/aleksandr-semenkov/zhiznennyy-cikl-evroaziatskoy-civilizacii-rossii-tom-1-67339403/chitat-onlayn/page-26</a:t>
            </a:r>
            <a:r>
              <a:rPr lang="en-US" sz="2800" dirty="0" smtClean="0">
                <a:hlinkClick r:id="rId2"/>
              </a:rPr>
              <a:t>/</a:t>
            </a:r>
            <a:endParaRPr lang="ru-RU" sz="4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963400" y="153915"/>
            <a:ext cx="2456122" cy="83099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sz="4800" b="1" dirty="0" smtClean="0"/>
              <a:t>Эпиграф</a:t>
            </a:r>
            <a:endParaRPr lang="ru-RU" sz="4800" b="1" dirty="0"/>
          </a:p>
        </p:txBody>
      </p:sp>
      <p:pic>
        <p:nvPicPr>
          <p:cNvPr id="2050" name="Picture 2" descr="https://upload.wikimedia.org/wikipedia/commons/0/0e/Slav-7-8-obrez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8741"/>
            <a:ext cx="9042949" cy="9955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051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C2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210968" y="6415356"/>
            <a:ext cx="6297518" cy="37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25"/>
              </a:lnSpc>
            </a:pPr>
            <a:endParaRPr lang="en-US" sz="2550" spc="51" dirty="0">
              <a:solidFill>
                <a:srgbClr val="323232"/>
              </a:solidFill>
              <a:latin typeface="Veleka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25780" y="541774"/>
            <a:ext cx="1039977" cy="44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323232"/>
                </a:solidFill>
                <a:latin typeface="Veleka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F527045-6151-433B-8D0F-B6C895C1A44F}"/>
              </a:ext>
            </a:extLst>
          </p:cNvPr>
          <p:cNvSpPr txBox="1"/>
          <p:nvPr/>
        </p:nvSpPr>
        <p:spPr>
          <a:xfrm>
            <a:off x="761999" y="1866900"/>
            <a:ext cx="8305799" cy="792627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smtClean="0"/>
              <a:t>     Андрей </a:t>
            </a:r>
            <a:r>
              <a:rPr lang="ru-RU" sz="4000" b="1" dirty="0"/>
              <a:t>Первозванный – один из учеников Христа, старший брат апостола Петра. В начале нашей эры </a:t>
            </a:r>
            <a:r>
              <a:rPr lang="ru-RU" sz="4000" b="1" dirty="0" smtClean="0"/>
              <a:t>отправился </a:t>
            </a:r>
            <a:r>
              <a:rPr lang="ru-RU" sz="4000" b="1" dirty="0"/>
              <a:t>в </a:t>
            </a:r>
            <a:r>
              <a:rPr lang="ru-RU" sz="4000" b="1" dirty="0" err="1"/>
              <a:t>Скифию</a:t>
            </a:r>
            <a:r>
              <a:rPr lang="ru-RU" sz="4000" b="1" dirty="0"/>
              <a:t>, поднялся до среднего течения Днепра, установил на киевских холмах крест и предсказал, что Киев будет «матерью городов русских</a:t>
            </a:r>
            <a:r>
              <a:rPr lang="ru-RU" sz="4000" b="1" dirty="0" smtClean="0"/>
              <a:t>».</a:t>
            </a:r>
          </a:p>
          <a:p>
            <a:r>
              <a:rPr lang="ru-RU" sz="4000" b="1" dirty="0"/>
              <a:t>Основоположник христианской </a:t>
            </a:r>
            <a:r>
              <a:rPr lang="ru-RU" sz="4000" b="1" dirty="0" smtClean="0"/>
              <a:t>веры </a:t>
            </a:r>
            <a:r>
              <a:rPr lang="ru-RU" sz="4000" b="1" dirty="0"/>
              <a:t>на Руси. Отсюда проистекает его почитание как Святого -  покровителя России</a:t>
            </a:r>
            <a:r>
              <a:rPr lang="ru-RU" sz="4000" b="1" dirty="0" smtClean="0"/>
              <a:t>.</a:t>
            </a:r>
            <a:endParaRPr lang="ru-RU" sz="4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0568" y="763343"/>
            <a:ext cx="7315200" cy="895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56539" y="541774"/>
            <a:ext cx="6768261" cy="83099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4800" b="1" dirty="0" smtClean="0"/>
              <a:t>Историческая справка</a:t>
            </a:r>
            <a:endParaRPr lang="ru-RU" sz="48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C2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210968" y="6415356"/>
            <a:ext cx="6297518" cy="37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25"/>
              </a:lnSpc>
            </a:pPr>
            <a:endParaRPr lang="en-US" sz="2550" spc="51" dirty="0">
              <a:solidFill>
                <a:srgbClr val="323232"/>
              </a:solidFill>
              <a:latin typeface="Veleka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25780" y="541774"/>
            <a:ext cx="1039977" cy="44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323232"/>
                </a:solidFill>
                <a:latin typeface="Veleka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F527045-6151-433B-8D0F-B6C895C1A44F}"/>
              </a:ext>
            </a:extLst>
          </p:cNvPr>
          <p:cNvSpPr txBox="1"/>
          <p:nvPr/>
        </p:nvSpPr>
        <p:spPr>
          <a:xfrm>
            <a:off x="9220200" y="2419222"/>
            <a:ext cx="8795216" cy="536146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smtClean="0"/>
              <a:t>Славяно-русские племена </a:t>
            </a:r>
            <a:r>
              <a:rPr lang="ru-RU" sz="4000" b="1" dirty="0"/>
              <a:t>жили небольшими общинами и управлялись своими князьками, которые вели между собой мелкие войны и не в состоянии были охранять себя  даже общими силами против иноплеменников, а потому часто были покоряемы</a:t>
            </a:r>
            <a:r>
              <a:rPr lang="ru-RU" sz="4000" b="1" dirty="0" smtClean="0"/>
              <a:t>. </a:t>
            </a:r>
            <a:endParaRPr lang="ru-RU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5235" y="579874"/>
            <a:ext cx="7773282" cy="83099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sz="4800" b="1" dirty="0" smtClean="0"/>
              <a:t>Актуальность темы доклада</a:t>
            </a:r>
            <a:endParaRPr lang="ru-RU" sz="4800" b="1" dirty="0"/>
          </a:p>
        </p:txBody>
      </p:sp>
      <p:pic>
        <p:nvPicPr>
          <p:cNvPr id="1026" name="Picture 2" descr="https://upload.wikimedia.org/wikipedia/commons/thumb/8/89/Living_of_East_Slavs_by_Ivanov.jpg/220px-Living_of_East_Slavs_by_Ivanov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84" y="2019299"/>
            <a:ext cx="8704385" cy="6172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210968" y="8355020"/>
            <a:ext cx="573677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i="1" dirty="0"/>
              <a:t>«Древние славяне»</a:t>
            </a:r>
            <a:br>
              <a:rPr lang="ru-RU" sz="3200" b="1" i="1" dirty="0"/>
            </a:br>
            <a:r>
              <a:rPr lang="ru-RU" sz="3200" b="1" i="1" dirty="0"/>
              <a:t>С. В. Иванов, 1909</a:t>
            </a:r>
          </a:p>
        </p:txBody>
      </p:sp>
    </p:spTree>
    <p:extLst>
      <p:ext uri="{BB962C8B-B14F-4D97-AF65-F5344CB8AC3E}">
        <p14:creationId xmlns:p14="http://schemas.microsoft.com/office/powerpoint/2010/main" val="36317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C2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210968" y="6415356"/>
            <a:ext cx="6297518" cy="37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25"/>
              </a:lnSpc>
            </a:pPr>
            <a:endParaRPr lang="en-US" sz="2550" spc="51" dirty="0">
              <a:solidFill>
                <a:srgbClr val="323232"/>
              </a:solidFill>
              <a:latin typeface="Veleka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25780" y="541774"/>
            <a:ext cx="1039977" cy="44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323232"/>
                </a:solidFill>
                <a:latin typeface="Veleka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F527045-6151-433B-8D0F-B6C895C1A44F}"/>
              </a:ext>
            </a:extLst>
          </p:cNvPr>
          <p:cNvSpPr txBox="1"/>
          <p:nvPr/>
        </p:nvSpPr>
        <p:spPr>
          <a:xfrm>
            <a:off x="478971" y="2095500"/>
            <a:ext cx="7314980" cy="609019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smtClean="0"/>
              <a:t>    Религиозные </a:t>
            </a:r>
            <a:r>
              <a:rPr lang="ru-RU" sz="4000" b="1" dirty="0"/>
              <a:t>представления древних славяно-русских племён выражались в форме идолов;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smtClean="0"/>
              <a:t> у них </a:t>
            </a:r>
            <a:r>
              <a:rPr lang="ru-RU" sz="4000" b="1" dirty="0"/>
              <a:t>не было ни храмов, ни жрецов, а потому их религия не могла иметь признаков повсеместности и неизменности. </a:t>
            </a:r>
            <a:endParaRPr lang="ru-RU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Дохристианская вера не справлялась с новой консолидирующей задачей. /Фото: avatars.mds.yandex.n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943100"/>
            <a:ext cx="9967702" cy="6749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8615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C0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886700" y="2926625"/>
            <a:ext cx="7913569" cy="3651000"/>
            <a:chOff x="0" y="-286157"/>
            <a:chExt cx="10551425" cy="4868000"/>
          </a:xfrm>
        </p:grpSpPr>
        <p:sp>
          <p:nvSpPr>
            <p:cNvPr id="6" name="TextBox 6"/>
            <p:cNvSpPr txBox="1"/>
            <p:nvPr/>
          </p:nvSpPr>
          <p:spPr>
            <a:xfrm>
              <a:off x="2017027" y="-286157"/>
              <a:ext cx="8534398" cy="12824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489"/>
                </a:lnSpc>
              </a:pPr>
              <a:r>
                <a:rPr lang="ru-RU" sz="7200" spc="21" dirty="0">
                  <a:solidFill>
                    <a:srgbClr val="323232"/>
                  </a:solidFill>
                  <a:latin typeface="Montserrat Semi-Bold Bold"/>
                </a:rPr>
                <a:t>Цель</a:t>
              </a:r>
              <a:endParaRPr lang="en-US" sz="7200" spc="21" dirty="0">
                <a:solidFill>
                  <a:srgbClr val="323232"/>
                </a:solidFill>
                <a:latin typeface="Montserrat Semi-Bold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872503"/>
              <a:ext cx="7512640" cy="709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500"/>
                </a:lnSpc>
              </a:pPr>
              <a:endParaRPr lang="en-US" sz="3000" spc="60" dirty="0">
                <a:solidFill>
                  <a:srgbClr val="323232"/>
                </a:solidFill>
                <a:latin typeface="Veleka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535400" y="571500"/>
            <a:ext cx="1039977" cy="46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0"/>
              </a:lnSpc>
              <a:spcBef>
                <a:spcPct val="0"/>
              </a:spcBef>
            </a:pPr>
            <a:r>
              <a:rPr lang="ru-RU" sz="2800" dirty="0">
                <a:solidFill>
                  <a:srgbClr val="323232"/>
                </a:solidFill>
                <a:latin typeface="Veleka"/>
              </a:rPr>
              <a:t>3</a:t>
            </a:r>
            <a:endParaRPr lang="en-US" sz="2800" dirty="0">
              <a:solidFill>
                <a:srgbClr val="323232"/>
              </a:solidFill>
              <a:latin typeface="Velek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0FE2693-8012-4AEC-8EF5-A9C8C6EACDDD}"/>
              </a:ext>
            </a:extLst>
          </p:cNvPr>
          <p:cNvSpPr txBox="1"/>
          <p:nvPr/>
        </p:nvSpPr>
        <p:spPr>
          <a:xfrm>
            <a:off x="8915400" y="4241380"/>
            <a:ext cx="83819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spc="20" dirty="0">
                <a:solidFill>
                  <a:srgbClr val="323232"/>
                </a:solidFill>
                <a:latin typeface="Montserrat Semi-Bold Bold"/>
              </a:rPr>
              <a:t>анализ основных событий конца X - начала XI веков, связанных с распространением христианства на </a:t>
            </a:r>
            <a:r>
              <a:rPr lang="ru-RU" sz="3600" spc="20" dirty="0" smtClean="0">
                <a:solidFill>
                  <a:srgbClr val="323232"/>
                </a:solidFill>
                <a:latin typeface="Montserrat Semi-Bold Bold"/>
              </a:rPr>
              <a:t>Руси</a:t>
            </a:r>
            <a:endParaRPr lang="ru-RU" sz="3600" dirty="0"/>
          </a:p>
        </p:txBody>
      </p:sp>
      <p:pic>
        <p:nvPicPr>
          <p:cNvPr id="6146" name="Picture 2" descr="Князь Владимир ответственно подошел к выбору религии. /Фото: content-16.foto.my.mail.r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62099"/>
            <a:ext cx="7924800" cy="7664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C2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17526000" y="435904"/>
            <a:ext cx="1039977" cy="46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20"/>
              </a:lnSpc>
              <a:spcBef>
                <a:spcPct val="0"/>
              </a:spcBef>
            </a:pPr>
            <a:r>
              <a:rPr lang="ru-RU" sz="2800" dirty="0">
                <a:solidFill>
                  <a:srgbClr val="323232"/>
                </a:solidFill>
                <a:latin typeface="Veleka"/>
              </a:rPr>
              <a:t>7</a:t>
            </a:r>
            <a:endParaRPr lang="en-US" sz="2800" dirty="0">
              <a:solidFill>
                <a:srgbClr val="323232"/>
              </a:solidFill>
              <a:latin typeface="Veleka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06770" y="4317712"/>
            <a:ext cx="512045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i="1" dirty="0" smtClean="0"/>
              <a:t>Великий </a:t>
            </a:r>
            <a:r>
              <a:rPr lang="ru-RU" sz="3200" b="1" i="1" dirty="0"/>
              <a:t>князь </a:t>
            </a:r>
            <a:r>
              <a:rPr lang="ru-RU" sz="3200" b="1" i="1" dirty="0" smtClean="0"/>
              <a:t>Владимир</a:t>
            </a:r>
            <a:endParaRPr lang="ru-RU" sz="3200" b="1" dirty="0"/>
          </a:p>
        </p:txBody>
      </p:sp>
      <p:pic>
        <p:nvPicPr>
          <p:cNvPr id="8" name="Рисунок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58" y="474479"/>
            <a:ext cx="3505200" cy="3733800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5029200" y="435904"/>
            <a:ext cx="12344400" cy="501675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4000" b="1" dirty="0"/>
              <a:t>Князь Владимир I </a:t>
            </a:r>
            <a:r>
              <a:rPr lang="ru-RU" sz="4000" b="1" dirty="0" err="1"/>
              <a:t>Святославич</a:t>
            </a:r>
            <a:r>
              <a:rPr lang="ru-RU" sz="4000" b="1" dirty="0" smtClean="0"/>
              <a:t>,</a:t>
            </a:r>
          </a:p>
          <a:p>
            <a:r>
              <a:rPr lang="ru-RU" sz="4000" b="1" dirty="0" smtClean="0"/>
              <a:t>внук </a:t>
            </a:r>
            <a:r>
              <a:rPr lang="ru-RU" sz="4000" b="1" dirty="0"/>
              <a:t>великой княгини Ольги (прославленная Церковью как равноапостольная святая) и сын великого князя Святослава Игоревича, жил и правил на рубеже X-XI веков. </a:t>
            </a:r>
            <a:endParaRPr lang="ru-RU" sz="4000" b="1" dirty="0" smtClean="0"/>
          </a:p>
          <a:p>
            <a:r>
              <a:rPr lang="ru-RU" sz="4000" b="1" dirty="0" smtClean="0"/>
              <a:t>Сначала</a:t>
            </a:r>
            <a:r>
              <a:rPr lang="ru-RU" sz="4000" b="1" dirty="0"/>
              <a:t>, с 970 года, он княжил в Новгороде; потом, с 978-го и до смерти в 1015 году, в Киеве, столице Киевской Руси</a:t>
            </a:r>
            <a:r>
              <a:rPr lang="ru-RU" sz="4000" b="1" dirty="0" smtClean="0"/>
              <a:t>.</a:t>
            </a:r>
            <a:endParaRPr lang="ru-RU" sz="40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26758" y="5981700"/>
            <a:ext cx="16899242" cy="378565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4000" b="1" dirty="0"/>
              <a:t>Владимир, будучи ещё язычником, был повелителем большого пространства нынешней России и старался как о расширении своих владений, так и об укреплении своей власти над ними. </a:t>
            </a:r>
          </a:p>
          <a:p>
            <a:r>
              <a:rPr lang="ru-RU" sz="4000" b="1" dirty="0"/>
              <a:t>Укрепление государственности Древней Руси требовали изменений в идеологии, господствующей формой выражения которой в средние века была религия.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C2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17526000" y="435904"/>
            <a:ext cx="1039977" cy="46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20"/>
              </a:lnSpc>
              <a:spcBef>
                <a:spcPct val="0"/>
              </a:spcBef>
            </a:pPr>
            <a:r>
              <a:rPr lang="ru-RU" sz="2800" dirty="0">
                <a:solidFill>
                  <a:srgbClr val="323232"/>
                </a:solidFill>
                <a:latin typeface="Veleka"/>
              </a:rPr>
              <a:t>7</a:t>
            </a:r>
            <a:endParaRPr lang="en-US" sz="2800" dirty="0">
              <a:solidFill>
                <a:srgbClr val="323232"/>
              </a:solidFill>
              <a:latin typeface="Veleka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0287000" y="6210300"/>
            <a:ext cx="512045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i="1" dirty="0" smtClean="0"/>
              <a:t>Великий </a:t>
            </a:r>
            <a:r>
              <a:rPr lang="ru-RU" sz="3200" b="1" i="1" dirty="0"/>
              <a:t>князь </a:t>
            </a:r>
            <a:r>
              <a:rPr lang="ru-RU" sz="3200" b="1" i="1" dirty="0" smtClean="0"/>
              <a:t>Владимир</a:t>
            </a:r>
            <a:endParaRPr lang="ru-RU" sz="32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32317" y="724375"/>
            <a:ext cx="7692483" cy="80945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4000" b="1" dirty="0" smtClean="0"/>
              <a:t>    </a:t>
            </a:r>
            <a:r>
              <a:rPr lang="ru-RU" sz="4000" b="1" dirty="0" smtClean="0"/>
              <a:t>И</a:t>
            </a:r>
            <a:r>
              <a:rPr lang="ru-RU" sz="4000" b="1" dirty="0" smtClean="0"/>
              <a:t>з летописных источников, в частности, из «Повести временных лет» древнерусского летописца Нестора, следует, что вначале Владимир делал ставку на язычество. </a:t>
            </a:r>
          </a:p>
          <a:p>
            <a:r>
              <a:rPr lang="ru-RU" sz="4000" b="1" dirty="0" smtClean="0"/>
              <a:t>     В 980 году  им проведена </a:t>
            </a:r>
            <a:r>
              <a:rPr lang="ru-RU" sz="4000" b="1" u="sng" dirty="0" smtClean="0"/>
              <a:t>первая религиозная реформа</a:t>
            </a:r>
            <a:r>
              <a:rPr lang="ru-RU" sz="4000" b="1" dirty="0" smtClean="0"/>
              <a:t> - установлен единый пантеон языческих божеств. Во главе стоял Перун, а также туда вошли </a:t>
            </a:r>
            <a:r>
              <a:rPr lang="ru-RU" sz="4000" b="1" dirty="0" err="1" smtClean="0"/>
              <a:t>Стрибог</a:t>
            </a:r>
            <a:r>
              <a:rPr lang="ru-RU" sz="4000" b="1" dirty="0" smtClean="0"/>
              <a:t>, </a:t>
            </a:r>
            <a:r>
              <a:rPr lang="ru-RU" sz="4000" b="1" dirty="0" err="1" smtClean="0"/>
              <a:t>Даждьбог</a:t>
            </a:r>
            <a:r>
              <a:rPr lang="ru-RU" sz="4000" b="1" dirty="0" smtClean="0"/>
              <a:t>, </a:t>
            </a:r>
            <a:r>
              <a:rPr lang="ru-RU" sz="4000" b="1" dirty="0" err="1" smtClean="0"/>
              <a:t>Семарг</a:t>
            </a:r>
            <a:r>
              <a:rPr lang="ru-RU" sz="4000" b="1" dirty="0" smtClean="0"/>
              <a:t>, </a:t>
            </a:r>
            <a:r>
              <a:rPr lang="ru-RU" sz="4000" b="1" dirty="0" err="1" smtClean="0"/>
              <a:t>Хорс</a:t>
            </a:r>
            <a:r>
              <a:rPr lang="ru-RU" sz="4000" b="1" dirty="0" smtClean="0"/>
              <a:t> и </a:t>
            </a:r>
            <a:r>
              <a:rPr lang="ru-RU" sz="4000" b="1" dirty="0" err="1" smtClean="0"/>
              <a:t>Мокошь</a:t>
            </a:r>
            <a:r>
              <a:rPr lang="ru-RU" sz="4000" b="1" dirty="0" smtClean="0"/>
              <a:t>.</a:t>
            </a:r>
            <a:endParaRPr lang="ru-RU" sz="4000" b="1" dirty="0"/>
          </a:p>
        </p:txBody>
      </p:sp>
      <p:pic>
        <p:nvPicPr>
          <p:cNvPr id="1026" name="Picture 2" descr="Роллинг Стоунз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724375"/>
            <a:ext cx="8690517" cy="5289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8382000" y="7259169"/>
            <a:ext cx="9144000" cy="255454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ru-RU" sz="4000" b="1" dirty="0" smtClean="0"/>
              <a:t>  Однако язычество </a:t>
            </a:r>
            <a:r>
              <a:rPr lang="ru-RU" sz="4000" b="1" dirty="0"/>
              <a:t>всегда приводило не к объединению народа, а лишь к еще большим распрям между разными группами. 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428571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C2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17526000" y="435904"/>
            <a:ext cx="1039977" cy="46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20"/>
              </a:lnSpc>
              <a:spcBef>
                <a:spcPct val="0"/>
              </a:spcBef>
            </a:pPr>
            <a:r>
              <a:rPr lang="ru-RU" sz="2800" dirty="0">
                <a:solidFill>
                  <a:srgbClr val="323232"/>
                </a:solidFill>
                <a:latin typeface="Veleka"/>
              </a:rPr>
              <a:t>7</a:t>
            </a:r>
            <a:endParaRPr lang="en-US" sz="2800" dirty="0">
              <a:solidFill>
                <a:srgbClr val="323232"/>
              </a:solidFill>
              <a:latin typeface="Veleka"/>
            </a:endParaRPr>
          </a:p>
        </p:txBody>
      </p:sp>
      <p:pic>
        <p:nvPicPr>
          <p:cNvPr id="12" name="Рисунок 11" descr="http://www.abc-people.com/shop/vladimir_prince4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57" y="696742"/>
            <a:ext cx="11049000" cy="857246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Прямоугольник 1"/>
          <p:cNvSpPr/>
          <p:nvPr/>
        </p:nvSpPr>
        <p:spPr>
          <a:xfrm>
            <a:off x="566057" y="9269207"/>
            <a:ext cx="114299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i="1" dirty="0"/>
              <a:t>"Великий князь Владимир избирает религию" </a:t>
            </a:r>
            <a:r>
              <a:rPr lang="ru-RU" sz="3200" b="1" i="1" dirty="0" smtClean="0"/>
              <a:t>И</a:t>
            </a:r>
            <a:r>
              <a:rPr lang="ru-RU" sz="3200" b="1" i="1" dirty="0"/>
              <a:t>. </a:t>
            </a:r>
            <a:r>
              <a:rPr lang="ru-RU" sz="3200" b="1" i="1" dirty="0" err="1"/>
              <a:t>Эггинк</a:t>
            </a:r>
            <a:r>
              <a:rPr lang="ru-RU" sz="3200" b="1" i="1" dirty="0"/>
              <a:t>, 1822</a:t>
            </a:r>
            <a:endParaRPr lang="ru-RU" sz="32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1985170" y="903533"/>
            <a:ext cx="5834744" cy="871007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4000" b="1" dirty="0" smtClean="0"/>
              <a:t>Владимир встретился </a:t>
            </a:r>
            <a:r>
              <a:rPr lang="ru-RU" sz="4000" b="1" dirty="0"/>
              <a:t>с посланцами из других земель, с которыми  Русь имела тесные </a:t>
            </a:r>
            <a:r>
              <a:rPr lang="ru-RU" sz="4000" b="1" dirty="0" smtClean="0"/>
              <a:t>связи: 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ru-RU" sz="4000" b="1" dirty="0" smtClean="0"/>
              <a:t>христианскими </a:t>
            </a:r>
            <a:r>
              <a:rPr lang="ru-RU" sz="4000" b="1" dirty="0"/>
              <a:t>странами – Германией, Византией, Римом; </a:t>
            </a:r>
            <a:endParaRPr lang="ru-RU" sz="4000" b="1" dirty="0" smtClean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ru-RU" sz="4000" b="1" dirty="0" smtClean="0"/>
              <a:t>мусульманскими </a:t>
            </a:r>
            <a:r>
              <a:rPr lang="ru-RU" sz="4000" b="1" dirty="0"/>
              <a:t>– Волжской Болгарией, </a:t>
            </a:r>
            <a:r>
              <a:rPr lang="ru-RU" sz="4000" b="1" dirty="0" smtClean="0"/>
              <a:t>Хорезмом;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ru-RU" sz="4000" b="1" dirty="0" smtClean="0"/>
              <a:t>с </a:t>
            </a:r>
            <a:r>
              <a:rPr lang="ru-RU" sz="4000" b="1" dirty="0"/>
              <a:t>еврейскими общинами в Хазарии и на территории </a:t>
            </a:r>
            <a:r>
              <a:rPr lang="ru-RU" sz="4000" b="1" dirty="0" smtClean="0"/>
              <a:t>Руси.</a:t>
            </a:r>
            <a:endParaRPr lang="ru-RU" sz="4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943040" y="23969"/>
            <a:ext cx="6229719" cy="76944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sz="4400" b="1" dirty="0" smtClean="0"/>
              <a:t>Выбор религии для Руси</a:t>
            </a:r>
            <a:endParaRPr lang="ru-RU" sz="4400" b="1" dirty="0"/>
          </a:p>
        </p:txBody>
      </p:sp>
    </p:spTree>
    <p:extLst>
      <p:ext uri="{BB962C8B-B14F-4D97-AF65-F5344CB8AC3E}">
        <p14:creationId xmlns:p14="http://schemas.microsoft.com/office/powerpoint/2010/main" val="3625127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C0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7449800" y="571500"/>
            <a:ext cx="1039977" cy="44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323232"/>
                </a:solidFill>
                <a:latin typeface="Veleka"/>
              </a:rPr>
              <a:t>8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74123" y="3096858"/>
            <a:ext cx="17221004" cy="686341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4000" b="1" dirty="0"/>
              <a:t>Ислам был, отвергнут князем, поскольку ему показалось чересчур обременительным воздержание от вина, </a:t>
            </a:r>
          </a:p>
          <a:p>
            <a:r>
              <a:rPr lang="ru-RU" sz="4000" b="1" dirty="0"/>
              <a:t>иудаизм - из-за того, что исповедовавшие его евреи лишились своего государства и были рассеяны по всей земле. Отверг князь и предложение перейти в веру, сделанное посланцами папы римского</a:t>
            </a:r>
            <a:r>
              <a:rPr lang="ru-RU" sz="4000" b="1" dirty="0" smtClean="0"/>
              <a:t>.</a:t>
            </a:r>
          </a:p>
          <a:p>
            <a:r>
              <a:rPr lang="ru-RU" sz="4000" b="1" dirty="0" smtClean="0"/>
              <a:t>Проповедь </a:t>
            </a:r>
            <a:r>
              <a:rPr lang="ru-RU" sz="4000" b="1" dirty="0"/>
              <a:t>же представителя византийской церкви произвела на него самое благоприятное впечатление. </a:t>
            </a:r>
          </a:p>
          <a:p>
            <a:r>
              <a:rPr lang="ru-RU" sz="4000" b="1" dirty="0" smtClean="0"/>
              <a:t>Христианская </a:t>
            </a:r>
            <a:r>
              <a:rPr lang="ru-RU" sz="4000" b="1" dirty="0"/>
              <a:t>вера хорошо соответствовала некой принятой на Руси </a:t>
            </a:r>
            <a:r>
              <a:rPr lang="ru-RU" sz="4000" b="1" dirty="0" smtClean="0"/>
              <a:t>совокупности </a:t>
            </a:r>
            <a:r>
              <a:rPr lang="ru-RU" sz="4000" b="1" dirty="0"/>
              <a:t>культурных представлений и </a:t>
            </a:r>
            <a:r>
              <a:rPr lang="ru-RU" sz="4000" b="1" dirty="0" smtClean="0"/>
              <a:t>норм. «</a:t>
            </a:r>
            <a:r>
              <a:rPr lang="ru-RU" sz="4000" b="1" dirty="0"/>
              <a:t>Божий </a:t>
            </a:r>
            <a:r>
              <a:rPr lang="ru-RU" sz="4000" b="1" dirty="0"/>
              <a:t>слуга» - государь был по византийским традициям, и справедливым судьёй во внутренних государственных делах, и доблестным защитником границ державы.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603961" y="1157753"/>
            <a:ext cx="17161329" cy="132343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4000" b="1" dirty="0" smtClean="0"/>
              <a:t>Посовещавшись </a:t>
            </a:r>
            <a:r>
              <a:rPr lang="ru-RU" sz="4000" b="1" dirty="0"/>
              <a:t>с боярами и представителями городов, Владимир направил посольства в окрестные страны. </a:t>
            </a:r>
            <a:endParaRPr lang="ru-RU" sz="40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C0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7449800" y="571500"/>
            <a:ext cx="1039977" cy="44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323232"/>
                </a:solidFill>
                <a:latin typeface="Veleka"/>
              </a:rPr>
              <a:t>8</a:t>
            </a:r>
          </a:p>
        </p:txBody>
      </p:sp>
      <p:pic>
        <p:nvPicPr>
          <p:cNvPr id="8" name="Рисунок 7" descr="http://www.abc-people.com/shop/vladimir_prince5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564" y="901382"/>
            <a:ext cx="7968636" cy="812831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Прямоугольник 4"/>
          <p:cNvSpPr/>
          <p:nvPr/>
        </p:nvSpPr>
        <p:spPr>
          <a:xfrm>
            <a:off x="381000" y="9029700"/>
            <a:ext cx="9220794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i="1" dirty="0" smtClean="0"/>
              <a:t>«Крещение </a:t>
            </a:r>
            <a:r>
              <a:rPr lang="ru-RU" sz="3200" b="1" i="1" dirty="0"/>
              <a:t>великого князя Владимира в </a:t>
            </a:r>
            <a:r>
              <a:rPr lang="ru-RU" sz="3200" b="1" i="1" dirty="0" err="1" smtClean="0"/>
              <a:t>Корсуни</a:t>
            </a:r>
            <a:r>
              <a:rPr lang="ru-RU" sz="3200" b="1" i="1" dirty="0" smtClean="0"/>
              <a:t>»</a:t>
            </a:r>
          </a:p>
          <a:p>
            <a:r>
              <a:rPr lang="ru-RU" sz="3200" i="1" dirty="0" smtClean="0"/>
              <a:t> </a:t>
            </a:r>
            <a:r>
              <a:rPr lang="ru-RU" sz="3200" i="1" dirty="0"/>
              <a:t>Иванов Андрей Иванович. 1829</a:t>
            </a:r>
            <a:endParaRPr lang="ru-RU" sz="32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9715890" y="2019300"/>
            <a:ext cx="8243012" cy="317009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4000" b="1" dirty="0"/>
              <a:t>Князь Владимир принял крещение в 988 г. в </a:t>
            </a:r>
            <a:r>
              <a:rPr lang="ru-RU" sz="4000" b="1" dirty="0" err="1"/>
              <a:t>Корсуни</a:t>
            </a:r>
            <a:r>
              <a:rPr lang="ru-RU" sz="4000" b="1" dirty="0"/>
              <a:t> (Херсонесе, ныне территория города Севастополя) </a:t>
            </a:r>
            <a:r>
              <a:rPr lang="ru-RU" sz="4000" b="1" dirty="0" smtClean="0"/>
              <a:t>–  </a:t>
            </a:r>
            <a:r>
              <a:rPr lang="ru-RU" sz="4000" b="1" dirty="0"/>
              <a:t>в центре византийских </a:t>
            </a:r>
            <a:r>
              <a:rPr lang="ru-RU" sz="4000" b="1" dirty="0" smtClean="0"/>
              <a:t>владений</a:t>
            </a:r>
          </a:p>
          <a:p>
            <a:r>
              <a:rPr lang="ru-RU" sz="4000" b="1" dirty="0" smtClean="0"/>
              <a:t>в </a:t>
            </a:r>
            <a:r>
              <a:rPr lang="ru-RU" sz="4000" b="1" dirty="0" smtClean="0"/>
              <a:t>Крыму. </a:t>
            </a:r>
            <a:endParaRPr lang="ru-RU" sz="4000" b="1" dirty="0"/>
          </a:p>
        </p:txBody>
      </p:sp>
      <p:grpSp>
        <p:nvGrpSpPr>
          <p:cNvPr id="6" name="Group 6"/>
          <p:cNvGrpSpPr/>
          <p:nvPr/>
        </p:nvGrpSpPr>
        <p:grpSpPr>
          <a:xfrm rot="5400000">
            <a:off x="9715609" y="1409981"/>
            <a:ext cx="351432" cy="350870"/>
            <a:chOff x="0" y="0"/>
            <a:chExt cx="6350000" cy="6339840"/>
          </a:xfrm>
        </p:grpSpPr>
        <p:sp>
          <p:nvSpPr>
            <p:cNvPr id="9" name="Freeform 7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32"/>
            </a:solidFill>
          </p:spPr>
        </p:sp>
      </p:grpSp>
    </p:spTree>
    <p:extLst>
      <p:ext uri="{BB962C8B-B14F-4D97-AF65-F5344CB8AC3E}">
        <p14:creationId xmlns:p14="http://schemas.microsoft.com/office/powerpoint/2010/main" val="375172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4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-38524"/>
            <a:ext cx="11125200" cy="10325524"/>
          </a:xfrm>
          <a:prstGeom prst="rect">
            <a:avLst/>
          </a:prstGeom>
          <a:solidFill>
            <a:srgbClr val="C2C2C2"/>
          </a:solidFill>
        </p:spPr>
        <p:txBody>
          <a:bodyPr/>
          <a:lstStyle/>
          <a:p>
            <a:endParaRPr lang="ru-RU" sz="2800" b="1" i="1" dirty="0"/>
          </a:p>
        </p:txBody>
      </p:sp>
      <p:sp>
        <p:nvSpPr>
          <p:cNvPr id="11" name="TextBox 11"/>
          <p:cNvSpPr txBox="1"/>
          <p:nvPr/>
        </p:nvSpPr>
        <p:spPr>
          <a:xfrm>
            <a:off x="17248023" y="670796"/>
            <a:ext cx="1039977" cy="46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20"/>
              </a:lnSpc>
              <a:spcBef>
                <a:spcPct val="0"/>
              </a:spcBef>
            </a:pPr>
            <a:r>
              <a:rPr lang="ru-RU" sz="2800" dirty="0">
                <a:solidFill>
                  <a:srgbClr val="323232"/>
                </a:solidFill>
                <a:latin typeface="Veleka"/>
              </a:rPr>
              <a:t>9</a:t>
            </a:r>
            <a:endParaRPr lang="en-US" sz="2800" dirty="0">
              <a:solidFill>
                <a:srgbClr val="323232"/>
              </a:solidFill>
              <a:latin typeface="Veleka"/>
            </a:endParaRPr>
          </a:p>
        </p:txBody>
      </p:sp>
      <p:pic>
        <p:nvPicPr>
          <p:cNvPr id="14" name="Рисунок 1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122759"/>
            <a:ext cx="9144000" cy="6834904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1952515" y="1384753"/>
            <a:ext cx="6106885" cy="74789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4000" b="1" dirty="0"/>
              <a:t>Незаконнорожденный сын князя-язычника Святослава </a:t>
            </a:r>
            <a:r>
              <a:rPr lang="ru-RU" sz="4000" b="1" dirty="0" smtClean="0"/>
              <a:t>князь</a:t>
            </a:r>
          </a:p>
          <a:p>
            <a:r>
              <a:rPr lang="ru-RU" sz="4000" b="1" dirty="0" smtClean="0"/>
              <a:t>Владимир праведником </a:t>
            </a:r>
            <a:r>
              <a:rPr lang="ru-RU" sz="4000" b="1" dirty="0"/>
              <a:t>точно не </a:t>
            </a:r>
            <a:r>
              <a:rPr lang="ru-RU" sz="4000" b="1" dirty="0" smtClean="0"/>
              <a:t>был. </a:t>
            </a:r>
          </a:p>
          <a:p>
            <a:r>
              <a:rPr lang="ru-RU" sz="4000" b="1" dirty="0" smtClean="0"/>
              <a:t>Но христианская вера </a:t>
            </a:r>
            <a:r>
              <a:rPr lang="ru-RU" sz="4000" b="1" dirty="0"/>
              <a:t>сделала из </a:t>
            </a:r>
            <a:r>
              <a:rPr lang="ru-RU" sz="4000" b="1" dirty="0" smtClean="0"/>
              <a:t>него идеального </a:t>
            </a:r>
            <a:r>
              <a:rPr lang="ru-RU" sz="4000" b="1" dirty="0"/>
              <a:t>человека: защитник народа, славный воитель, прекрасный семьянин, могущественный </a:t>
            </a:r>
            <a:r>
              <a:rPr lang="ru-RU" sz="4000" b="1" dirty="0" smtClean="0"/>
              <a:t>князь.</a:t>
            </a:r>
            <a:endParaRPr lang="ru-RU" sz="40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502229" y="8157588"/>
            <a:ext cx="9144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2800" b="1" i="1" dirty="0" smtClean="0"/>
              <a:t>Крещение </a:t>
            </a:r>
            <a:r>
              <a:rPr lang="ru-RU" sz="2800" b="1" i="1" dirty="0"/>
              <a:t>князя Владимира. Виктор Васнецов. </a:t>
            </a:r>
            <a:r>
              <a:rPr lang="ru-RU" sz="2800" b="1" i="1" dirty="0" smtClean="0"/>
              <a:t>Фрагмент </a:t>
            </a:r>
            <a:r>
              <a:rPr lang="ru-RU" sz="2800" b="1" i="1" dirty="0"/>
              <a:t>росписи Владимирского собора в Киеве </a:t>
            </a:r>
            <a:endParaRPr lang="ru-RU" sz="2800" b="1" i="1" dirty="0" smtClean="0"/>
          </a:p>
          <a:p>
            <a:pPr algn="ctr"/>
            <a:r>
              <a:rPr lang="ru-RU" sz="2800" b="1" i="1" dirty="0" smtClean="0"/>
              <a:t>(</a:t>
            </a:r>
            <a:r>
              <a:rPr lang="ru-RU" sz="2800" b="1" i="1" dirty="0"/>
              <a:t>1885-1893)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4430" y="190500"/>
            <a:ext cx="9982200" cy="10287000"/>
          </a:xfrm>
          <a:prstGeom prst="rect">
            <a:avLst/>
          </a:prstGeom>
          <a:solidFill>
            <a:srgbClr val="70643E">
              <a:alpha val="29804"/>
            </a:srgbClr>
          </a:solidFill>
        </p:spPr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xmlns="" id="{DAADB962-2C23-48E4-9A38-F0D1C5FD88D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4603" y="560311"/>
            <a:ext cx="816935" cy="749873"/>
          </a:xfrm>
          <a:prstGeom prst="rect">
            <a:avLst/>
          </a:prstGeom>
        </p:spPr>
      </p:pic>
      <p:pic>
        <p:nvPicPr>
          <p:cNvPr id="15" name="Рисунок 14" descr="http://www.abc-people.com/shop/vladimir_prince6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70" y="1997796"/>
            <a:ext cx="8686799" cy="63541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1771" y="8621954"/>
            <a:ext cx="974271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“Крещение киевлян” </a:t>
            </a:r>
            <a:r>
              <a:rPr kumimoji="0" lang="ru-RU" altLang="ru-RU" sz="32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Лебедев К.В.</a:t>
            </a: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160907" y="1435371"/>
            <a:ext cx="7738585" cy="74789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4000" b="1" dirty="0"/>
              <a:t>В </a:t>
            </a:r>
            <a:r>
              <a:rPr lang="ru-RU" sz="4000" b="1" dirty="0" smtClean="0"/>
              <a:t>988 году в чистых </a:t>
            </a:r>
            <a:r>
              <a:rPr lang="ru-RU" sz="4000" b="1" dirty="0"/>
              <a:t>днепровских водах, при впадении речки </a:t>
            </a:r>
            <a:r>
              <a:rPr lang="ru-RU" sz="4000" b="1" dirty="0" err="1"/>
              <a:t>Почайны</a:t>
            </a:r>
            <a:r>
              <a:rPr lang="ru-RU" sz="4000" b="1" dirty="0"/>
              <a:t> в Днепр, над зашедшими в воду людьми – мужчинами, женщинами, детьми – священники совершили обряд крещения</a:t>
            </a:r>
            <a:r>
              <a:rPr lang="ru-RU" sz="4000" b="1" dirty="0" smtClean="0"/>
              <a:t>. </a:t>
            </a:r>
          </a:p>
          <a:p>
            <a:r>
              <a:rPr lang="ru-RU" sz="4000" b="1" dirty="0" smtClean="0"/>
              <a:t>Осуществилось </a:t>
            </a:r>
            <a:r>
              <a:rPr lang="ru-RU" sz="4000" b="1" dirty="0"/>
              <a:t>духовное рождение народа, призванного Богом к невиданным ещё в истории подвигам христианского служения человечеству.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extLst>
              <a:ext uri="{FF2B5EF4-FFF2-40B4-BE49-F238E27FC236}">
                <a16:creationId xmlns:a16="http://schemas.microsoft.com/office/drawing/2014/main" xmlns="" id="{DAADB962-2C23-48E4-9A38-F0D1C5FD88D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4603" y="560311"/>
            <a:ext cx="816935" cy="749873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87166" y="8329566"/>
            <a:ext cx="974271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«Десятинная» церковь Богородицы в Киеве</a:t>
            </a: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549415" y="1562100"/>
            <a:ext cx="6953655" cy="62478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4000" b="1" dirty="0"/>
              <a:t>Владимир деятельно занимался распространением веры, крестил народ на подвластных ему землях, строил церкви, назначал духовников. В самом Киеве он построил церковь святого Василия и церковь Богородицы, названную «Десятинная</a:t>
            </a:r>
            <a:r>
              <a:rPr lang="ru-RU" sz="4000" b="1" dirty="0" smtClean="0"/>
              <a:t>».</a:t>
            </a:r>
            <a:endParaRPr lang="ru-RU" sz="4000" b="1" dirty="0"/>
          </a:p>
        </p:txBody>
      </p:sp>
      <p:pic>
        <p:nvPicPr>
          <p:cNvPr id="8194" name="Picture 2" descr="Десятинная церковь — Википедия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313" y="560311"/>
            <a:ext cx="9694453" cy="7554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509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C2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16687800" y="530428"/>
            <a:ext cx="1039977" cy="46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0"/>
              </a:lnSpc>
              <a:spcBef>
                <a:spcPct val="0"/>
              </a:spcBef>
            </a:pPr>
            <a:r>
              <a:rPr lang="ru-RU" sz="2800" dirty="0">
                <a:solidFill>
                  <a:srgbClr val="323232"/>
                </a:solidFill>
                <a:latin typeface="Veleka"/>
              </a:rPr>
              <a:t>1</a:t>
            </a:r>
            <a:r>
              <a:rPr lang="en-US" sz="2800" dirty="0">
                <a:solidFill>
                  <a:srgbClr val="323232"/>
                </a:solidFill>
                <a:latin typeface="Veleka"/>
              </a:rPr>
              <a:t>2</a:t>
            </a:r>
          </a:p>
        </p:txBody>
      </p:sp>
      <p:pic>
        <p:nvPicPr>
          <p:cNvPr id="3074" name="Picture 2" descr="Святой равноапостольный князь Владимир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543" y="1638300"/>
            <a:ext cx="5410200" cy="709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7543799" y="1754264"/>
            <a:ext cx="10183977" cy="6863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4000" b="1" dirty="0"/>
              <a:t>Владимир был канонизирован русской православной церковью как святой и за заслуги в крещении Руси именуется равноапостольным</a:t>
            </a:r>
            <a:r>
              <a:rPr lang="ru-RU" sz="4000" b="1" dirty="0" smtClean="0"/>
              <a:t>.</a:t>
            </a:r>
          </a:p>
          <a:p>
            <a:r>
              <a:rPr lang="ru-RU" sz="4000" b="1" dirty="0" smtClean="0"/>
              <a:t>Празднование </a:t>
            </a:r>
            <a:r>
              <a:rPr lang="ru-RU" sz="4000" b="1" dirty="0"/>
              <a:t>святому равноапостольному Владимиру было установлено святым Александром Невским после того, как </a:t>
            </a:r>
            <a:endParaRPr lang="ru-RU" sz="4000" b="1" dirty="0" smtClean="0"/>
          </a:p>
          <a:p>
            <a:r>
              <a:rPr lang="ru-RU" sz="4000" b="1" dirty="0" smtClean="0"/>
              <a:t>15 </a:t>
            </a:r>
            <a:r>
              <a:rPr lang="ru-RU" sz="4000" b="1" dirty="0"/>
              <a:t>мая 1240 года, помощью и </a:t>
            </a:r>
            <a:r>
              <a:rPr lang="ru-RU" sz="4000" b="1" dirty="0" err="1"/>
              <a:t>заступлением</a:t>
            </a:r>
            <a:r>
              <a:rPr lang="ru-RU" sz="4000" b="1" dirty="0"/>
              <a:t> святого Владимира, им была одержана знаменитая Невская победа над шведскими захватчиками.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C0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8580491" y="631828"/>
            <a:ext cx="6275269" cy="96180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rtlCol="0" anchor="t">
            <a:spAutoFit/>
          </a:bodyPr>
          <a:lstStyle/>
          <a:p>
            <a:pPr algn="ctr">
              <a:lnSpc>
                <a:spcPts val="7489"/>
              </a:lnSpc>
            </a:pPr>
            <a:r>
              <a:rPr lang="ru-RU" sz="6600" spc="21" dirty="0">
                <a:solidFill>
                  <a:srgbClr val="323232"/>
                </a:solidFill>
                <a:latin typeface="Montserrat Semi-Bold Bold"/>
              </a:rPr>
              <a:t>Заключение</a:t>
            </a:r>
            <a:endParaRPr lang="en-US" sz="6600" spc="21" dirty="0">
              <a:solidFill>
                <a:srgbClr val="323232"/>
              </a:solidFill>
              <a:latin typeface="Montserrat Semi-Bold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85313" y="561071"/>
            <a:ext cx="1039977" cy="46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0"/>
              </a:lnSpc>
              <a:spcBef>
                <a:spcPct val="0"/>
              </a:spcBef>
            </a:pPr>
            <a:r>
              <a:rPr lang="ru-RU" sz="2800" dirty="0">
                <a:solidFill>
                  <a:srgbClr val="323232"/>
                </a:solidFill>
                <a:latin typeface="Veleka"/>
              </a:rPr>
              <a:t>1</a:t>
            </a:r>
            <a:r>
              <a:rPr lang="en-US" sz="2800" dirty="0">
                <a:solidFill>
                  <a:srgbClr val="323232"/>
                </a:solidFill>
                <a:latin typeface="Veleka"/>
              </a:rPr>
              <a:t>3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955971" y="2095500"/>
            <a:ext cx="10896600" cy="729430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ru-RU" sz="3600" b="1" dirty="0"/>
              <a:t>Принятие христианства укрепляло государственную власть и территориальное единство Киевской Руси. </a:t>
            </a:r>
            <a:endParaRPr lang="ru-RU" sz="3600" b="1" dirty="0" smtClean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ru-RU" sz="3600" b="1" dirty="0"/>
              <a:t>О</a:t>
            </a:r>
            <a:r>
              <a:rPr lang="ru-RU" sz="3600" b="1" dirty="0" smtClean="0"/>
              <a:t>но </a:t>
            </a:r>
            <a:r>
              <a:rPr lang="ru-RU" sz="3600" b="1" dirty="0"/>
              <a:t>имело большое международное значение, заключавшееся в том, что Русь, отвергнув «примитивное» язычество, становилась теперь равной другим христианским странам, что способствовало значительному расширению  международных связей</a:t>
            </a:r>
            <a:r>
              <a:rPr lang="ru-RU" sz="3600" b="1" dirty="0" smtClean="0"/>
              <a:t>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ru-RU" sz="3600" b="1" dirty="0" smtClean="0"/>
              <a:t>Принятие </a:t>
            </a:r>
            <a:r>
              <a:rPr lang="ru-RU" sz="3600" b="1" dirty="0"/>
              <a:t>христианства сыграло большую роль в развитии русской культуры, испытавшей на себе влияние византийской и через неё и античной </a:t>
            </a:r>
            <a:r>
              <a:rPr lang="ru-RU" sz="3600" b="1" dirty="0" smtClean="0"/>
              <a:t>культуры. </a:t>
            </a:r>
            <a:endParaRPr lang="ru-RU" sz="3600" b="1" dirty="0"/>
          </a:p>
        </p:txBody>
      </p:sp>
      <p:pic>
        <p:nvPicPr>
          <p:cNvPr id="5122" name="Picture 2" descr="Верую † Православие - СВЯТОЙ РАВНОАПОСТОЛЬНЫЙ КНЯЗЬ ВЛАДИМИР – КРЕСТИТЕЛЬ  РУСИ ПОЗДРАВЛЯЮ С ПРАЗДНИКОМ! 😇 С ДНЁМ АНГЕЛА! 😇 Молитвами святого  равноапостольного князя Владимира да сохранит Господь нашу землю и всех нас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50" y="610057"/>
            <a:ext cx="6012335" cy="9234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C0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6357256" y="198437"/>
            <a:ext cx="10489313" cy="192360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b">
            <a:spAutoFit/>
          </a:bodyPr>
          <a:lstStyle/>
          <a:p>
            <a:pPr algn="ctr">
              <a:lnSpc>
                <a:spcPts val="7489"/>
              </a:lnSpc>
            </a:pPr>
            <a:r>
              <a:rPr lang="ru-RU" sz="6600" spc="21" dirty="0" smtClean="0">
                <a:solidFill>
                  <a:srgbClr val="323232"/>
                </a:solidFill>
                <a:latin typeface="Montserrat Semi-Bold Bold"/>
              </a:rPr>
              <a:t>Заключение</a:t>
            </a:r>
            <a:r>
              <a:rPr lang="ru-RU" sz="2800" spc="21" dirty="0" smtClean="0">
                <a:solidFill>
                  <a:srgbClr val="323232"/>
                </a:solidFill>
                <a:latin typeface="Montserrat Semi-Bold Bold"/>
              </a:rPr>
              <a:t> </a:t>
            </a:r>
          </a:p>
          <a:p>
            <a:pPr algn="ctr">
              <a:lnSpc>
                <a:spcPts val="7489"/>
              </a:lnSpc>
            </a:pPr>
            <a:r>
              <a:rPr lang="ru-RU" sz="3200" spc="21" dirty="0" smtClean="0">
                <a:solidFill>
                  <a:srgbClr val="323232"/>
                </a:solidFill>
                <a:latin typeface="Montserrat Semi-Bold Bold"/>
              </a:rPr>
              <a:t>продолжение</a:t>
            </a:r>
            <a:endParaRPr lang="en-US" sz="3200" spc="21" dirty="0">
              <a:solidFill>
                <a:srgbClr val="323232"/>
              </a:solidFill>
              <a:latin typeface="Montserrat Semi-Bold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85313" y="561071"/>
            <a:ext cx="1039977" cy="46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0"/>
              </a:lnSpc>
              <a:spcBef>
                <a:spcPct val="0"/>
              </a:spcBef>
            </a:pPr>
            <a:r>
              <a:rPr lang="ru-RU" sz="2800" dirty="0">
                <a:solidFill>
                  <a:srgbClr val="323232"/>
                </a:solidFill>
                <a:latin typeface="Veleka"/>
              </a:rPr>
              <a:t>1</a:t>
            </a:r>
            <a:r>
              <a:rPr lang="en-US" sz="2800" dirty="0">
                <a:solidFill>
                  <a:srgbClr val="323232"/>
                </a:solidFill>
                <a:latin typeface="Veleka"/>
              </a:rPr>
              <a:t>3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357256" y="2208805"/>
            <a:ext cx="11702143" cy="747897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4000" b="1" dirty="0"/>
              <a:t>В ноябре 2016 г. Президент Российской Федерации торжественно открыл памятник Владимиру Великому в Москве</a:t>
            </a:r>
            <a:r>
              <a:rPr lang="ru-RU" sz="4000" b="1" dirty="0" smtClean="0"/>
              <a:t>.</a:t>
            </a:r>
          </a:p>
          <a:p>
            <a:r>
              <a:rPr lang="ru-RU" sz="4000" b="1" dirty="0" smtClean="0"/>
              <a:t>Владимир Святославович канонизирован </a:t>
            </a:r>
            <a:r>
              <a:rPr lang="ru-RU" sz="4000" b="1" dirty="0"/>
              <a:t>русской православной церковью как святой и равноапостольный с титулом «Креститель». Главным деянием в его непростой судьбе признали крещение Руси, определившее на 10 веков пути развития народа и государства. </a:t>
            </a:r>
            <a:endParaRPr lang="ru-RU" sz="4000" b="1" dirty="0" smtClean="0"/>
          </a:p>
          <a:p>
            <a:r>
              <a:rPr lang="ru-RU" sz="4000" b="1" dirty="0" smtClean="0"/>
              <a:t>Христианство </a:t>
            </a:r>
            <a:r>
              <a:rPr lang="ru-RU" sz="4000" b="1" dirty="0"/>
              <a:t>оказалось весьма прочным социальным клеем, которому современная Россия обязана своим существованием.</a:t>
            </a:r>
          </a:p>
        </p:txBody>
      </p:sp>
      <p:pic>
        <p:nvPicPr>
          <p:cNvPr id="7170" name="Picture 2" descr="Памятник Князю Владимиру – Крестителю Руси (Москва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8437"/>
            <a:ext cx="5486400" cy="975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358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4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2223817"/>
          </a:xfrm>
          <a:prstGeom prst="rect">
            <a:avLst/>
          </a:prstGeom>
          <a:solidFill>
            <a:srgbClr val="323232">
              <a:alpha val="19608"/>
            </a:srgbClr>
          </a:solidFill>
        </p:spPr>
      </p:sp>
      <p:grpSp>
        <p:nvGrpSpPr>
          <p:cNvPr id="3" name="Group 3"/>
          <p:cNvGrpSpPr/>
          <p:nvPr/>
        </p:nvGrpSpPr>
        <p:grpSpPr>
          <a:xfrm>
            <a:off x="961901" y="774041"/>
            <a:ext cx="16008927" cy="8336649"/>
            <a:chOff x="-624648" y="-699938"/>
            <a:chExt cx="22214636" cy="10431426"/>
          </a:xfrm>
        </p:grpSpPr>
        <p:sp>
          <p:nvSpPr>
            <p:cNvPr id="4" name="TextBox 4"/>
            <p:cNvSpPr txBox="1"/>
            <p:nvPr/>
          </p:nvSpPr>
          <p:spPr>
            <a:xfrm>
              <a:off x="-45317" y="-699938"/>
              <a:ext cx="16043182" cy="12093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384"/>
                </a:lnSpc>
              </a:pPr>
              <a:r>
                <a:rPr lang="ru-RU" sz="6000" spc="21" dirty="0">
                  <a:solidFill>
                    <a:srgbClr val="323232"/>
                  </a:solidFill>
                  <a:latin typeface="Montserrat Semi-Bold Bold"/>
                </a:rPr>
                <a:t>Цитата</a:t>
              </a:r>
              <a:endParaRPr lang="en-US" sz="6000" spc="21" dirty="0">
                <a:solidFill>
                  <a:srgbClr val="323232"/>
                </a:solidFill>
                <a:latin typeface="Montserrat Semi-Bold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624648" y="1066454"/>
              <a:ext cx="22214636" cy="86650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4500"/>
                </a:lnSpc>
              </a:pPr>
              <a:r>
                <a:rPr lang="ru-RU" sz="3200" spc="60" dirty="0" smtClean="0">
                  <a:solidFill>
                    <a:srgbClr val="323232"/>
                  </a:solidFill>
                  <a:latin typeface="Veleka"/>
                </a:rPr>
                <a:t>«…</a:t>
              </a:r>
              <a:r>
                <a:rPr lang="ru-RU" sz="3200" b="1" spc="60" dirty="0" smtClean="0">
                  <a:solidFill>
                    <a:srgbClr val="323232"/>
                  </a:solidFill>
                  <a:latin typeface="Veleka"/>
                </a:rPr>
                <a:t>Нигде </a:t>
              </a:r>
              <a:r>
                <a:rPr lang="ru-RU" sz="3200" b="1" spc="60" dirty="0">
                  <a:solidFill>
                    <a:srgbClr val="323232"/>
                  </a:solidFill>
                  <a:latin typeface="Veleka"/>
                </a:rPr>
                <a:t>в мире сейчас не строятся сотни храмов, нигде! А в Москве строятся. И мы так скромно поставили задачу построить двести, а сейчас совершенно очевидно, что их будет гораздо больше. И не потому, что кто-то сверху приказывает — Президент, мэр или Патриарх, — но потому что это реальная потребность людей. И как замечательно, что в мегаполисе, в столице сверхдержавы, именно такой духовный настрой у нашего народа! Если так, то Россия непобедима, потому что нация побеждает в первую очередь силой духа, а именно этой силой всегда был отмечен наш народ. </a:t>
              </a:r>
            </a:p>
            <a:p>
              <a:pPr algn="just">
                <a:lnSpc>
                  <a:spcPts val="4500"/>
                </a:lnSpc>
              </a:pPr>
              <a:r>
                <a:rPr lang="ru-RU" sz="3200" b="1" spc="60" dirty="0" smtClean="0">
                  <a:solidFill>
                    <a:srgbClr val="323232"/>
                  </a:solidFill>
                  <a:latin typeface="Veleka"/>
                </a:rPr>
                <a:t>Это </a:t>
              </a:r>
              <a:r>
                <a:rPr lang="ru-RU" sz="3200" b="1" spc="60" dirty="0">
                  <a:solidFill>
                    <a:srgbClr val="323232"/>
                  </a:solidFill>
                  <a:latin typeface="Veleka"/>
                </a:rPr>
                <a:t>строительство новых храмов, еще раз хочу сказать, — совершенно уникальное явление</a:t>
              </a:r>
              <a:r>
                <a:rPr lang="ru-RU" sz="3200" b="1" spc="60" dirty="0" smtClean="0">
                  <a:solidFill>
                    <a:srgbClr val="323232"/>
                  </a:solidFill>
                  <a:latin typeface="Veleka"/>
                </a:rPr>
                <a:t>. </a:t>
              </a:r>
              <a:r>
                <a:rPr lang="ru-RU" sz="3200" b="1" spc="60" dirty="0">
                  <a:solidFill>
                    <a:srgbClr val="323232"/>
                  </a:solidFill>
                  <a:latin typeface="Veleka"/>
                </a:rPr>
                <a:t>…. </a:t>
              </a:r>
              <a:r>
                <a:rPr lang="ru-RU" sz="3200" b="1" spc="60" dirty="0" smtClean="0">
                  <a:solidFill>
                    <a:srgbClr val="323232"/>
                  </a:solidFill>
                  <a:latin typeface="Veleka"/>
                </a:rPr>
                <a:t>Храмы </a:t>
              </a:r>
              <a:r>
                <a:rPr lang="ru-RU" sz="3200" b="1" spc="60" dirty="0">
                  <a:solidFill>
                    <a:srgbClr val="323232"/>
                  </a:solidFill>
                  <a:latin typeface="Veleka"/>
                </a:rPr>
                <a:t>открываются, возрастает роль религии, и особенно меня радует то, что происходит в среде нашей </a:t>
              </a:r>
              <a:r>
                <a:rPr lang="ru-RU" sz="3200" b="1" spc="60" dirty="0" smtClean="0">
                  <a:solidFill>
                    <a:srgbClr val="323232"/>
                  </a:solidFill>
                  <a:latin typeface="Veleka"/>
                </a:rPr>
                <a:t>молодежи.» </a:t>
              </a:r>
              <a:endParaRPr lang="ru-RU" sz="3200" b="1" spc="60" dirty="0">
                <a:solidFill>
                  <a:srgbClr val="323232"/>
                </a:solidFill>
                <a:latin typeface="Veleka"/>
              </a:endParaRPr>
            </a:p>
            <a:p>
              <a:pPr>
                <a:lnSpc>
                  <a:spcPts val="4500"/>
                </a:lnSpc>
              </a:pPr>
              <a:r>
                <a:rPr lang="ru-RU" sz="4800" spc="60" dirty="0">
                  <a:solidFill>
                    <a:srgbClr val="323232"/>
                  </a:solidFill>
                  <a:latin typeface="Veleka"/>
                </a:rPr>
                <a:t>                                                  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611600" y="647700"/>
            <a:ext cx="1039977" cy="46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0"/>
              </a:lnSpc>
              <a:spcBef>
                <a:spcPct val="0"/>
              </a:spcBef>
            </a:pPr>
            <a:r>
              <a:rPr lang="ru-RU" sz="2800" dirty="0">
                <a:solidFill>
                  <a:srgbClr val="323232"/>
                </a:solidFill>
                <a:latin typeface="Veleka"/>
              </a:rPr>
              <a:t>14</a:t>
            </a:r>
            <a:endParaRPr lang="en-US" sz="2800" dirty="0">
              <a:solidFill>
                <a:srgbClr val="323232"/>
              </a:solidFill>
              <a:latin typeface="Veleka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476352" y="595579"/>
            <a:ext cx="9449448" cy="132343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4000" b="1" dirty="0" smtClean="0"/>
              <a:t>Святейший </a:t>
            </a:r>
            <a:r>
              <a:rPr lang="ru-RU" sz="4000" b="1" dirty="0"/>
              <a:t>Патриарх Московский и всея Руси </a:t>
            </a:r>
            <a:r>
              <a:rPr lang="ru-RU" sz="4000" b="1" dirty="0" smtClean="0"/>
              <a:t>Кирилл /18 </a:t>
            </a:r>
            <a:r>
              <a:rPr lang="ru-RU" sz="4000" b="1" dirty="0"/>
              <a:t>сентября 2023 года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909350" y="8801100"/>
            <a:ext cx="16742227" cy="10772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ru-RU" sz="3200" dirty="0" smtClean="0"/>
              <a:t>18 </a:t>
            </a:r>
            <a:r>
              <a:rPr lang="ru-RU" sz="3200" dirty="0"/>
              <a:t>сентября 2023 </a:t>
            </a:r>
            <a:r>
              <a:rPr lang="ru-RU" sz="3200" dirty="0" smtClean="0"/>
              <a:t>года в</a:t>
            </a:r>
            <a:r>
              <a:rPr lang="ru-RU" sz="3200" dirty="0" smtClean="0"/>
              <a:t> </a:t>
            </a:r>
            <a:r>
              <a:rPr lang="ru-RU" sz="3200" dirty="0"/>
              <a:t>концертном зале «Зарядье» в Москве состоялась торжественная церемония вступления в должность мэра </a:t>
            </a:r>
            <a:r>
              <a:rPr lang="ru-RU" sz="3200" dirty="0" smtClean="0"/>
              <a:t>столицы Сергея </a:t>
            </a:r>
            <a:r>
              <a:rPr lang="ru-RU" sz="3200" dirty="0" smtClean="0"/>
              <a:t>Семёновича </a:t>
            </a:r>
            <a:r>
              <a:rPr lang="ru-RU" sz="3200" dirty="0" err="1" smtClean="0"/>
              <a:t>Собянина</a:t>
            </a:r>
            <a:endParaRPr lang="ru-RU" sz="3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20522BFB-12AF-43C5-A6CE-B38B6C2A07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749" y="0"/>
            <a:ext cx="12725400" cy="1028700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0" y="0"/>
            <a:ext cx="5562600" cy="10287000"/>
          </a:xfrm>
          <a:prstGeom prst="rect">
            <a:avLst/>
          </a:prstGeom>
          <a:solidFill>
            <a:srgbClr val="70643E">
              <a:alpha val="29804"/>
            </a:srgbClr>
          </a:solidFill>
        </p:spPr>
      </p:sp>
      <p:sp>
        <p:nvSpPr>
          <p:cNvPr id="3" name="TextBox 3"/>
          <p:cNvSpPr txBox="1"/>
          <p:nvPr/>
        </p:nvSpPr>
        <p:spPr>
          <a:xfrm>
            <a:off x="543276" y="2976191"/>
            <a:ext cx="4736356" cy="4179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95"/>
              </a:lnSpc>
            </a:pPr>
            <a:endParaRPr dirty="0"/>
          </a:p>
          <a:p>
            <a:pPr>
              <a:lnSpc>
                <a:spcPts val="5495"/>
              </a:lnSpc>
            </a:pPr>
            <a:endParaRPr dirty="0"/>
          </a:p>
          <a:p>
            <a:pPr>
              <a:lnSpc>
                <a:spcPts val="5495"/>
              </a:lnSpc>
            </a:pPr>
            <a:r>
              <a:rPr lang="ru-RU" sz="5400" spc="15" dirty="0">
                <a:solidFill>
                  <a:srgbClr val="323232"/>
                </a:solidFill>
                <a:latin typeface="Montserrat Semi-Bold Bold"/>
              </a:rPr>
              <a:t>Список литературы</a:t>
            </a:r>
            <a:endParaRPr lang="en-US" sz="5400" spc="15" dirty="0">
              <a:solidFill>
                <a:srgbClr val="323232"/>
              </a:solidFill>
              <a:latin typeface="Montserrat Semi-Bold Bold"/>
            </a:endParaRPr>
          </a:p>
          <a:p>
            <a:pPr>
              <a:lnSpc>
                <a:spcPts val="5495"/>
              </a:lnSpc>
            </a:pPr>
            <a:endParaRPr lang="en-US" sz="3925" spc="15" dirty="0">
              <a:solidFill>
                <a:srgbClr val="323232"/>
              </a:solidFill>
              <a:latin typeface="Montserrat Semi-Bold Bold"/>
            </a:endParaRPr>
          </a:p>
          <a:p>
            <a:pPr>
              <a:lnSpc>
                <a:spcPts val="5495"/>
              </a:lnSpc>
            </a:pPr>
            <a:endParaRPr lang="en-US" sz="3925" spc="15" dirty="0">
              <a:solidFill>
                <a:srgbClr val="323232"/>
              </a:solidFill>
              <a:latin typeface="Montserrat Semi-Bold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6541" y="800100"/>
            <a:ext cx="11921816" cy="9233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60"/>
              </a:lnSpc>
            </a:pPr>
            <a:r>
              <a:rPr lang="ru-RU" sz="3200" spc="56" dirty="0">
                <a:solidFill>
                  <a:srgbClr val="323232"/>
                </a:solidFill>
                <a:latin typeface="Veleka Bold"/>
              </a:rPr>
              <a:t>1</a:t>
            </a:r>
            <a:r>
              <a:rPr lang="ru-RU" sz="3200" b="1" spc="56" dirty="0">
                <a:solidFill>
                  <a:srgbClr val="323232"/>
                </a:solidFill>
                <a:latin typeface="Veleka Bold"/>
              </a:rPr>
              <a:t>. </a:t>
            </a:r>
            <a:r>
              <a:rPr lang="ru-RU" sz="3200" b="1" spc="56" dirty="0" smtClean="0">
                <a:solidFill>
                  <a:srgbClr val="323232"/>
                </a:solidFill>
                <a:latin typeface="Veleka Bold"/>
              </a:rPr>
              <a:t>Костомаров </a:t>
            </a:r>
            <a:r>
              <a:rPr lang="ru-RU" sz="3200" b="1" spc="56" dirty="0">
                <a:solidFill>
                  <a:srgbClr val="323232"/>
                </a:solidFill>
                <a:latin typeface="Veleka Bold"/>
              </a:rPr>
              <a:t>Н.И. Русская история в жизнеописаниях её главнейших деятелей. – Москва: Изд-во </a:t>
            </a:r>
            <a:r>
              <a:rPr lang="ru-RU" sz="3200" b="1" spc="56" dirty="0" err="1">
                <a:solidFill>
                  <a:srgbClr val="323232"/>
                </a:solidFill>
                <a:latin typeface="Veleka Bold"/>
              </a:rPr>
              <a:t>Эксмо</a:t>
            </a:r>
            <a:r>
              <a:rPr lang="ru-RU" sz="3200" b="1" spc="56" dirty="0">
                <a:solidFill>
                  <a:srgbClr val="323232"/>
                </a:solidFill>
                <a:latin typeface="Veleka Bold"/>
              </a:rPr>
              <a:t>, 2006. – 1024 с., ил.</a:t>
            </a:r>
          </a:p>
          <a:p>
            <a:pPr>
              <a:lnSpc>
                <a:spcPts val="4760"/>
              </a:lnSpc>
            </a:pPr>
            <a:r>
              <a:rPr lang="ru-RU" sz="3200" b="1" spc="56" dirty="0">
                <a:solidFill>
                  <a:srgbClr val="323232"/>
                </a:solidFill>
                <a:latin typeface="Veleka Bold"/>
              </a:rPr>
              <a:t>2.	Плотникова О.А. Статус князя в древнерусском обществе: доктрина государственной власти в X-XI веках / Вестник. 2007. №19(5). [Электронный ресурс]. –  URL:  https://cyberleninka.ru/article/n/status-knyazya-v-drevnerusskom-obschestve-doktrina-gosudarstvennoy-vlasti-v-x-xi-vekah</a:t>
            </a:r>
          </a:p>
          <a:p>
            <a:pPr>
              <a:lnSpc>
                <a:spcPts val="4760"/>
              </a:lnSpc>
            </a:pPr>
            <a:r>
              <a:rPr lang="ru-RU" sz="3200" b="1" spc="56" dirty="0">
                <a:solidFill>
                  <a:srgbClr val="323232"/>
                </a:solidFill>
                <a:latin typeface="Veleka Bold"/>
              </a:rPr>
              <a:t>3.	Орлов А.С., Георгиев В.А., Георгиева Н.Г., Сивохина Т.А. История России. – 2-е изд., </a:t>
            </a:r>
            <a:r>
              <a:rPr lang="ru-RU" sz="3200" b="1" spc="56" dirty="0" err="1">
                <a:solidFill>
                  <a:srgbClr val="323232"/>
                </a:solidFill>
                <a:latin typeface="Veleka Bold"/>
              </a:rPr>
              <a:t>перераб</a:t>
            </a:r>
            <a:r>
              <a:rPr lang="ru-RU" sz="3200" b="1" spc="56" dirty="0">
                <a:solidFill>
                  <a:srgbClr val="323232"/>
                </a:solidFill>
                <a:latin typeface="Veleka Bold"/>
              </a:rPr>
              <a:t>. и доп. – Москва: Проспект, 2011. – 680 с.</a:t>
            </a:r>
          </a:p>
          <a:p>
            <a:pPr>
              <a:lnSpc>
                <a:spcPts val="4760"/>
              </a:lnSpc>
            </a:pPr>
            <a:r>
              <a:rPr lang="ru-RU" sz="3200" b="1" spc="56" dirty="0">
                <a:solidFill>
                  <a:srgbClr val="323232"/>
                </a:solidFill>
                <a:latin typeface="Veleka Bold"/>
              </a:rPr>
              <a:t>4.	Повесть временных лет [Электронный ресурс]. –  URL:  https://azbyka.ru/otechnik/Nestor_Letopisets/povest-vremennyh-let/ (дата обращения: 12.10.2023</a:t>
            </a:r>
            <a:r>
              <a:rPr lang="ru-RU" sz="3200" b="1" spc="56" dirty="0" smtClean="0">
                <a:solidFill>
                  <a:srgbClr val="323232"/>
                </a:solidFill>
                <a:latin typeface="Veleka Bold"/>
              </a:rPr>
              <a:t>).</a:t>
            </a:r>
            <a:endParaRPr lang="en-US" sz="2800" b="1" spc="56" dirty="0">
              <a:solidFill>
                <a:srgbClr val="323232"/>
              </a:solidFill>
              <a:latin typeface="Veleka Bold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xmlns="" id="{F00883CC-F660-4DAF-8BF2-27DCB75E942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6256" y="266700"/>
            <a:ext cx="816935" cy="7498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20522BFB-12AF-43C5-A6CE-B38B6C2A07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749" y="0"/>
            <a:ext cx="12725400" cy="1028700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0" y="0"/>
            <a:ext cx="5562600" cy="10287000"/>
          </a:xfrm>
          <a:prstGeom prst="rect">
            <a:avLst/>
          </a:prstGeom>
          <a:solidFill>
            <a:srgbClr val="70643E">
              <a:alpha val="29804"/>
            </a:srgbClr>
          </a:solidFill>
        </p:spPr>
      </p:sp>
      <p:sp>
        <p:nvSpPr>
          <p:cNvPr id="3" name="TextBox 3"/>
          <p:cNvSpPr txBox="1"/>
          <p:nvPr/>
        </p:nvSpPr>
        <p:spPr>
          <a:xfrm>
            <a:off x="543276" y="2976191"/>
            <a:ext cx="4736356" cy="4179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95"/>
              </a:lnSpc>
            </a:pPr>
            <a:endParaRPr dirty="0"/>
          </a:p>
          <a:p>
            <a:pPr>
              <a:lnSpc>
                <a:spcPts val="5495"/>
              </a:lnSpc>
            </a:pPr>
            <a:endParaRPr dirty="0"/>
          </a:p>
          <a:p>
            <a:pPr>
              <a:lnSpc>
                <a:spcPts val="5495"/>
              </a:lnSpc>
            </a:pPr>
            <a:r>
              <a:rPr lang="ru-RU" sz="5400" spc="15" dirty="0">
                <a:solidFill>
                  <a:srgbClr val="323232"/>
                </a:solidFill>
                <a:latin typeface="Montserrat Semi-Bold Bold"/>
              </a:rPr>
              <a:t>Список литературы</a:t>
            </a:r>
            <a:endParaRPr lang="en-US" sz="5400" spc="15" dirty="0">
              <a:solidFill>
                <a:srgbClr val="323232"/>
              </a:solidFill>
              <a:latin typeface="Montserrat Semi-Bold Bold"/>
            </a:endParaRPr>
          </a:p>
          <a:p>
            <a:pPr>
              <a:lnSpc>
                <a:spcPts val="5495"/>
              </a:lnSpc>
            </a:pPr>
            <a:endParaRPr lang="en-US" sz="3925" spc="15" dirty="0">
              <a:solidFill>
                <a:srgbClr val="323232"/>
              </a:solidFill>
              <a:latin typeface="Montserrat Semi-Bold Bold"/>
            </a:endParaRPr>
          </a:p>
          <a:p>
            <a:pPr>
              <a:lnSpc>
                <a:spcPts val="5495"/>
              </a:lnSpc>
            </a:pPr>
            <a:endParaRPr lang="en-US" sz="3925" spc="15" dirty="0">
              <a:solidFill>
                <a:srgbClr val="323232"/>
              </a:solidFill>
              <a:latin typeface="Montserrat Semi-Bold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56541" y="800100"/>
            <a:ext cx="11921816" cy="9848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60"/>
              </a:lnSpc>
            </a:pPr>
            <a:r>
              <a:rPr lang="ru-RU" sz="3200" b="1" spc="56" dirty="0" smtClean="0">
                <a:solidFill>
                  <a:srgbClr val="323232"/>
                </a:solidFill>
                <a:latin typeface="Veleka Bold"/>
              </a:rPr>
              <a:t>5</a:t>
            </a:r>
            <a:r>
              <a:rPr lang="ru-RU" sz="3200" b="1" spc="56" dirty="0">
                <a:solidFill>
                  <a:srgbClr val="323232"/>
                </a:solidFill>
                <a:latin typeface="Veleka Bold"/>
              </a:rPr>
              <a:t>.	Орлов А.С., </a:t>
            </a:r>
            <a:r>
              <a:rPr lang="ru-RU" sz="3200" b="1" spc="56" dirty="0" err="1">
                <a:solidFill>
                  <a:srgbClr val="323232"/>
                </a:solidFill>
                <a:latin typeface="Veleka Bold"/>
              </a:rPr>
              <a:t>Полунов</a:t>
            </a:r>
            <a:r>
              <a:rPr lang="ru-RU" sz="3200" b="1" spc="56" dirty="0">
                <a:solidFill>
                  <a:srgbClr val="323232"/>
                </a:solidFill>
                <a:latin typeface="Veleka Bold"/>
              </a:rPr>
              <a:t> А.Ю., Терещенко Ю.Я. Основы курса истории России. Под ред. А.С. Орлова: Учебник. – Москва: Простор, 2006. – 638 с.</a:t>
            </a:r>
          </a:p>
          <a:p>
            <a:pPr>
              <a:lnSpc>
                <a:spcPts val="4760"/>
              </a:lnSpc>
            </a:pPr>
            <a:r>
              <a:rPr lang="ru-RU" sz="3200" b="1" spc="56" dirty="0">
                <a:solidFill>
                  <a:srgbClr val="323232"/>
                </a:solidFill>
                <a:latin typeface="Veleka Bold"/>
              </a:rPr>
              <a:t>6.	Как Владимир для Руси веру выбирал, и почему Киев мог стать мусульманским [Электронный ресурс]. – URL: </a:t>
            </a:r>
            <a:r>
              <a:rPr lang="ru-RU" sz="3200" b="1" spc="56" dirty="0">
                <a:solidFill>
                  <a:srgbClr val="323232"/>
                </a:solidFill>
                <a:latin typeface="Veleka Bold"/>
                <a:hlinkClick r:id="rId3"/>
              </a:rPr>
              <a:t>https://</a:t>
            </a:r>
            <a:r>
              <a:rPr lang="ru-RU" sz="3200" b="1" spc="56" dirty="0" smtClean="0">
                <a:solidFill>
                  <a:srgbClr val="323232"/>
                </a:solidFill>
                <a:latin typeface="Veleka Bold"/>
                <a:hlinkClick r:id="rId3"/>
              </a:rPr>
              <a:t>kulturologia.ru/blogs/030121/48626</a:t>
            </a:r>
            <a:r>
              <a:rPr lang="ru-RU" sz="3200" b="1" spc="56" dirty="0" smtClean="0">
                <a:solidFill>
                  <a:srgbClr val="323232"/>
                </a:solidFill>
                <a:latin typeface="Veleka Bold"/>
              </a:rPr>
              <a:t>  </a:t>
            </a:r>
            <a:r>
              <a:rPr lang="ru-RU" sz="3200" b="1" spc="56" dirty="0">
                <a:solidFill>
                  <a:srgbClr val="323232"/>
                </a:solidFill>
                <a:latin typeface="Veleka Bold"/>
              </a:rPr>
              <a:t>/(дата обращения: 07.10.2023).</a:t>
            </a:r>
          </a:p>
          <a:p>
            <a:pPr>
              <a:lnSpc>
                <a:spcPts val="4760"/>
              </a:lnSpc>
            </a:pPr>
            <a:r>
              <a:rPr lang="ru-RU" sz="3200" b="1" spc="56" dirty="0">
                <a:solidFill>
                  <a:srgbClr val="323232"/>
                </a:solidFill>
                <a:latin typeface="Veleka Bold"/>
              </a:rPr>
              <a:t>7.	«Сказание о выборе веры» [Электронный ресурс]. – URL: </a:t>
            </a:r>
            <a:r>
              <a:rPr lang="ru-RU" sz="3200" b="1" spc="56" dirty="0">
                <a:solidFill>
                  <a:srgbClr val="323232"/>
                </a:solidFill>
                <a:latin typeface="Veleka Bold"/>
                <a:hlinkClick r:id="rId4"/>
              </a:rPr>
              <a:t>https</a:t>
            </a:r>
            <a:r>
              <a:rPr lang="ru-RU" sz="3200" b="1" spc="56">
                <a:solidFill>
                  <a:srgbClr val="323232"/>
                </a:solidFill>
                <a:latin typeface="Veleka Bold"/>
                <a:hlinkClick r:id="rId4"/>
              </a:rPr>
              <a:t>://</a:t>
            </a:r>
            <a:r>
              <a:rPr lang="ru-RU" sz="3200" b="1" spc="56" smtClean="0">
                <a:solidFill>
                  <a:srgbClr val="323232"/>
                </a:solidFill>
                <a:latin typeface="Veleka Bold"/>
                <a:hlinkClick r:id="rId4"/>
              </a:rPr>
              <a:t>vuzlit.com/462878/skazanie_vybore_very/</a:t>
            </a:r>
            <a:r>
              <a:rPr lang="ru-RU" sz="3200" b="1" spc="56" smtClean="0">
                <a:solidFill>
                  <a:srgbClr val="323232"/>
                </a:solidFill>
                <a:latin typeface="Veleka Bold"/>
              </a:rPr>
              <a:t> (</a:t>
            </a:r>
            <a:r>
              <a:rPr lang="ru-RU" sz="3200" b="1" spc="56" dirty="0">
                <a:solidFill>
                  <a:srgbClr val="323232"/>
                </a:solidFill>
                <a:latin typeface="Veleka Bold"/>
              </a:rPr>
              <a:t>дата обращения: 16.10.2023).</a:t>
            </a:r>
          </a:p>
          <a:p>
            <a:pPr>
              <a:lnSpc>
                <a:spcPts val="4760"/>
              </a:lnSpc>
            </a:pPr>
            <a:r>
              <a:rPr lang="ru-RU" sz="3200" b="1" spc="56" dirty="0">
                <a:solidFill>
                  <a:srgbClr val="323232"/>
                </a:solidFill>
                <a:latin typeface="Veleka Bold"/>
              </a:rPr>
              <a:t>8.	</a:t>
            </a:r>
            <a:r>
              <a:rPr lang="ru-RU" sz="3200" b="1" spc="56" dirty="0" smtClean="0">
                <a:solidFill>
                  <a:srgbClr val="323232"/>
                </a:solidFill>
                <a:latin typeface="Veleka Bold"/>
              </a:rPr>
              <a:t>Память </a:t>
            </a:r>
            <a:r>
              <a:rPr lang="ru-RU" sz="3200" b="1" spc="56" dirty="0">
                <a:solidFill>
                  <a:srgbClr val="323232"/>
                </a:solidFill>
                <a:latin typeface="Veleka Bold"/>
              </a:rPr>
              <a:t>великого князя Владимира Крестителя Руси [Электронный ресурс]. –  URL: </a:t>
            </a:r>
            <a:r>
              <a:rPr lang="ru-RU" sz="3200" b="1" spc="56" dirty="0" smtClean="0">
                <a:solidFill>
                  <a:srgbClr val="323232"/>
                </a:solidFill>
                <a:latin typeface="Veleka Bold"/>
                <a:hlinkClick r:id="rId5"/>
              </a:rPr>
              <a:t>https</a:t>
            </a:r>
            <a:r>
              <a:rPr lang="ru-RU" sz="3200" b="1" spc="56" dirty="0">
                <a:solidFill>
                  <a:srgbClr val="323232"/>
                </a:solidFill>
                <a:latin typeface="Veleka Bold"/>
                <a:hlinkClick r:id="rId5"/>
              </a:rPr>
              <a:t>://</a:t>
            </a:r>
            <a:r>
              <a:rPr lang="ru-RU" sz="3200" b="1" spc="56" dirty="0" smtClean="0">
                <a:solidFill>
                  <a:srgbClr val="323232"/>
                </a:solidFill>
                <a:latin typeface="Veleka Bold"/>
                <a:hlinkClick r:id="rId5"/>
              </a:rPr>
              <a:t>www.anosinomonastir.ru/holiday/1000-letie-prestavleniya-velikogo-knyazya-vladimira-krestitelya-rusi.html</a:t>
            </a:r>
            <a:r>
              <a:rPr lang="ru-RU" sz="3200" b="1" spc="56" dirty="0" smtClean="0">
                <a:solidFill>
                  <a:srgbClr val="323232"/>
                </a:solidFill>
                <a:latin typeface="Veleka Bold"/>
              </a:rPr>
              <a:t> / </a:t>
            </a:r>
            <a:r>
              <a:rPr lang="ru-RU" sz="3200" b="1" spc="56" dirty="0">
                <a:solidFill>
                  <a:srgbClr val="323232"/>
                </a:solidFill>
                <a:latin typeface="Veleka Bold"/>
              </a:rPr>
              <a:t>(дата обращения: 20.10.2023).</a:t>
            </a:r>
          </a:p>
          <a:p>
            <a:pPr>
              <a:lnSpc>
                <a:spcPts val="4760"/>
              </a:lnSpc>
            </a:pPr>
            <a:endParaRPr lang="ru-RU" sz="3200" spc="56" dirty="0">
              <a:solidFill>
                <a:srgbClr val="323232"/>
              </a:solidFill>
              <a:latin typeface="Veleka Bold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xmlns="" id="{F00883CC-F660-4DAF-8BF2-27DCB75E942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6256" y="266700"/>
            <a:ext cx="816935" cy="7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069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1476</TotalTime>
  <Words>1232</Words>
  <Application>Microsoft Office PowerPoint</Application>
  <PresentationFormat>Произвольный</PresentationFormat>
  <Paragraphs>113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8" baseType="lpstr">
      <vt:lpstr>Arial</vt:lpstr>
      <vt:lpstr>Veleka</vt:lpstr>
      <vt:lpstr>Wingdings</vt:lpstr>
      <vt:lpstr>Montserrat Semi-Bold Bold</vt:lpstr>
      <vt:lpstr>Times New Roman</vt:lpstr>
      <vt:lpstr>Calibri</vt:lpstr>
      <vt:lpstr>Veleka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Зеленый и Черный Органические Фигуры Мотивация Мастер-Класс Вебинар Keynote Презентация</dc:title>
  <dc:creator>Лидия</dc:creator>
  <cp:lastModifiedBy>Лидия</cp:lastModifiedBy>
  <cp:revision>66</cp:revision>
  <dcterms:created xsi:type="dcterms:W3CDTF">2006-08-16T00:00:00Z</dcterms:created>
  <dcterms:modified xsi:type="dcterms:W3CDTF">2023-10-20T15:53:43Z</dcterms:modified>
  <dc:identifier>DAE1ln_u5Mw</dc:identifier>
</cp:coreProperties>
</file>